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eh Osama" userId="e90c2734343041bf" providerId="LiveId" clId="{FC0CD90F-0551-475C-86F3-EB569911D3BE}"/>
    <pc:docChg chg="custSel modSld">
      <pc:chgData name="Saleh Osama" userId="e90c2734343041bf" providerId="LiveId" clId="{FC0CD90F-0551-475C-86F3-EB569911D3BE}" dt="2026-09-10T00:25:38.275" v="169" actId="20577"/>
      <pc:docMkLst>
        <pc:docMk/>
      </pc:docMkLst>
      <pc:sldChg chg="delSp modSp mod">
        <pc:chgData name="Saleh Osama" userId="e90c2734343041bf" providerId="LiveId" clId="{FC0CD90F-0551-475C-86F3-EB569911D3BE}" dt="2026-09-10T00:25:38.275" v="169" actId="20577"/>
        <pc:sldMkLst>
          <pc:docMk/>
          <pc:sldMk cId="0" sldId="256"/>
        </pc:sldMkLst>
        <pc:spChg chg="mod">
          <ac:chgData name="Saleh Osama" userId="e90c2734343041bf" providerId="LiveId" clId="{FC0CD90F-0551-475C-86F3-EB569911D3BE}" dt="2026-09-10T00:25:38.275" v="169" actId="20577"/>
          <ac:spMkLst>
            <pc:docMk/>
            <pc:sldMk cId="0" sldId="256"/>
            <ac:spMk id="8" creationId="{00000000-0000-0000-0000-000000000000}"/>
          </ac:spMkLst>
        </pc:spChg>
        <pc:spChg chg="mod">
          <ac:chgData name="Saleh Osama" userId="e90c2734343041bf" providerId="LiveId" clId="{FC0CD90F-0551-475C-86F3-EB569911D3BE}" dt="2026-09-10T00:23:57.174" v="152" actId="20577"/>
          <ac:spMkLst>
            <pc:docMk/>
            <pc:sldMk cId="0" sldId="256"/>
            <ac:spMk id="13" creationId="{00000000-0000-0000-0000-000000000000}"/>
          </ac:spMkLst>
        </pc:spChg>
        <pc:spChg chg="mod">
          <ac:chgData name="Saleh Osama" userId="e90c2734343041bf" providerId="LiveId" clId="{FC0CD90F-0551-475C-86F3-EB569911D3BE}" dt="2026-09-10T00:24:29.588" v="161" actId="20577"/>
          <ac:spMkLst>
            <pc:docMk/>
            <pc:sldMk cId="0" sldId="256"/>
            <ac:spMk id="15" creationId="{00000000-0000-0000-0000-000000000000}"/>
          </ac:spMkLst>
        </pc:spChg>
        <pc:spChg chg="mod">
          <ac:chgData name="Saleh Osama" userId="e90c2734343041bf" providerId="LiveId" clId="{FC0CD90F-0551-475C-86F3-EB569911D3BE}" dt="2026-09-10T00:25:04.634" v="162"/>
          <ac:spMkLst>
            <pc:docMk/>
            <pc:sldMk cId="0" sldId="256"/>
            <ac:spMk id="17" creationId="{00000000-0000-0000-0000-000000000000}"/>
          </ac:spMkLst>
        </pc:spChg>
        <pc:spChg chg="del">
          <ac:chgData name="Saleh Osama" userId="e90c2734343041bf" providerId="LiveId" clId="{FC0CD90F-0551-475C-86F3-EB569911D3BE}" dt="2026-09-10T00:25:24.619" v="164" actId="21"/>
          <ac:spMkLst>
            <pc:docMk/>
            <pc:sldMk cId="0" sldId="256"/>
            <ac:spMk id="18" creationId="{00000000-0000-0000-0000-000000000000}"/>
          </ac:spMkLst>
        </pc:spChg>
        <pc:spChg chg="del">
          <ac:chgData name="Saleh Osama" userId="e90c2734343041bf" providerId="LiveId" clId="{FC0CD90F-0551-475C-86F3-EB569911D3BE}" dt="2026-09-10T00:25:19.491" v="163" actId="21"/>
          <ac:spMkLst>
            <pc:docMk/>
            <pc:sldMk cId="0" sldId="256"/>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2837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strong and in one sentence: every large vessel on Earth is constantly broadcasting its position, and almost nobody is turning that firehose into real-time operational intelligence at scale. That's the gap we built this platform to close. Introduce the team quickly, name the course, and move straight into the problem — don't linger on the title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AIS actually is in one sentence — it's a transponder every large ship is legally required to carry, and it's constantly shouting out its position. The reporting rate isn't fixed — it speeds up when a vessel is maneuvering, which matters later. The core tension on the right is the whole reason this project exists: real-time freshness and historical correctness pull the architecture in two different directions. Don't over-explain AIS itself — spend more time on the tension diagram, since that's what motivates everything that follows. Transition: 'so what actually makes this a Big Data problem, technically?'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characteristics quickly — volume, velocity, noise, and the spatio-temporal nature of the queries. The bottom diagram is the punchline: a single vessel's signal, multiplied across a whole region's receivers, becomes a firehose that no single machine can process in time. That's the direct justification for why we reach for Kafka and Spark instead of a script reading a database. Keep this brisk — it's a setup slide, the architecture slide is where we go deep. Transition: 'given that, here's what the system actually has to deliver.'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objectives are the contract for the whole system — every architectural decision from here on exists to serve one of these four. Point out the small arrow under each card: each objective maps directly onto a serving table the jury will see again in the database slide. Don't over-explain each one individually — the point of this slide is that it's a checklist we'll close out at the end. Transition: 'to deliver all four at once, here's the complete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 slow down here. Walk top to bottom: raw AIS comes in, Kafka is our durable backbone, Spark Structured Streaming is the speed layer and it fans out to three places at once. One of those, the HDFS raw archive, becomes the immutable input to the batch layer, which Airflow orchestrates once a day — computing KPIs and running our clustering job — and everything lands back in PostgreSQL/PostGIS, which is the single serving surface both Zeppelin and Superset read from. Explicitly say the words 'this is Lambda Architecture' and point at the two colored panels on the right. Expect the jury to come back to this slide repeatedly — keep it legible, don't rush past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pre-empt the question every jury asks: 'why didn't you just stream everything?' The honest answer is that our clustering job is fundamentally batch-native — K-Means needs a bounded, reprocessable dataset to compute stable centroids, not a continuously evolving stream. Kappa would force us into online/incremental clustering, which is architecturally heavier and harder to defend in a demo setting. Say the quote out loud, it's the cleanest one-line summary of the entire design philosophy. Emphasize that HDFS is what ties the two layers together honestly — it's not two disconnected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topic list quick, then spend real time on the partitioning diagram — hash-by-MMSI is a decision that pays off twice in this project: once here for ordering guarantees, and again two slides from now when it's literally the fix for our deadlock incident, so plant that seed now. Mention replication factor 3 only briefly, it's a standard durability baseline, not something we tuned ourselves. Transition: 'once Spark consumes these partitions, here's what it actually does with each micro-batch.'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micro-batch goes through foreachBatch and fans out to four destinations, not one. Walk left to right: PostGIS is current truth for the dashboard, Kafka alerts is intentionally decoupled so alerting never blocks on a slow PostGIS write, HDFS is the immutable archive the batch layer will reprocess from, and the rejects path is what makes this feel like a real production pipeline rather than a demo — bad data doesn't crash the job or vanish, it gets quarantined with a reason attached. This decoupling of Sink A and Sink B is worth calling out explicitly since it's a subtle but deliberate design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engineering-defense slide in the whole deck — slow down and tell it like a story. Symptom: under load, our upsert batches started intermittently failing with PostgreSQL error 40P01. We diagnosed it as a classic lock-ordering deadlock — two Spark executors, each holding a lock the other one needs, waiting on each other forever. The fix is two complementary changes: explicitly repartitioning the DataFrame by MMSI before the write so one executor always owns one vessel's rows, and deduplicating within each micro-batch so we're not even issuing redundant lock requests for the same vessel. Emphasize that this reuses the same MMSI-hash idea from the Kafka partitioning slide — it's not a new concept, it's the same idea applied at a different layer. This is a near-guaranteed jury question, so know it cold.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is deliberately kept separate from PostgreSQL — one line to remember: HDFS is our historical, scalable archive, PostgreSQL/PostGIS is our fast serving layer, and we never ask one to do the other's job. Quickly justify Parquet, Snappy, and date partitioning — these are standard choices but the jury will want to hear the reasoning, not just the names. If time allows, mention the Safe Mode incident briefly — it's a smaller engineering story than the deadlock, so don't spend more than 20-30 seconds on it unless asked to go deeper.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Airflow does not replace Kafka or Spark — say that explicitly, it's a common point of confusion. It coordinates the batch side only: five linear tasks, deliberately kept as a straight chain rather than a fan-out graph, because each stage is a hard precondition for the next — you can't compute KPIs over a partition that hasn't finished writing, and you shouldn't mark the pipeline healthy if it silently wrote zero rows. Call out the idempotency design specifically — delete-before-insert and atomic overwrites are what separate a toy scheduled script from a production-grade pipeline, and it's what makes backfill safe.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first, then double back to the two things a jury will actually probe: why StandardScaler is non-negotiable, and how K was chosen. On scaling, say it plainly — Euclidean distance means the biggest-magnitude feature wins by default unless you standardize, and that's a fundamentals check any examiner might ask. On K, name the elbow method and WSSSE without over-explaining the math. Finish on the anomaly formula: it's a standardized distance to centroid, and the two threshold tiers exist because a review queue can tolerate more false positives than an automated alert can.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row of the table list — name active_fleet_state, vessel_speed_alerts, and vessel_behavior_clusters since those tie directly back to our four objectives slide, then wave at the rest and mention 14 tables total exist if anyone wants the full data dictionary. Spend more time on the right side: PostGIS gives us GiST spatial indexes that stay efficient even under our upsert-heavy write pattern, and native geofencing operators. The ACID point is worth connecting back to the deadlock slide — it's precisely the transactional guarantee that let us fix that problem deterministically instead of accepting eventual consistency.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split deliberately: Zeppelin is code-first and lives right against the Spark cluster, so it's where we iterate on features and validate the clustering model — it's for us, the engineers. Superset is SQL-native and always-on, reading straight from the PostGIS serving layer, and it's what a port operator or the jury would actually use day to day. Say explicitly that we didn't merge them into one tool on purpose — each audience has a different need and forcing one tool to serve both would be a worse trade-off for everyone. This is the natural hand-off point into the live demo — don't linger, move straight into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all four objectives as delivered — point at the checkmarks. Then proactively state the scaling path per layer before anyone asks: this is the single highest-leverage thing to say in the last 30 seconds, because it signals we've thought past the demo scope without being asked to. End on 'Questions?' with confidence, not as a throwaway — we've already pre-empted the two hardest ones (Lambda vs. Kappa and the deadlock) earlier in the deck, so the floor should be comfortable.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26"/>
        </a:solidFill>
        <a:effectLst/>
      </p:bgPr>
    </p:bg>
    <p:spTree>
      <p:nvGrpSpPr>
        <p:cNvPr id="1" name=""/>
        <p:cNvGrpSpPr/>
        <p:nvPr/>
      </p:nvGrpSpPr>
      <p:grpSpPr>
        <a:xfrm>
          <a:off x="0" y="0"/>
          <a:ext cx="0" cy="0"/>
          <a:chOff x="0" y="0"/>
          <a:chExt cx="0" cy="0"/>
        </a:xfrm>
      </p:grpSpPr>
      <p:sp>
        <p:nvSpPr>
          <p:cNvPr id="2" name="Shape 0"/>
          <p:cNvSpPr/>
          <p:nvPr/>
        </p:nvSpPr>
        <p:spPr>
          <a:xfrm>
            <a:off x="0" y="4572000"/>
            <a:ext cx="12188952" cy="2286000"/>
          </a:xfrm>
          <a:prstGeom prst="rect">
            <a:avLst/>
          </a:prstGeom>
          <a:solidFill>
            <a:srgbClr val="0C1F30"/>
          </a:solidFill>
          <a:ln w="12700">
            <a:solidFill>
              <a:srgbClr val="0C1F30"/>
            </a:solidFill>
            <a:prstDash val="solid"/>
          </a:ln>
        </p:spPr>
        <p:txBody>
          <a:bodyPr/>
          <a:lstStyle/>
          <a:p>
            <a:endParaRPr lang="en-US"/>
          </a:p>
        </p:txBody>
      </p:sp>
      <p:sp>
        <p:nvSpPr>
          <p:cNvPr id="3" name="Shape 1"/>
          <p:cNvSpPr/>
          <p:nvPr/>
        </p:nvSpPr>
        <p:spPr>
          <a:xfrm>
            <a:off x="-1828800" y="4937760"/>
            <a:ext cx="8229600" cy="8229600"/>
          </a:xfrm>
          <a:prstGeom prst="ellipse">
            <a:avLst/>
          </a:prstGeom>
          <a:ln w="12700">
            <a:solidFill>
              <a:srgbClr val="0A6E63">
                <a:alpha val="45000"/>
              </a:srgbClr>
            </a:solidFill>
            <a:prstDash val="solid"/>
          </a:ln>
        </p:spPr>
        <p:txBody>
          <a:bodyPr/>
          <a:lstStyle/>
          <a:p>
            <a:endParaRPr lang="en-US"/>
          </a:p>
        </p:txBody>
      </p:sp>
      <p:sp>
        <p:nvSpPr>
          <p:cNvPr id="4" name="Shape 2"/>
          <p:cNvSpPr/>
          <p:nvPr/>
        </p:nvSpPr>
        <p:spPr>
          <a:xfrm>
            <a:off x="1463040" y="5193792"/>
            <a:ext cx="8229600" cy="8229600"/>
          </a:xfrm>
          <a:prstGeom prst="ellipse">
            <a:avLst/>
          </a:prstGeom>
          <a:ln w="12700">
            <a:solidFill>
              <a:srgbClr val="0A6E63">
                <a:alpha val="40000"/>
              </a:srgbClr>
            </a:solidFill>
            <a:prstDash val="solid"/>
          </a:ln>
        </p:spPr>
        <p:txBody>
          <a:bodyPr/>
          <a:lstStyle/>
          <a:p>
            <a:endParaRPr lang="en-US"/>
          </a:p>
        </p:txBody>
      </p:sp>
      <p:sp>
        <p:nvSpPr>
          <p:cNvPr id="5" name="Shape 3"/>
          <p:cNvSpPr/>
          <p:nvPr/>
        </p:nvSpPr>
        <p:spPr>
          <a:xfrm>
            <a:off x="4754880" y="5449824"/>
            <a:ext cx="8229600" cy="8229600"/>
          </a:xfrm>
          <a:prstGeom prst="ellipse">
            <a:avLst/>
          </a:prstGeom>
          <a:ln w="12700">
            <a:solidFill>
              <a:srgbClr val="0A6E63">
                <a:alpha val="35000"/>
              </a:srgbClr>
            </a:solidFill>
            <a:prstDash val="solid"/>
          </a:ln>
        </p:spPr>
        <p:txBody>
          <a:bodyPr/>
          <a:lstStyle/>
          <a:p>
            <a:endParaRPr lang="en-US"/>
          </a:p>
        </p:txBody>
      </p:sp>
      <p:sp>
        <p:nvSpPr>
          <p:cNvPr id="6" name="Shape 4"/>
          <p:cNvSpPr/>
          <p:nvPr/>
        </p:nvSpPr>
        <p:spPr>
          <a:xfrm>
            <a:off x="8046720" y="5705856"/>
            <a:ext cx="8229600" cy="8229600"/>
          </a:xfrm>
          <a:prstGeom prst="ellipse">
            <a:avLst/>
          </a:prstGeom>
          <a:ln w="12700">
            <a:solidFill>
              <a:srgbClr val="0A6E63">
                <a:alpha val="30000"/>
              </a:srgbClr>
            </a:solidFill>
            <a:prstDash val="solid"/>
          </a:ln>
        </p:spPr>
        <p:txBody>
          <a:bodyPr/>
          <a:lstStyle/>
          <a:p>
            <a:endParaRPr lang="en-US"/>
          </a:p>
        </p:txBody>
      </p:sp>
      <p:sp>
        <p:nvSpPr>
          <p:cNvPr id="7" name="Shape 5"/>
          <p:cNvSpPr/>
          <p:nvPr/>
        </p:nvSpPr>
        <p:spPr>
          <a:xfrm>
            <a:off x="11338560" y="5961888"/>
            <a:ext cx="8229600" cy="8229600"/>
          </a:xfrm>
          <a:prstGeom prst="ellipse">
            <a:avLst/>
          </a:prstGeom>
          <a:ln w="12700">
            <a:solidFill>
              <a:srgbClr val="0A6E63">
                <a:alpha val="25000"/>
              </a:srgbClr>
            </a:solidFill>
            <a:prstDash val="solid"/>
          </a:ln>
        </p:spPr>
        <p:txBody>
          <a:bodyPr/>
          <a:lstStyle/>
          <a:p>
            <a:endParaRPr lang="en-US"/>
          </a:p>
        </p:txBody>
      </p:sp>
      <p:sp>
        <p:nvSpPr>
          <p:cNvPr id="8" name="Text 6"/>
          <p:cNvSpPr txBox="1"/>
          <p:nvPr/>
        </p:nvSpPr>
        <p:spPr>
          <a:xfrm>
            <a:off x="822960" y="1417320"/>
            <a:ext cx="9144000" cy="365760"/>
          </a:xfrm>
          <a:prstGeom prst="rect">
            <a:avLst/>
          </a:prstGeom>
          <a:noFill/>
          <a:ln/>
        </p:spPr>
        <p:txBody>
          <a:bodyPr wrap="square" lIns="0" tIns="0" rIns="0" bIns="0" rtlCol="0" anchor="ctr"/>
          <a:lstStyle/>
          <a:p>
            <a:pPr marL="0" indent="0">
              <a:buNone/>
            </a:pPr>
            <a:r>
              <a:rPr lang="en-US" sz="1300" b="1" kern="0" spc="200" dirty="0">
                <a:solidFill>
                  <a:srgbClr val="12A594"/>
                </a:solidFill>
                <a:latin typeface="Calibri" pitchFamily="34" charset="0"/>
                <a:ea typeface="Calibri" pitchFamily="34" charset="-122"/>
                <a:cs typeface="Calibri" pitchFamily="34" charset="-120"/>
              </a:rPr>
              <a:t>GRADUATION PROJECT  •  </a:t>
            </a:r>
            <a:r>
              <a:rPr lang="en-US" sz="1300" b="1" kern="0" spc="200">
                <a:solidFill>
                  <a:srgbClr val="12A594"/>
                </a:solidFill>
                <a:latin typeface="Calibri" pitchFamily="34" charset="0"/>
                <a:ea typeface="Calibri" pitchFamily="34" charset="-122"/>
                <a:cs typeface="Calibri" pitchFamily="34" charset="-120"/>
              </a:rPr>
              <a:t>BIG DATA </a:t>
            </a:r>
            <a:r>
              <a:rPr lang="en-US" sz="1300" b="1" kern="0" spc="200" dirty="0">
                <a:solidFill>
                  <a:srgbClr val="12A594"/>
                </a:solidFill>
                <a:latin typeface="Calibri" pitchFamily="34" charset="0"/>
                <a:ea typeface="Calibri" pitchFamily="34" charset="-122"/>
                <a:cs typeface="Calibri" pitchFamily="34" charset="-120"/>
              </a:rPr>
              <a:t>ENGINEERING</a:t>
            </a:r>
            <a:endParaRPr lang="en-US" sz="1300" dirty="0"/>
          </a:p>
        </p:txBody>
      </p:sp>
      <p:sp>
        <p:nvSpPr>
          <p:cNvPr id="9" name="Text 7"/>
          <p:cNvSpPr txBox="1"/>
          <p:nvPr/>
        </p:nvSpPr>
        <p:spPr>
          <a:xfrm>
            <a:off x="822960" y="1874520"/>
            <a:ext cx="10241280" cy="1737360"/>
          </a:xfrm>
          <a:prstGeom prst="rect">
            <a:avLst/>
          </a:prstGeom>
          <a:noFill/>
          <a:ln/>
        </p:spPr>
        <p:txBody>
          <a:bodyPr wrap="square" lIns="0" tIns="0" rIns="0" bIns="0" rtlCol="0" anchor="ctr"/>
          <a:lstStyle/>
          <a:p>
            <a:pPr marL="0" indent="0">
              <a:lnSpc>
                <a:spcPct val="105000"/>
              </a:lnSpc>
              <a:buNone/>
            </a:pPr>
            <a:r>
              <a:rPr lang="en-US" sz="4000" b="1" dirty="0">
                <a:solidFill>
                  <a:srgbClr val="F3F7FA"/>
                </a:solidFill>
                <a:latin typeface="Calibri" pitchFamily="34" charset="0"/>
                <a:ea typeface="Calibri" pitchFamily="34" charset="-122"/>
                <a:cs typeface="Calibri" pitchFamily="34" charset="-120"/>
              </a:rPr>
              <a:t>End-to-End Autonomous Maritime</a:t>
            </a:r>
            <a:endParaRPr lang="en-US" sz="4000" dirty="0"/>
          </a:p>
          <a:p>
            <a:pPr marL="0" indent="0">
              <a:lnSpc>
                <a:spcPct val="105000"/>
              </a:lnSpc>
              <a:buNone/>
            </a:pPr>
            <a:r>
              <a:rPr lang="en-US" sz="4000" b="1" dirty="0">
                <a:solidFill>
                  <a:srgbClr val="F3F7FA"/>
                </a:solidFill>
                <a:latin typeface="Calibri" pitchFamily="34" charset="0"/>
                <a:ea typeface="Calibri" pitchFamily="34" charset="-122"/>
                <a:cs typeface="Calibri" pitchFamily="34" charset="-120"/>
              </a:rPr>
              <a:t>Big Data &amp; AI Analytics Platform</a:t>
            </a:r>
            <a:endParaRPr lang="en-US" sz="4000" dirty="0"/>
          </a:p>
        </p:txBody>
      </p:sp>
      <p:sp>
        <p:nvSpPr>
          <p:cNvPr id="10" name="Text 8"/>
          <p:cNvSpPr txBox="1"/>
          <p:nvPr/>
        </p:nvSpPr>
        <p:spPr>
          <a:xfrm>
            <a:off x="822960" y="3611880"/>
            <a:ext cx="9601200" cy="502920"/>
          </a:xfrm>
          <a:prstGeom prst="rect">
            <a:avLst/>
          </a:prstGeom>
          <a:noFill/>
          <a:ln/>
        </p:spPr>
        <p:txBody>
          <a:bodyPr wrap="square" lIns="0" tIns="0" rIns="0" bIns="0" rtlCol="0" anchor="ctr"/>
          <a:lstStyle/>
          <a:p>
            <a:pPr marL="0" indent="0">
              <a:buNone/>
            </a:pPr>
            <a:r>
              <a:rPr lang="en-US" sz="1800" i="1" dirty="0">
                <a:solidFill>
                  <a:srgbClr val="5FB8D9"/>
                </a:solidFill>
                <a:latin typeface="Calibri" pitchFamily="34" charset="0"/>
                <a:ea typeface="Calibri" pitchFamily="34" charset="-122"/>
                <a:cs typeface="Calibri" pitchFamily="34" charset="-120"/>
              </a:rPr>
              <a:t>Real-Time Vessel Tracking, Port Intelligence &amp; Behavioral Analytics</a:t>
            </a:r>
            <a:endParaRPr lang="en-US" sz="1800" dirty="0"/>
          </a:p>
        </p:txBody>
      </p:sp>
      <p:sp>
        <p:nvSpPr>
          <p:cNvPr id="11" name="Shape 9"/>
          <p:cNvSpPr/>
          <p:nvPr/>
        </p:nvSpPr>
        <p:spPr>
          <a:xfrm>
            <a:off x="822960" y="4434840"/>
            <a:ext cx="10515600" cy="1417320"/>
          </a:xfrm>
          <a:prstGeom prst="roundRect">
            <a:avLst>
              <a:gd name="adj" fmla="val 5161"/>
            </a:avLst>
          </a:prstGeom>
          <a:solidFill>
            <a:srgbClr val="0F2739"/>
          </a:solidFill>
          <a:ln w="12700">
            <a:solidFill>
              <a:srgbClr val="10263B"/>
            </a:solidFill>
            <a:prstDash val="solid"/>
          </a:ln>
        </p:spPr>
        <p:txBody>
          <a:bodyPr/>
          <a:lstStyle/>
          <a:p>
            <a:endParaRPr lang="en-US"/>
          </a:p>
        </p:txBody>
      </p:sp>
      <p:sp>
        <p:nvSpPr>
          <p:cNvPr id="12" name="Text 10"/>
          <p:cNvSpPr txBox="1"/>
          <p:nvPr/>
        </p:nvSpPr>
        <p:spPr>
          <a:xfrm>
            <a:off x="1005840" y="4590288"/>
            <a:ext cx="2354580" cy="274320"/>
          </a:xfrm>
          <a:prstGeom prst="rect">
            <a:avLst/>
          </a:prstGeom>
          <a:noFill/>
          <a:ln/>
        </p:spPr>
        <p:txBody>
          <a:bodyPr wrap="square" lIns="0" tIns="0" rIns="0" bIns="0" rtlCol="0" anchor="ctr"/>
          <a:lstStyle/>
          <a:p>
            <a:pPr marL="0" indent="0">
              <a:buNone/>
            </a:pPr>
            <a:r>
              <a:rPr lang="en-US" sz="1050" b="1" kern="0" spc="100" dirty="0">
                <a:solidFill>
                  <a:srgbClr val="12A594"/>
                </a:solidFill>
                <a:latin typeface="Calibri" pitchFamily="34" charset="0"/>
                <a:ea typeface="Calibri" pitchFamily="34" charset="-122"/>
                <a:cs typeface="Calibri" pitchFamily="34" charset="-120"/>
              </a:rPr>
              <a:t>TEAM MEMBERS</a:t>
            </a:r>
            <a:endParaRPr lang="en-US" sz="1050" dirty="0"/>
          </a:p>
        </p:txBody>
      </p:sp>
      <p:sp>
        <p:nvSpPr>
          <p:cNvPr id="13" name="Text 11"/>
          <p:cNvSpPr txBox="1"/>
          <p:nvPr/>
        </p:nvSpPr>
        <p:spPr>
          <a:xfrm>
            <a:off x="1005840" y="4892040"/>
            <a:ext cx="2354580" cy="868680"/>
          </a:xfrm>
          <a:prstGeom prst="rect">
            <a:avLst/>
          </a:prstGeom>
          <a:noFill/>
          <a:ln/>
        </p:spPr>
        <p:txBody>
          <a:bodyPr wrap="square" lIns="0" tIns="0" rIns="0" bIns="0" rtlCol="0" anchor="t"/>
          <a:lstStyle/>
          <a:p>
            <a:pPr marL="0" indent="0">
              <a:buNone/>
            </a:pPr>
            <a:r>
              <a:rPr lang="en-US" sz="1150" dirty="0">
                <a:solidFill>
                  <a:srgbClr val="93ABBE"/>
                </a:solidFill>
                <a:latin typeface="Calibri" pitchFamily="34" charset="0"/>
                <a:ea typeface="Calibri" pitchFamily="34" charset="-122"/>
                <a:cs typeface="Calibri" pitchFamily="34" charset="-120"/>
              </a:rPr>
              <a:t>[Mohamed Hani Mahmoud]</a:t>
            </a:r>
            <a:endParaRPr lang="en-US" sz="1150" dirty="0"/>
          </a:p>
          <a:p>
            <a:r>
              <a:rPr lang="en-US" sz="1150" dirty="0">
                <a:solidFill>
                  <a:srgbClr val="93ABBE"/>
                </a:solidFill>
                <a:latin typeface="Calibri" pitchFamily="34" charset="0"/>
                <a:ea typeface="Calibri" pitchFamily="34" charset="-122"/>
                <a:cs typeface="Calibri" pitchFamily="34" charset="-120"/>
              </a:rPr>
              <a:t>[Youssef Fetyan Mohamed]</a:t>
            </a:r>
            <a:endParaRPr lang="en-US" sz="1150" dirty="0"/>
          </a:p>
          <a:p>
            <a:r>
              <a:rPr lang="en-US" sz="1150" dirty="0">
                <a:solidFill>
                  <a:srgbClr val="93ABBE"/>
                </a:solidFill>
                <a:latin typeface="Calibri" pitchFamily="34" charset="0"/>
                <a:ea typeface="Calibri" pitchFamily="34" charset="-122"/>
                <a:cs typeface="Calibri" pitchFamily="34" charset="-120"/>
              </a:rPr>
              <a:t>[Mahmoud Gad Mohamed]</a:t>
            </a:r>
          </a:p>
          <a:p>
            <a:r>
              <a:rPr lang="en-US" sz="1150" dirty="0">
                <a:solidFill>
                  <a:srgbClr val="93ABBE"/>
                </a:solidFill>
                <a:latin typeface="Calibri" pitchFamily="34" charset="0"/>
                <a:ea typeface="Calibri" pitchFamily="34" charset="-122"/>
                <a:cs typeface="Calibri" pitchFamily="34" charset="-120"/>
              </a:rPr>
              <a:t>[ Mostafa Mortada Mohamed]</a:t>
            </a:r>
          </a:p>
          <a:p>
            <a:r>
              <a:rPr lang="en-US" sz="1150" dirty="0">
                <a:solidFill>
                  <a:srgbClr val="93ABBE"/>
                </a:solidFill>
                <a:latin typeface="Calibri" pitchFamily="34" charset="0"/>
                <a:ea typeface="Calibri" pitchFamily="34" charset="-122"/>
                <a:cs typeface="Calibri" pitchFamily="34" charset="-120"/>
              </a:rPr>
              <a:t>[ Saleh Osama Saleh]</a:t>
            </a:r>
            <a:endParaRPr lang="en-US" sz="1150" dirty="0"/>
          </a:p>
        </p:txBody>
      </p:sp>
      <p:sp>
        <p:nvSpPr>
          <p:cNvPr id="14" name="Text 12"/>
          <p:cNvSpPr txBox="1"/>
          <p:nvPr/>
        </p:nvSpPr>
        <p:spPr>
          <a:xfrm>
            <a:off x="3543300" y="4590288"/>
            <a:ext cx="2354580" cy="274320"/>
          </a:xfrm>
          <a:prstGeom prst="rect">
            <a:avLst/>
          </a:prstGeom>
          <a:noFill/>
          <a:ln/>
        </p:spPr>
        <p:txBody>
          <a:bodyPr wrap="square" lIns="0" tIns="0" rIns="0" bIns="0" rtlCol="0" anchor="ctr"/>
          <a:lstStyle/>
          <a:p>
            <a:pPr marL="0" indent="0">
              <a:buNone/>
            </a:pPr>
            <a:r>
              <a:rPr lang="en-US" sz="1050" b="1" kern="0" spc="100" dirty="0">
                <a:solidFill>
                  <a:srgbClr val="12A594"/>
                </a:solidFill>
                <a:latin typeface="Calibri" pitchFamily="34" charset="0"/>
                <a:ea typeface="Calibri" pitchFamily="34" charset="-122"/>
                <a:cs typeface="Calibri" pitchFamily="34" charset="-120"/>
              </a:rPr>
              <a:t>COURSE / PROJECT</a:t>
            </a:r>
            <a:endParaRPr lang="en-US" sz="1050" dirty="0"/>
          </a:p>
        </p:txBody>
      </p:sp>
      <p:sp>
        <p:nvSpPr>
          <p:cNvPr id="15" name="Text 13"/>
          <p:cNvSpPr txBox="1"/>
          <p:nvPr/>
        </p:nvSpPr>
        <p:spPr>
          <a:xfrm>
            <a:off x="3543300" y="4892040"/>
            <a:ext cx="2354580" cy="868680"/>
          </a:xfrm>
          <a:prstGeom prst="rect">
            <a:avLst/>
          </a:prstGeom>
          <a:noFill/>
          <a:ln/>
        </p:spPr>
        <p:txBody>
          <a:bodyPr wrap="square" lIns="0" tIns="0" rIns="0" bIns="0" rtlCol="0" anchor="t"/>
          <a:lstStyle/>
          <a:p>
            <a:r>
              <a:rPr lang="en-US" sz="1150" dirty="0">
                <a:solidFill>
                  <a:srgbClr val="93ABBE"/>
                </a:solidFill>
                <a:latin typeface="Calibri" pitchFamily="34" charset="0"/>
                <a:ea typeface="Calibri" pitchFamily="34" charset="-122"/>
                <a:cs typeface="Calibri" pitchFamily="34" charset="-120"/>
              </a:rPr>
              <a:t>[S26-B9-BigData-G9-E — Big Data Graduation Project]</a:t>
            </a:r>
            <a:endParaRPr lang="en-US" sz="1150" dirty="0"/>
          </a:p>
        </p:txBody>
      </p:sp>
      <p:sp>
        <p:nvSpPr>
          <p:cNvPr id="16" name="Text 14"/>
          <p:cNvSpPr txBox="1"/>
          <p:nvPr/>
        </p:nvSpPr>
        <p:spPr>
          <a:xfrm>
            <a:off x="6080760" y="4590288"/>
            <a:ext cx="2354580" cy="274320"/>
          </a:xfrm>
          <a:prstGeom prst="rect">
            <a:avLst/>
          </a:prstGeom>
          <a:noFill/>
          <a:ln/>
        </p:spPr>
        <p:txBody>
          <a:bodyPr wrap="square" lIns="0" tIns="0" rIns="0" bIns="0" rtlCol="0" anchor="ctr"/>
          <a:lstStyle/>
          <a:p>
            <a:pPr marL="0" indent="0">
              <a:buNone/>
            </a:pPr>
            <a:r>
              <a:rPr lang="en-US" sz="1050" b="1" kern="0" spc="100" dirty="0">
                <a:solidFill>
                  <a:srgbClr val="12A594"/>
                </a:solidFill>
                <a:latin typeface="Calibri" pitchFamily="34" charset="0"/>
                <a:ea typeface="Calibri" pitchFamily="34" charset="-122"/>
                <a:cs typeface="Calibri" pitchFamily="34" charset="-120"/>
              </a:rPr>
              <a:t>INSTRUCTOR</a:t>
            </a:r>
            <a:endParaRPr lang="en-US" sz="1050" dirty="0"/>
          </a:p>
        </p:txBody>
      </p:sp>
      <p:sp>
        <p:nvSpPr>
          <p:cNvPr id="17" name="Text 15"/>
          <p:cNvSpPr txBox="1"/>
          <p:nvPr/>
        </p:nvSpPr>
        <p:spPr>
          <a:xfrm>
            <a:off x="6080760" y="4892040"/>
            <a:ext cx="2354580" cy="868680"/>
          </a:xfrm>
          <a:prstGeom prst="rect">
            <a:avLst/>
          </a:prstGeom>
          <a:noFill/>
          <a:ln/>
        </p:spPr>
        <p:txBody>
          <a:bodyPr wrap="square" lIns="0" tIns="0" rIns="0" bIns="0" rtlCol="0" anchor="t"/>
          <a:lstStyle/>
          <a:p>
            <a:r>
              <a:rPr lang="en-US" sz="1150" dirty="0">
                <a:solidFill>
                  <a:srgbClr val="93ABBE"/>
                </a:solidFill>
                <a:latin typeface="Calibri" pitchFamily="34" charset="0"/>
                <a:ea typeface="Calibri" pitchFamily="34" charset="-122"/>
                <a:cs typeface="Calibri" pitchFamily="34" charset="-120"/>
              </a:rPr>
              <a:t>[Ahmed Saeed </a:t>
            </a:r>
            <a:r>
              <a:rPr lang="en-US" sz="1150" dirty="0" err="1">
                <a:solidFill>
                  <a:srgbClr val="93ABBE"/>
                </a:solidFill>
                <a:latin typeface="Calibri" pitchFamily="34" charset="0"/>
                <a:ea typeface="Calibri" pitchFamily="34" charset="-122"/>
                <a:cs typeface="Calibri" pitchFamily="34" charset="-120"/>
              </a:rPr>
              <a:t>Farg</a:t>
            </a:r>
            <a:r>
              <a:rPr lang="en-US" sz="1150" dirty="0">
                <a:solidFill>
                  <a:srgbClr val="93ABBE"/>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Maritime Traffic Generates a Continuous, High-Stakes Data Stream</a:t>
            </a:r>
            <a:endParaRPr lang="en-US" sz="3000" dirty="0"/>
          </a:p>
        </p:txBody>
      </p:sp>
      <p:sp>
        <p:nvSpPr>
          <p:cNvPr id="4" name="Text 2"/>
          <p:cNvSpPr txBox="1"/>
          <p:nvPr/>
        </p:nvSpPr>
        <p:spPr>
          <a:xfrm>
            <a:off x="502920" y="1600200"/>
            <a:ext cx="5486400" cy="420624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AIS transponders broadcast vessel position, speed (SOG), heading (COG) and navigation status continuously</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Reporting frequency scales with vessel behavior — as fast as ~2 seconds when maneuvering at speed</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Operators need real-time decisions: where is the fleet right now, is anyone speeding, is a port congested</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Analysts need historical truth: dwell-time trends, behavioral patterns, auditable KPIs over weeks/months</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Traditional batch-only pipelines cannot deliver both at once</a:t>
            </a:r>
            <a:endParaRPr lang="en-US" sz="1350" dirty="0"/>
          </a:p>
        </p:txBody>
      </p:sp>
      <p:sp>
        <p:nvSpPr>
          <p:cNvPr id="5" name="Shape 3"/>
          <p:cNvSpPr/>
          <p:nvPr/>
        </p:nvSpPr>
        <p:spPr>
          <a:xfrm>
            <a:off x="6400800" y="1691640"/>
            <a:ext cx="5303520" cy="1051560"/>
          </a:xfrm>
          <a:prstGeom prst="roundRect">
            <a:avLst>
              <a:gd name="adj" fmla="val 6087"/>
            </a:avLst>
          </a:prstGeom>
          <a:solidFill>
            <a:srgbClr val="17342B"/>
          </a:solidFill>
          <a:ln w="15875">
            <a:solidFill>
              <a:srgbClr val="F2A93B"/>
            </a:solidFill>
            <a:prstDash val="solid"/>
          </a:ln>
        </p:spPr>
        <p:txBody>
          <a:bodyPr/>
          <a:lstStyle/>
          <a:p>
            <a:endParaRPr lang="en-US"/>
          </a:p>
        </p:txBody>
      </p:sp>
      <p:sp>
        <p:nvSpPr>
          <p:cNvPr id="6" name="Text 4"/>
          <p:cNvSpPr txBox="1"/>
          <p:nvPr/>
        </p:nvSpPr>
        <p:spPr>
          <a:xfrm>
            <a:off x="6446520" y="1691640"/>
            <a:ext cx="5212080" cy="1051560"/>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REAL-TIME DATA</a:t>
            </a:r>
            <a:endParaRPr lang="en-US" sz="1300" dirty="0"/>
          </a:p>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Fleet position • speed alerts</a:t>
            </a:r>
            <a:endParaRPr lang="en-US" sz="1300" dirty="0"/>
          </a:p>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sub-5-second freshness</a:t>
            </a:r>
            <a:endParaRPr lang="en-US" sz="1300" dirty="0"/>
          </a:p>
        </p:txBody>
      </p:sp>
      <p:sp>
        <p:nvSpPr>
          <p:cNvPr id="7" name="Text 5"/>
          <p:cNvSpPr txBox="1"/>
          <p:nvPr/>
        </p:nvSpPr>
        <p:spPr>
          <a:xfrm>
            <a:off x="8595360" y="2788920"/>
            <a:ext cx="914400" cy="457200"/>
          </a:xfrm>
          <a:prstGeom prst="rect">
            <a:avLst/>
          </a:prstGeom>
          <a:noFill/>
          <a:ln/>
        </p:spPr>
        <p:txBody>
          <a:bodyPr wrap="square" lIns="0" tIns="0" rIns="0" bIns="0" rtlCol="0" anchor="ctr"/>
          <a:lstStyle/>
          <a:p>
            <a:pPr marL="0" indent="0" algn="ctr">
              <a:buNone/>
            </a:pPr>
            <a:r>
              <a:rPr lang="en-US" sz="2000" b="1" dirty="0">
                <a:solidFill>
                  <a:srgbClr val="93ABBE"/>
                </a:solidFill>
                <a:latin typeface="Calibri" pitchFamily="34" charset="0"/>
                <a:ea typeface="Calibri" pitchFamily="34" charset="-122"/>
                <a:cs typeface="Calibri" pitchFamily="34" charset="-120"/>
              </a:rPr>
              <a:t>vs.</a:t>
            </a:r>
            <a:endParaRPr lang="en-US" sz="2000" dirty="0"/>
          </a:p>
        </p:txBody>
      </p:sp>
      <p:sp>
        <p:nvSpPr>
          <p:cNvPr id="8" name="Shape 6"/>
          <p:cNvSpPr/>
          <p:nvPr/>
        </p:nvSpPr>
        <p:spPr>
          <a:xfrm>
            <a:off x="6400800" y="3246120"/>
            <a:ext cx="5303520" cy="1051560"/>
          </a:xfrm>
          <a:prstGeom prst="roundRect">
            <a:avLst>
              <a:gd name="adj" fmla="val 6087"/>
            </a:avLst>
          </a:prstGeom>
          <a:solidFill>
            <a:srgbClr val="132E42"/>
          </a:solidFill>
          <a:ln w="15875">
            <a:solidFill>
              <a:srgbClr val="5FB8D9"/>
            </a:solidFill>
            <a:prstDash val="solid"/>
          </a:ln>
        </p:spPr>
        <p:txBody>
          <a:bodyPr/>
          <a:lstStyle/>
          <a:p>
            <a:endParaRPr lang="en-US"/>
          </a:p>
        </p:txBody>
      </p:sp>
      <p:sp>
        <p:nvSpPr>
          <p:cNvPr id="9" name="Text 7"/>
          <p:cNvSpPr txBox="1"/>
          <p:nvPr/>
        </p:nvSpPr>
        <p:spPr>
          <a:xfrm>
            <a:off x="6446520" y="3246120"/>
            <a:ext cx="5212080" cy="1051560"/>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HISTORICAL / ACCURATE ANALYTICS</a:t>
            </a:r>
            <a:endParaRPr lang="en-US" sz="1300" dirty="0"/>
          </a:p>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KPIs • clustering • audit trail</a:t>
            </a:r>
            <a:endParaRPr lang="en-US" sz="1300" dirty="0"/>
          </a:p>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reprocessable, exact</a:t>
            </a:r>
            <a:endParaRPr lang="en-US" sz="1300" dirty="0"/>
          </a:p>
        </p:txBody>
      </p:sp>
      <p:sp>
        <p:nvSpPr>
          <p:cNvPr id="10" name="Shape 8"/>
          <p:cNvSpPr/>
          <p:nvPr/>
        </p:nvSpPr>
        <p:spPr>
          <a:xfrm>
            <a:off x="6400800" y="4572000"/>
            <a:ext cx="5303520" cy="1234440"/>
          </a:xfrm>
          <a:prstGeom prst="roundRect">
            <a:avLst>
              <a:gd name="adj" fmla="val 5926"/>
            </a:avLst>
          </a:prstGeom>
          <a:solidFill>
            <a:srgbClr val="16324A"/>
          </a:solidFill>
          <a:ln w="12700">
            <a:solidFill>
              <a:srgbClr val="10263B"/>
            </a:solidFill>
            <a:prstDash val="solid"/>
          </a:ln>
        </p:spPr>
        <p:txBody>
          <a:bodyPr/>
          <a:lstStyle/>
          <a:p>
            <a:endParaRPr lang="en-US"/>
          </a:p>
        </p:txBody>
      </p:sp>
      <p:sp>
        <p:nvSpPr>
          <p:cNvPr id="11" name="Text 9"/>
          <p:cNvSpPr txBox="1"/>
          <p:nvPr/>
        </p:nvSpPr>
        <p:spPr>
          <a:xfrm>
            <a:off x="6583680" y="4681728"/>
            <a:ext cx="4937760" cy="274320"/>
          </a:xfrm>
          <a:prstGeom prst="rect">
            <a:avLst/>
          </a:prstGeom>
          <a:noFill/>
          <a:ln/>
        </p:spPr>
        <p:txBody>
          <a:bodyPr wrap="square" lIns="0" tIns="0" rIns="0" bIns="0" rtlCol="0" anchor="ctr"/>
          <a:lstStyle/>
          <a:p>
            <a:pPr marL="0" indent="0">
              <a:buNone/>
            </a:pPr>
            <a:r>
              <a:rPr lang="en-US" sz="1200" b="1" dirty="0">
                <a:solidFill>
                  <a:srgbClr val="12A594"/>
                </a:solidFill>
                <a:latin typeface="Calibri" pitchFamily="34" charset="0"/>
                <a:ea typeface="Calibri" pitchFamily="34" charset="-122"/>
                <a:cs typeface="Calibri" pitchFamily="34" charset="-120"/>
              </a:rPr>
              <a:t>Why batch-only fails:</a:t>
            </a:r>
            <a:endParaRPr lang="en-US" sz="1200" dirty="0"/>
          </a:p>
        </p:txBody>
      </p:sp>
      <p:sp>
        <p:nvSpPr>
          <p:cNvPr id="12" name="Text 10"/>
          <p:cNvSpPr txBox="1"/>
          <p:nvPr/>
        </p:nvSpPr>
        <p:spPr>
          <a:xfrm>
            <a:off x="6583680" y="4956048"/>
            <a:ext cx="4937760" cy="777240"/>
          </a:xfrm>
          <a:prstGeom prst="rect">
            <a:avLst/>
          </a:prstGeom>
          <a:noFill/>
          <a:ln/>
        </p:spPr>
        <p:txBody>
          <a:bodyPr wrap="square" lIns="0" tIns="0" rIns="0" bIns="0" rtlCol="0" anchor="ctr"/>
          <a:lstStyle/>
          <a:p>
            <a:pPr marL="0" indent="0">
              <a:buNone/>
            </a:pPr>
            <a:r>
              <a:rPr lang="en-US" sz="1250" dirty="0">
                <a:solidFill>
                  <a:srgbClr val="93ABBE"/>
                </a:solidFill>
                <a:latin typeface="Calibri" pitchFamily="34" charset="0"/>
                <a:ea typeface="Calibri" pitchFamily="34" charset="-122"/>
                <a:cs typeface="Calibri" pitchFamily="34" charset="-120"/>
              </a:rPr>
              <a:t>A daily batch job can compute perfect KPIs — but it cannot tell an operator a vessel is speeding right now, or that a ship just entered a port geofence.</a:t>
            </a:r>
            <a:endParaRPr lang="en-US" sz="1250" dirty="0"/>
          </a:p>
        </p:txBody>
      </p:sp>
      <p:sp>
        <p:nvSpPr>
          <p:cNvPr id="13" name="Text 11"/>
          <p:cNvSpPr txBox="1"/>
          <p:nvPr/>
        </p:nvSpPr>
        <p:spPr>
          <a:xfrm>
            <a:off x="502920" y="6400800"/>
            <a:ext cx="7315200" cy="274320"/>
          </a:xfrm>
          <a:prstGeom prst="rect">
            <a:avLst/>
          </a:prstGeom>
          <a:noFill/>
          <a:ln/>
        </p:spPr>
        <p:txBody>
          <a:bodyPr wrap="square" lIns="0" tIns="0" rIns="0" bIns="0" rtlCol="0" anchor="ctr"/>
          <a:lstStyle/>
          <a:p>
            <a:pPr marL="0" indent="0">
              <a:buNone/>
            </a:pPr>
            <a:r>
              <a:rPr lang="en-US" sz="1000" dirty="0">
                <a:solidFill>
                  <a:srgbClr val="6E8A9E"/>
                </a:solidFill>
                <a:latin typeface="Calibri" pitchFamily="34" charset="0"/>
                <a:ea typeface="Calibri" pitchFamily="34" charset="-122"/>
                <a:cs typeface="Calibri" pitchFamily="34" charset="-120"/>
              </a:rPr>
              <a:t>AIS = Automatic Identification System (IMO SOLAS mandated)</a:t>
            </a:r>
            <a:endParaRPr lang="en-US" sz="1000" dirty="0"/>
          </a:p>
        </p:txBody>
      </p:sp>
      <p:sp>
        <p:nvSpPr>
          <p:cNvPr id="14" name="Text 12"/>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PROBLEM CHARACTERIZATION</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Why AIS Telemetry Is a Genuine Big Data Problem</a:t>
            </a:r>
            <a:endParaRPr lang="en-US" sz="3000" dirty="0"/>
          </a:p>
        </p:txBody>
      </p:sp>
      <p:sp>
        <p:nvSpPr>
          <p:cNvPr id="4" name="Shape 2"/>
          <p:cNvSpPr/>
          <p:nvPr/>
        </p:nvSpPr>
        <p:spPr>
          <a:xfrm>
            <a:off x="502920" y="1645920"/>
            <a:ext cx="2606040" cy="1371600"/>
          </a:xfrm>
          <a:prstGeom prst="roundRect">
            <a:avLst>
              <a:gd name="adj" fmla="val 4667"/>
            </a:avLst>
          </a:prstGeom>
          <a:solidFill>
            <a:srgbClr val="16324A"/>
          </a:solidFill>
          <a:ln w="15875">
            <a:solidFill>
              <a:srgbClr val="12A594"/>
            </a:solidFill>
            <a:prstDash val="solid"/>
          </a:ln>
        </p:spPr>
        <p:txBody>
          <a:bodyPr/>
          <a:lstStyle/>
          <a:p>
            <a:endParaRPr lang="en-US"/>
          </a:p>
        </p:txBody>
      </p:sp>
      <p:sp>
        <p:nvSpPr>
          <p:cNvPr id="5" name="Text 3"/>
          <p:cNvSpPr txBox="1"/>
          <p:nvPr/>
        </p:nvSpPr>
        <p:spPr>
          <a:xfrm>
            <a:off x="548640" y="1645920"/>
            <a:ext cx="2514600" cy="1371600"/>
          </a:xfrm>
          <a:prstGeom prst="rect">
            <a:avLst/>
          </a:prstGeom>
          <a:noFill/>
          <a:ln/>
        </p:spPr>
        <p:txBody>
          <a:bodyPr wrap="square" lIns="0" tIns="0" rIns="0" bIns="0" rtlCol="0" anchor="ctr"/>
          <a:lstStyle/>
          <a:p>
            <a:pPr marL="0" indent="0" algn="ctr">
              <a:lnSpc>
                <a:spcPct val="100000"/>
              </a:lnSpc>
              <a:buNone/>
            </a:pPr>
            <a:r>
              <a:rPr lang="en-US" sz="1600" b="1" dirty="0">
                <a:solidFill>
                  <a:srgbClr val="12A594"/>
                </a:solidFill>
                <a:latin typeface="Calibri" pitchFamily="34" charset="0"/>
                <a:ea typeface="Calibri" pitchFamily="34" charset="-122"/>
                <a:cs typeface="Calibri" pitchFamily="34" charset="-120"/>
              </a:rPr>
              <a:t>Volume</a:t>
            </a:r>
            <a:endParaRPr lang="en-US" sz="1600" dirty="0"/>
          </a:p>
        </p:txBody>
      </p:sp>
      <p:sp>
        <p:nvSpPr>
          <p:cNvPr id="6" name="Text 4"/>
          <p:cNvSpPr txBox="1"/>
          <p:nvPr/>
        </p:nvSpPr>
        <p:spPr>
          <a:xfrm>
            <a:off x="576072" y="3108960"/>
            <a:ext cx="2459736" cy="1005840"/>
          </a:xfrm>
          <a:prstGeom prst="rect">
            <a:avLst/>
          </a:prstGeom>
          <a:noFill/>
          <a:ln/>
        </p:spPr>
        <p:txBody>
          <a:bodyPr wrap="square" lIns="0" tIns="0" rIns="0" bIns="0" rtlCol="0" anchor="t"/>
          <a:lstStyle/>
          <a:p>
            <a:pPr marL="0" indent="0" algn="ctr">
              <a:buNone/>
            </a:pPr>
            <a:r>
              <a:rPr lang="en-US" sz="1150" dirty="0">
                <a:solidFill>
                  <a:srgbClr val="93ABBE"/>
                </a:solidFill>
                <a:latin typeface="Calibri" pitchFamily="34" charset="0"/>
                <a:ea typeface="Calibri" pitchFamily="34" charset="-122"/>
                <a:cs typeface="Calibri" pitchFamily="34" charset="-120"/>
              </a:rPr>
              <a:t>Regional deployments sustain 500–5,000 msgs/sec at peak traffic</a:t>
            </a:r>
            <a:endParaRPr lang="en-US" sz="1150" dirty="0"/>
          </a:p>
        </p:txBody>
      </p:sp>
      <p:sp>
        <p:nvSpPr>
          <p:cNvPr id="7" name="Shape 5"/>
          <p:cNvSpPr/>
          <p:nvPr/>
        </p:nvSpPr>
        <p:spPr>
          <a:xfrm>
            <a:off x="3246120" y="1645920"/>
            <a:ext cx="2606040" cy="1371600"/>
          </a:xfrm>
          <a:prstGeom prst="roundRect">
            <a:avLst>
              <a:gd name="adj" fmla="val 4667"/>
            </a:avLst>
          </a:prstGeom>
          <a:solidFill>
            <a:srgbClr val="16324A"/>
          </a:solidFill>
          <a:ln w="15875">
            <a:solidFill>
              <a:srgbClr val="12A594"/>
            </a:solidFill>
            <a:prstDash val="solid"/>
          </a:ln>
        </p:spPr>
        <p:txBody>
          <a:bodyPr/>
          <a:lstStyle/>
          <a:p>
            <a:endParaRPr lang="en-US"/>
          </a:p>
        </p:txBody>
      </p:sp>
      <p:sp>
        <p:nvSpPr>
          <p:cNvPr id="8" name="Text 6"/>
          <p:cNvSpPr txBox="1"/>
          <p:nvPr/>
        </p:nvSpPr>
        <p:spPr>
          <a:xfrm>
            <a:off x="3291840" y="1645920"/>
            <a:ext cx="2514600" cy="1371600"/>
          </a:xfrm>
          <a:prstGeom prst="rect">
            <a:avLst/>
          </a:prstGeom>
          <a:noFill/>
          <a:ln/>
        </p:spPr>
        <p:txBody>
          <a:bodyPr wrap="square" lIns="0" tIns="0" rIns="0" bIns="0" rtlCol="0" anchor="ctr"/>
          <a:lstStyle/>
          <a:p>
            <a:pPr marL="0" indent="0" algn="ctr">
              <a:lnSpc>
                <a:spcPct val="100000"/>
              </a:lnSpc>
              <a:buNone/>
            </a:pPr>
            <a:r>
              <a:rPr lang="en-US" sz="1600" b="1" dirty="0">
                <a:solidFill>
                  <a:srgbClr val="12A594"/>
                </a:solidFill>
                <a:latin typeface="Calibri" pitchFamily="34" charset="0"/>
                <a:ea typeface="Calibri" pitchFamily="34" charset="-122"/>
                <a:cs typeface="Calibri" pitchFamily="34" charset="-120"/>
              </a:rPr>
              <a:t>Velocity</a:t>
            </a:r>
            <a:endParaRPr lang="en-US" sz="1600" dirty="0"/>
          </a:p>
        </p:txBody>
      </p:sp>
      <p:sp>
        <p:nvSpPr>
          <p:cNvPr id="9" name="Text 7"/>
          <p:cNvSpPr txBox="1"/>
          <p:nvPr/>
        </p:nvSpPr>
        <p:spPr>
          <a:xfrm>
            <a:off x="3319272" y="3108960"/>
            <a:ext cx="2459736" cy="1005840"/>
          </a:xfrm>
          <a:prstGeom prst="rect">
            <a:avLst/>
          </a:prstGeom>
          <a:noFill/>
          <a:ln/>
        </p:spPr>
        <p:txBody>
          <a:bodyPr wrap="square" lIns="0" tIns="0" rIns="0" bIns="0" rtlCol="0" anchor="t"/>
          <a:lstStyle/>
          <a:p>
            <a:pPr marL="0" indent="0" algn="ctr">
              <a:buNone/>
            </a:pPr>
            <a:r>
              <a:rPr lang="en-US" sz="1150" dirty="0">
                <a:solidFill>
                  <a:srgbClr val="93ABBE"/>
                </a:solidFill>
                <a:latin typeface="Calibri" pitchFamily="34" charset="0"/>
                <a:ea typeface="Calibri" pitchFamily="34" charset="-122"/>
                <a:cs typeface="Calibri" pitchFamily="34" charset="-120"/>
              </a:rPr>
              <a:t>Continuous streaming — some vessels report every ~2 seconds</a:t>
            </a:r>
            <a:endParaRPr lang="en-US" sz="1150" dirty="0"/>
          </a:p>
        </p:txBody>
      </p:sp>
      <p:sp>
        <p:nvSpPr>
          <p:cNvPr id="10" name="Shape 8"/>
          <p:cNvSpPr/>
          <p:nvPr/>
        </p:nvSpPr>
        <p:spPr>
          <a:xfrm>
            <a:off x="5989320" y="1645920"/>
            <a:ext cx="2606040" cy="1371600"/>
          </a:xfrm>
          <a:prstGeom prst="roundRect">
            <a:avLst>
              <a:gd name="adj" fmla="val 4667"/>
            </a:avLst>
          </a:prstGeom>
          <a:solidFill>
            <a:srgbClr val="16324A"/>
          </a:solidFill>
          <a:ln w="15875">
            <a:solidFill>
              <a:srgbClr val="12A594"/>
            </a:solidFill>
            <a:prstDash val="solid"/>
          </a:ln>
        </p:spPr>
        <p:txBody>
          <a:bodyPr/>
          <a:lstStyle/>
          <a:p>
            <a:endParaRPr lang="en-US"/>
          </a:p>
        </p:txBody>
      </p:sp>
      <p:sp>
        <p:nvSpPr>
          <p:cNvPr id="11" name="Text 9"/>
          <p:cNvSpPr txBox="1"/>
          <p:nvPr/>
        </p:nvSpPr>
        <p:spPr>
          <a:xfrm>
            <a:off x="6035040" y="1645920"/>
            <a:ext cx="2514600" cy="1371600"/>
          </a:xfrm>
          <a:prstGeom prst="rect">
            <a:avLst/>
          </a:prstGeom>
          <a:noFill/>
          <a:ln/>
        </p:spPr>
        <p:txBody>
          <a:bodyPr wrap="square" lIns="0" tIns="0" rIns="0" bIns="0" rtlCol="0" anchor="ctr"/>
          <a:lstStyle/>
          <a:p>
            <a:pPr marL="0" indent="0" algn="ctr">
              <a:lnSpc>
                <a:spcPct val="100000"/>
              </a:lnSpc>
              <a:buNone/>
            </a:pPr>
            <a:r>
              <a:rPr lang="en-US" sz="1600" b="1" dirty="0">
                <a:solidFill>
                  <a:srgbClr val="12A594"/>
                </a:solidFill>
                <a:latin typeface="Calibri" pitchFamily="34" charset="0"/>
                <a:ea typeface="Calibri" pitchFamily="34" charset="-122"/>
                <a:cs typeface="Calibri" pitchFamily="34" charset="-120"/>
              </a:rPr>
              <a:t>Variety / Noise</a:t>
            </a:r>
            <a:endParaRPr lang="en-US" sz="1600" dirty="0"/>
          </a:p>
        </p:txBody>
      </p:sp>
      <p:sp>
        <p:nvSpPr>
          <p:cNvPr id="12" name="Text 10"/>
          <p:cNvSpPr txBox="1"/>
          <p:nvPr/>
        </p:nvSpPr>
        <p:spPr>
          <a:xfrm>
            <a:off x="6062472" y="3108960"/>
            <a:ext cx="2459736" cy="1005840"/>
          </a:xfrm>
          <a:prstGeom prst="rect">
            <a:avLst/>
          </a:prstGeom>
          <a:noFill/>
          <a:ln/>
        </p:spPr>
        <p:txBody>
          <a:bodyPr wrap="square" lIns="0" tIns="0" rIns="0" bIns="0" rtlCol="0" anchor="t"/>
          <a:lstStyle/>
          <a:p>
            <a:pPr marL="0" indent="0" algn="ctr">
              <a:buNone/>
            </a:pPr>
            <a:r>
              <a:rPr lang="en-US" sz="1150" dirty="0">
                <a:solidFill>
                  <a:srgbClr val="93ABBE"/>
                </a:solidFill>
                <a:latin typeface="Calibri" pitchFamily="34" charset="0"/>
                <a:ea typeface="Calibri" pitchFamily="34" charset="-122"/>
                <a:cs typeface="Calibri" pitchFamily="34" charset="-120"/>
              </a:rPr>
              <a:t>GPS jumps, malformed NMEA, spoofed MMSIs, encoding artifacts</a:t>
            </a:r>
            <a:endParaRPr lang="en-US" sz="1150" dirty="0"/>
          </a:p>
        </p:txBody>
      </p:sp>
      <p:sp>
        <p:nvSpPr>
          <p:cNvPr id="13" name="Shape 11"/>
          <p:cNvSpPr/>
          <p:nvPr/>
        </p:nvSpPr>
        <p:spPr>
          <a:xfrm>
            <a:off x="8732520" y="1645920"/>
            <a:ext cx="2606040" cy="1371600"/>
          </a:xfrm>
          <a:prstGeom prst="roundRect">
            <a:avLst>
              <a:gd name="adj" fmla="val 4667"/>
            </a:avLst>
          </a:prstGeom>
          <a:solidFill>
            <a:srgbClr val="16324A"/>
          </a:solidFill>
          <a:ln w="15875">
            <a:solidFill>
              <a:srgbClr val="12A594"/>
            </a:solidFill>
            <a:prstDash val="solid"/>
          </a:ln>
        </p:spPr>
        <p:txBody>
          <a:bodyPr/>
          <a:lstStyle/>
          <a:p>
            <a:endParaRPr lang="en-US"/>
          </a:p>
        </p:txBody>
      </p:sp>
      <p:sp>
        <p:nvSpPr>
          <p:cNvPr id="14" name="Text 12"/>
          <p:cNvSpPr txBox="1"/>
          <p:nvPr/>
        </p:nvSpPr>
        <p:spPr>
          <a:xfrm>
            <a:off x="8778240" y="1645920"/>
            <a:ext cx="2514600" cy="1371600"/>
          </a:xfrm>
          <a:prstGeom prst="rect">
            <a:avLst/>
          </a:prstGeom>
          <a:noFill/>
          <a:ln/>
        </p:spPr>
        <p:txBody>
          <a:bodyPr wrap="square" lIns="0" tIns="0" rIns="0" bIns="0" rtlCol="0" anchor="ctr"/>
          <a:lstStyle/>
          <a:p>
            <a:pPr marL="0" indent="0" algn="ctr">
              <a:lnSpc>
                <a:spcPct val="100000"/>
              </a:lnSpc>
              <a:buNone/>
            </a:pPr>
            <a:r>
              <a:rPr lang="en-US" sz="1600" b="1" dirty="0">
                <a:solidFill>
                  <a:srgbClr val="12A594"/>
                </a:solidFill>
                <a:latin typeface="Calibri" pitchFamily="34" charset="0"/>
                <a:ea typeface="Calibri" pitchFamily="34" charset="-122"/>
                <a:cs typeface="Calibri" pitchFamily="34" charset="-120"/>
              </a:rPr>
              <a:t>Spatio-temporal</a:t>
            </a:r>
            <a:endParaRPr lang="en-US" sz="1600" dirty="0"/>
          </a:p>
        </p:txBody>
      </p:sp>
      <p:sp>
        <p:nvSpPr>
          <p:cNvPr id="15" name="Text 13"/>
          <p:cNvSpPr txBox="1"/>
          <p:nvPr/>
        </p:nvSpPr>
        <p:spPr>
          <a:xfrm>
            <a:off x="8805672" y="3108960"/>
            <a:ext cx="2459736" cy="1005840"/>
          </a:xfrm>
          <a:prstGeom prst="rect">
            <a:avLst/>
          </a:prstGeom>
          <a:noFill/>
          <a:ln/>
        </p:spPr>
        <p:txBody>
          <a:bodyPr wrap="square" lIns="0" tIns="0" rIns="0" bIns="0" rtlCol="0" anchor="t"/>
          <a:lstStyle/>
          <a:p>
            <a:pPr marL="0" indent="0" algn="ctr">
              <a:buNone/>
            </a:pPr>
            <a:r>
              <a:rPr lang="en-US" sz="1150" dirty="0">
                <a:solidFill>
                  <a:srgbClr val="93ABBE"/>
                </a:solidFill>
                <a:latin typeface="Calibri" pitchFamily="34" charset="0"/>
                <a:ea typeface="Calibri" pitchFamily="34" charset="-122"/>
                <a:cs typeface="Calibri" pitchFamily="34" charset="-120"/>
              </a:rPr>
              <a:t>Every query is simultaneously spatial AND time-bound</a:t>
            </a:r>
            <a:endParaRPr lang="en-US" sz="1150" dirty="0"/>
          </a:p>
        </p:txBody>
      </p:sp>
      <p:sp>
        <p:nvSpPr>
          <p:cNvPr id="16" name="Shape 14"/>
          <p:cNvSpPr/>
          <p:nvPr/>
        </p:nvSpPr>
        <p:spPr>
          <a:xfrm>
            <a:off x="502920" y="4343400"/>
            <a:ext cx="11155680" cy="1737360"/>
          </a:xfrm>
          <a:prstGeom prst="roundRect">
            <a:avLst>
              <a:gd name="adj" fmla="val 4211"/>
            </a:avLst>
          </a:prstGeom>
          <a:solidFill>
            <a:srgbClr val="0F2739"/>
          </a:solidFill>
          <a:ln w="12700">
            <a:solidFill>
              <a:srgbClr val="10263B"/>
            </a:solidFill>
            <a:prstDash val="solid"/>
          </a:ln>
        </p:spPr>
        <p:txBody>
          <a:bodyPr/>
          <a:lstStyle/>
          <a:p>
            <a:endParaRPr lang="en-US"/>
          </a:p>
        </p:txBody>
      </p:sp>
      <p:sp>
        <p:nvSpPr>
          <p:cNvPr id="17" name="Text 15"/>
          <p:cNvSpPr txBox="1"/>
          <p:nvPr/>
        </p:nvSpPr>
        <p:spPr>
          <a:xfrm>
            <a:off x="731520" y="4480560"/>
            <a:ext cx="5486400" cy="274320"/>
          </a:xfrm>
          <a:prstGeom prst="rect">
            <a:avLst/>
          </a:prstGeom>
          <a:noFill/>
          <a:ln/>
        </p:spPr>
        <p:txBody>
          <a:bodyPr wrap="square" lIns="0" tIns="0" rIns="0" bIns="0" rtlCol="0" anchor="ctr"/>
          <a:lstStyle/>
          <a:p>
            <a:pPr marL="0" indent="0">
              <a:buNone/>
            </a:pPr>
            <a:r>
              <a:rPr lang="en-US" sz="1200" b="1" dirty="0">
                <a:solidFill>
                  <a:srgbClr val="12A594"/>
                </a:solidFill>
                <a:latin typeface="Calibri" pitchFamily="34" charset="0"/>
                <a:ea typeface="Calibri" pitchFamily="34" charset="-122"/>
                <a:cs typeface="Calibri" pitchFamily="34" charset="-120"/>
              </a:rPr>
              <a:t>From signal to distributed processing</a:t>
            </a:r>
            <a:endParaRPr lang="en-US" sz="1200" dirty="0"/>
          </a:p>
        </p:txBody>
      </p:sp>
      <p:sp>
        <p:nvSpPr>
          <p:cNvPr id="18" name="Shape 16"/>
          <p:cNvSpPr/>
          <p:nvPr/>
        </p:nvSpPr>
        <p:spPr>
          <a:xfrm>
            <a:off x="822960" y="5074920"/>
            <a:ext cx="2423160" cy="685800"/>
          </a:xfrm>
          <a:prstGeom prst="roundRect">
            <a:avLst>
              <a:gd name="adj" fmla="val 9333"/>
            </a:avLst>
          </a:prstGeom>
          <a:solidFill>
            <a:srgbClr val="16324A"/>
          </a:solidFill>
          <a:ln w="15875">
            <a:solidFill>
              <a:srgbClr val="234B63"/>
            </a:solidFill>
            <a:prstDash val="solid"/>
          </a:ln>
        </p:spPr>
        <p:txBody>
          <a:bodyPr/>
          <a:lstStyle/>
          <a:p>
            <a:endParaRPr lang="en-US"/>
          </a:p>
        </p:txBody>
      </p:sp>
      <p:sp>
        <p:nvSpPr>
          <p:cNvPr id="19" name="Text 17"/>
          <p:cNvSpPr txBox="1"/>
          <p:nvPr/>
        </p:nvSpPr>
        <p:spPr>
          <a:xfrm>
            <a:off x="868680" y="5074920"/>
            <a:ext cx="2331720" cy="68580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AIS Signals</a:t>
            </a:r>
            <a:endParaRPr lang="en-US" sz="1150" dirty="0"/>
          </a:p>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(1 vessel)</a:t>
            </a:r>
            <a:endParaRPr lang="en-US" sz="1150" dirty="0"/>
          </a:p>
        </p:txBody>
      </p:sp>
      <p:sp>
        <p:nvSpPr>
          <p:cNvPr id="20" name="Shape 18"/>
          <p:cNvSpPr/>
          <p:nvPr/>
        </p:nvSpPr>
        <p:spPr>
          <a:xfrm>
            <a:off x="3264408" y="5417820"/>
            <a:ext cx="219456" cy="0"/>
          </a:xfrm>
          <a:prstGeom prst="line">
            <a:avLst/>
          </a:prstGeom>
          <a:noFill/>
          <a:ln w="25400">
            <a:solidFill>
              <a:srgbClr val="6E8A9E"/>
            </a:solidFill>
            <a:prstDash val="solid"/>
            <a:tailEnd type="triangle"/>
          </a:ln>
        </p:spPr>
        <p:txBody>
          <a:bodyPr/>
          <a:lstStyle/>
          <a:p>
            <a:endParaRPr lang="en-US"/>
          </a:p>
        </p:txBody>
      </p:sp>
      <p:sp>
        <p:nvSpPr>
          <p:cNvPr id="21" name="Shape 19"/>
          <p:cNvSpPr/>
          <p:nvPr/>
        </p:nvSpPr>
        <p:spPr>
          <a:xfrm>
            <a:off x="3502152" y="5074920"/>
            <a:ext cx="2423160" cy="685800"/>
          </a:xfrm>
          <a:prstGeom prst="roundRect">
            <a:avLst>
              <a:gd name="adj" fmla="val 9333"/>
            </a:avLst>
          </a:prstGeom>
          <a:solidFill>
            <a:srgbClr val="16324A"/>
          </a:solidFill>
          <a:ln w="15875">
            <a:solidFill>
              <a:srgbClr val="234B63"/>
            </a:solidFill>
            <a:prstDash val="solid"/>
          </a:ln>
        </p:spPr>
        <p:txBody>
          <a:bodyPr/>
          <a:lstStyle/>
          <a:p>
            <a:endParaRPr lang="en-US"/>
          </a:p>
        </p:txBody>
      </p:sp>
      <p:sp>
        <p:nvSpPr>
          <p:cNvPr id="22" name="Text 20"/>
          <p:cNvSpPr txBox="1"/>
          <p:nvPr/>
        </p:nvSpPr>
        <p:spPr>
          <a:xfrm>
            <a:off x="3547872" y="5074920"/>
            <a:ext cx="2331720" cy="68580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Terrestrial +</a:t>
            </a:r>
            <a:endParaRPr lang="en-US" sz="1150" dirty="0"/>
          </a:p>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Satellite Receivers</a:t>
            </a:r>
            <a:endParaRPr lang="en-US" sz="1150" dirty="0"/>
          </a:p>
        </p:txBody>
      </p:sp>
      <p:sp>
        <p:nvSpPr>
          <p:cNvPr id="23" name="Shape 21"/>
          <p:cNvSpPr/>
          <p:nvPr/>
        </p:nvSpPr>
        <p:spPr>
          <a:xfrm>
            <a:off x="5943600" y="5417820"/>
            <a:ext cx="219456" cy="0"/>
          </a:xfrm>
          <a:prstGeom prst="line">
            <a:avLst/>
          </a:prstGeom>
          <a:noFill/>
          <a:ln w="25400">
            <a:solidFill>
              <a:srgbClr val="6E8A9E"/>
            </a:solidFill>
            <a:prstDash val="solid"/>
            <a:tailEnd type="triangle"/>
          </a:ln>
        </p:spPr>
        <p:txBody>
          <a:bodyPr/>
          <a:lstStyle/>
          <a:p>
            <a:endParaRPr lang="en-US"/>
          </a:p>
        </p:txBody>
      </p:sp>
      <p:sp>
        <p:nvSpPr>
          <p:cNvPr id="24" name="Shape 22"/>
          <p:cNvSpPr/>
          <p:nvPr/>
        </p:nvSpPr>
        <p:spPr>
          <a:xfrm>
            <a:off x="6181344" y="5074920"/>
            <a:ext cx="2423160" cy="685800"/>
          </a:xfrm>
          <a:prstGeom prst="roundRect">
            <a:avLst>
              <a:gd name="adj" fmla="val 9333"/>
            </a:avLst>
          </a:prstGeom>
          <a:solidFill>
            <a:srgbClr val="16324A"/>
          </a:solidFill>
          <a:ln w="15875">
            <a:solidFill>
              <a:srgbClr val="234B63"/>
            </a:solidFill>
            <a:prstDash val="solid"/>
          </a:ln>
        </p:spPr>
        <p:txBody>
          <a:bodyPr/>
          <a:lstStyle/>
          <a:p>
            <a:endParaRPr lang="en-US"/>
          </a:p>
        </p:txBody>
      </p:sp>
      <p:sp>
        <p:nvSpPr>
          <p:cNvPr id="25" name="Text 23"/>
          <p:cNvSpPr txBox="1"/>
          <p:nvPr/>
        </p:nvSpPr>
        <p:spPr>
          <a:xfrm>
            <a:off x="6227064" y="5074920"/>
            <a:ext cx="2331720" cy="68580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1,000s–1,000,000s</a:t>
            </a:r>
            <a:endParaRPr lang="en-US" sz="1150" dirty="0"/>
          </a:p>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of events / day</a:t>
            </a:r>
            <a:endParaRPr lang="en-US" sz="1150" dirty="0"/>
          </a:p>
        </p:txBody>
      </p:sp>
      <p:sp>
        <p:nvSpPr>
          <p:cNvPr id="26" name="Shape 24"/>
          <p:cNvSpPr/>
          <p:nvPr/>
        </p:nvSpPr>
        <p:spPr>
          <a:xfrm>
            <a:off x="8622792" y="5417820"/>
            <a:ext cx="219456" cy="0"/>
          </a:xfrm>
          <a:prstGeom prst="line">
            <a:avLst/>
          </a:prstGeom>
          <a:noFill/>
          <a:ln w="25400">
            <a:solidFill>
              <a:srgbClr val="6E8A9E"/>
            </a:solidFill>
            <a:prstDash val="solid"/>
            <a:tailEnd type="triangle"/>
          </a:ln>
        </p:spPr>
        <p:txBody>
          <a:bodyPr/>
          <a:lstStyle/>
          <a:p>
            <a:endParaRPr lang="en-US"/>
          </a:p>
        </p:txBody>
      </p:sp>
      <p:sp>
        <p:nvSpPr>
          <p:cNvPr id="27" name="Shape 25"/>
          <p:cNvSpPr/>
          <p:nvPr/>
        </p:nvSpPr>
        <p:spPr>
          <a:xfrm>
            <a:off x="8860536" y="5074920"/>
            <a:ext cx="2423160" cy="685800"/>
          </a:xfrm>
          <a:prstGeom prst="roundRect">
            <a:avLst>
              <a:gd name="adj" fmla="val 9333"/>
            </a:avLst>
          </a:prstGeom>
          <a:solidFill>
            <a:srgbClr val="16324A"/>
          </a:solidFill>
          <a:ln w="15875">
            <a:solidFill>
              <a:srgbClr val="F2A93B"/>
            </a:solidFill>
            <a:prstDash val="solid"/>
          </a:ln>
        </p:spPr>
        <p:txBody>
          <a:bodyPr/>
          <a:lstStyle/>
          <a:p>
            <a:endParaRPr lang="en-US"/>
          </a:p>
        </p:txBody>
      </p:sp>
      <p:sp>
        <p:nvSpPr>
          <p:cNvPr id="28" name="Text 26"/>
          <p:cNvSpPr txBox="1"/>
          <p:nvPr/>
        </p:nvSpPr>
        <p:spPr>
          <a:xfrm>
            <a:off x="8906256" y="5074920"/>
            <a:ext cx="2331720" cy="68580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Distributed Processing</a:t>
            </a:r>
            <a:endParaRPr lang="en-US" sz="1150" dirty="0"/>
          </a:p>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(Kafka + Spark)</a:t>
            </a:r>
            <a:endParaRPr lang="en-US" sz="1150" dirty="0"/>
          </a:p>
        </p:txBody>
      </p:sp>
      <p:sp>
        <p:nvSpPr>
          <p:cNvPr id="29" name="Text 27"/>
          <p:cNvSpPr txBox="1"/>
          <p:nvPr/>
        </p:nvSpPr>
        <p:spPr>
          <a:xfrm>
            <a:off x="502920" y="6400800"/>
            <a:ext cx="7315200" cy="274320"/>
          </a:xfrm>
          <a:prstGeom prst="rect">
            <a:avLst/>
          </a:prstGeom>
          <a:noFill/>
          <a:ln/>
        </p:spPr>
        <p:txBody>
          <a:bodyPr wrap="square" lIns="0" tIns="0" rIns="0" bIns="0" rtlCol="0" anchor="ctr"/>
          <a:lstStyle/>
          <a:p>
            <a:pPr marL="0" indent="0">
              <a:buNone/>
            </a:pPr>
            <a:r>
              <a:rPr lang="en-US" sz="1000" dirty="0">
                <a:solidFill>
                  <a:srgbClr val="6E8A9E"/>
                </a:solidFill>
                <a:latin typeface="Calibri" pitchFamily="34" charset="0"/>
                <a:ea typeface="Calibri" pitchFamily="34" charset="-122"/>
                <a:cs typeface="Calibri" pitchFamily="34" charset="-120"/>
              </a:rPr>
              <a:t>Sub-5-second end-to-end latency requirement rules out pure batch processing for the operational path</a:t>
            </a:r>
            <a:endParaRPr lang="en-US" sz="1000" dirty="0"/>
          </a:p>
        </p:txBody>
      </p:sp>
      <p:sp>
        <p:nvSpPr>
          <p:cNvPr id="30" name="Text 28"/>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Four Core Operational Objectives</a:t>
            </a:r>
            <a:endParaRPr lang="en-US" sz="3000" dirty="0"/>
          </a:p>
        </p:txBody>
      </p:sp>
      <p:sp>
        <p:nvSpPr>
          <p:cNvPr id="4" name="Shape 2"/>
          <p:cNvSpPr/>
          <p:nvPr/>
        </p:nvSpPr>
        <p:spPr>
          <a:xfrm>
            <a:off x="502920" y="1691640"/>
            <a:ext cx="2624328" cy="3931920"/>
          </a:xfrm>
          <a:prstGeom prst="roundRect">
            <a:avLst>
              <a:gd name="adj" fmla="val 2787"/>
            </a:avLst>
          </a:prstGeom>
          <a:solidFill>
            <a:srgbClr val="132C40"/>
          </a:solidFill>
          <a:ln w="12700">
            <a:solidFill>
              <a:srgbClr val="10263B"/>
            </a:solidFill>
            <a:prstDash val="solid"/>
          </a:ln>
        </p:spPr>
        <p:txBody>
          <a:bodyPr/>
          <a:lstStyle/>
          <a:p>
            <a:endParaRPr lang="en-US"/>
          </a:p>
        </p:txBody>
      </p:sp>
      <p:sp>
        <p:nvSpPr>
          <p:cNvPr id="5" name="Shape 3"/>
          <p:cNvSpPr/>
          <p:nvPr/>
        </p:nvSpPr>
        <p:spPr>
          <a:xfrm>
            <a:off x="704088" y="1920240"/>
            <a:ext cx="457200" cy="457200"/>
          </a:xfrm>
          <a:prstGeom prst="roundRect">
            <a:avLst>
              <a:gd name="adj" fmla="val 50000"/>
            </a:avLst>
          </a:prstGeom>
          <a:solidFill>
            <a:srgbClr val="12A594"/>
          </a:solidFill>
          <a:ln/>
        </p:spPr>
        <p:txBody>
          <a:bodyPr/>
          <a:lstStyle/>
          <a:p>
            <a:endParaRPr lang="en-US"/>
          </a:p>
        </p:txBody>
      </p:sp>
      <p:sp>
        <p:nvSpPr>
          <p:cNvPr id="6" name="Text 4"/>
          <p:cNvSpPr txBox="1"/>
          <p:nvPr/>
        </p:nvSpPr>
        <p:spPr>
          <a:xfrm>
            <a:off x="704088" y="1920240"/>
            <a:ext cx="457200" cy="457200"/>
          </a:xfrm>
          <a:prstGeom prst="rect">
            <a:avLst/>
          </a:prstGeom>
          <a:noFill/>
          <a:ln/>
        </p:spPr>
        <p:txBody>
          <a:bodyPr wrap="square" lIns="0" tIns="0" rIns="0" bIns="0" rtlCol="0" anchor="ctr"/>
          <a:lstStyle/>
          <a:p>
            <a:pPr marL="0" indent="0" algn="ctr">
              <a:buNone/>
            </a:pPr>
            <a:r>
              <a:rPr lang="en-US" sz="1800" b="1" dirty="0">
                <a:solidFill>
                  <a:srgbClr val="0A1826"/>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685800" y="2514600"/>
            <a:ext cx="2258568" cy="777240"/>
          </a:xfrm>
          <a:prstGeom prst="rect">
            <a:avLst/>
          </a:prstGeom>
          <a:noFill/>
          <a:ln/>
        </p:spPr>
        <p:txBody>
          <a:bodyPr wrap="square" lIns="0" tIns="0" rIns="0" bIns="0" rtlCol="0" anchor="t"/>
          <a:lstStyle/>
          <a:p>
            <a:pPr marL="0" indent="0">
              <a:buNone/>
            </a:pPr>
            <a:r>
              <a:rPr lang="en-US" sz="1450" b="1" dirty="0">
                <a:solidFill>
                  <a:srgbClr val="F3F7FA"/>
                </a:solidFill>
                <a:latin typeface="Calibri" pitchFamily="34" charset="0"/>
                <a:ea typeface="Calibri" pitchFamily="34" charset="-122"/>
                <a:cs typeface="Calibri" pitchFamily="34" charset="-120"/>
              </a:rPr>
              <a:t>Real-Time Fleet Tracking</a:t>
            </a:r>
            <a:endParaRPr lang="en-US" sz="1450" dirty="0"/>
          </a:p>
        </p:txBody>
      </p:sp>
      <p:sp>
        <p:nvSpPr>
          <p:cNvPr id="8" name="Text 6"/>
          <p:cNvSpPr txBox="1"/>
          <p:nvPr/>
        </p:nvSpPr>
        <p:spPr>
          <a:xfrm>
            <a:off x="685800" y="3337560"/>
            <a:ext cx="2258568" cy="1600200"/>
          </a:xfrm>
          <a:prstGeom prst="rect">
            <a:avLst/>
          </a:prstGeom>
          <a:noFill/>
          <a:ln/>
        </p:spPr>
        <p:txBody>
          <a:bodyPr wrap="square" lIns="0" tIns="0" rIns="0" bIns="0" rtlCol="0" anchor="t"/>
          <a:lstStyle/>
          <a:p>
            <a:pPr marL="0" indent="0">
              <a:buNone/>
            </a:pPr>
            <a:r>
              <a:rPr lang="en-US" sz="1150" dirty="0">
                <a:solidFill>
                  <a:srgbClr val="93ABBE"/>
                </a:solidFill>
                <a:latin typeface="Calibri" pitchFamily="34" charset="0"/>
                <a:ea typeface="Calibri" pitchFamily="34" charset="-122"/>
                <a:cs typeface="Calibri" pitchFamily="34" charset="-120"/>
              </a:rPr>
              <a:t>Continuously upserted current position for every active vessel, sub-second query latency</a:t>
            </a:r>
            <a:endParaRPr lang="en-US" sz="1150" dirty="0"/>
          </a:p>
        </p:txBody>
      </p:sp>
      <p:sp>
        <p:nvSpPr>
          <p:cNvPr id="9" name="Shape 7"/>
          <p:cNvSpPr/>
          <p:nvPr/>
        </p:nvSpPr>
        <p:spPr>
          <a:xfrm>
            <a:off x="685800" y="5029200"/>
            <a:ext cx="2258568" cy="0"/>
          </a:xfrm>
          <a:prstGeom prst="line">
            <a:avLst/>
          </a:prstGeom>
          <a:noFill/>
          <a:ln w="12700">
            <a:solidFill>
              <a:srgbClr val="234B63"/>
            </a:solidFill>
            <a:prstDash val="solid"/>
          </a:ln>
        </p:spPr>
        <p:txBody>
          <a:bodyPr/>
          <a:lstStyle/>
          <a:p>
            <a:endParaRPr lang="en-US"/>
          </a:p>
        </p:txBody>
      </p:sp>
      <p:sp>
        <p:nvSpPr>
          <p:cNvPr id="10" name="Text 8"/>
          <p:cNvSpPr txBox="1"/>
          <p:nvPr/>
        </p:nvSpPr>
        <p:spPr>
          <a:xfrm>
            <a:off x="685800" y="5120640"/>
            <a:ext cx="2258568" cy="411480"/>
          </a:xfrm>
          <a:prstGeom prst="rect">
            <a:avLst/>
          </a:prstGeom>
          <a:noFill/>
          <a:ln/>
        </p:spPr>
        <p:txBody>
          <a:bodyPr wrap="square" lIns="0" tIns="0" rIns="0" bIns="0" rtlCol="0" anchor="ctr"/>
          <a:lstStyle/>
          <a:p>
            <a:pPr marL="0" indent="0">
              <a:buNone/>
            </a:pPr>
            <a:r>
              <a:rPr lang="en-US" sz="1100" i="1" dirty="0">
                <a:solidFill>
                  <a:srgbClr val="12A594"/>
                </a:solidFill>
                <a:latin typeface="Calibri" pitchFamily="34" charset="0"/>
                <a:ea typeface="Calibri" pitchFamily="34" charset="-122"/>
                <a:cs typeface="Calibri" pitchFamily="34" charset="-120"/>
              </a:rPr>
              <a:t>→ active_fleet_state</a:t>
            </a:r>
            <a:endParaRPr lang="en-US" sz="1100" dirty="0"/>
          </a:p>
        </p:txBody>
      </p:sp>
      <p:sp>
        <p:nvSpPr>
          <p:cNvPr id="11" name="Shape 9"/>
          <p:cNvSpPr/>
          <p:nvPr/>
        </p:nvSpPr>
        <p:spPr>
          <a:xfrm>
            <a:off x="3273552" y="1691640"/>
            <a:ext cx="2624328" cy="3931920"/>
          </a:xfrm>
          <a:prstGeom prst="roundRect">
            <a:avLst>
              <a:gd name="adj" fmla="val 2787"/>
            </a:avLst>
          </a:prstGeom>
          <a:solidFill>
            <a:srgbClr val="132C40"/>
          </a:solidFill>
          <a:ln w="12700">
            <a:solidFill>
              <a:srgbClr val="10263B"/>
            </a:solidFill>
            <a:prstDash val="solid"/>
          </a:ln>
        </p:spPr>
        <p:txBody>
          <a:bodyPr/>
          <a:lstStyle/>
          <a:p>
            <a:endParaRPr lang="en-US"/>
          </a:p>
        </p:txBody>
      </p:sp>
      <p:sp>
        <p:nvSpPr>
          <p:cNvPr id="12" name="Shape 10"/>
          <p:cNvSpPr/>
          <p:nvPr/>
        </p:nvSpPr>
        <p:spPr>
          <a:xfrm>
            <a:off x="3474720" y="1920240"/>
            <a:ext cx="457200" cy="457200"/>
          </a:xfrm>
          <a:prstGeom prst="roundRect">
            <a:avLst>
              <a:gd name="adj" fmla="val 50000"/>
            </a:avLst>
          </a:prstGeom>
          <a:solidFill>
            <a:srgbClr val="5FB8D9"/>
          </a:solidFill>
          <a:ln/>
        </p:spPr>
        <p:txBody>
          <a:bodyPr/>
          <a:lstStyle/>
          <a:p>
            <a:endParaRPr lang="en-US"/>
          </a:p>
        </p:txBody>
      </p:sp>
      <p:sp>
        <p:nvSpPr>
          <p:cNvPr id="13" name="Text 11"/>
          <p:cNvSpPr txBox="1"/>
          <p:nvPr/>
        </p:nvSpPr>
        <p:spPr>
          <a:xfrm>
            <a:off x="3474720" y="1920240"/>
            <a:ext cx="457200" cy="457200"/>
          </a:xfrm>
          <a:prstGeom prst="rect">
            <a:avLst/>
          </a:prstGeom>
          <a:noFill/>
          <a:ln/>
        </p:spPr>
        <p:txBody>
          <a:bodyPr wrap="square" lIns="0" tIns="0" rIns="0" bIns="0" rtlCol="0" anchor="ctr"/>
          <a:lstStyle/>
          <a:p>
            <a:pPr marL="0" indent="0" algn="ctr">
              <a:buNone/>
            </a:pPr>
            <a:r>
              <a:rPr lang="en-US" sz="1800" b="1" dirty="0">
                <a:solidFill>
                  <a:srgbClr val="0A1826"/>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3456432" y="2514600"/>
            <a:ext cx="2258568" cy="777240"/>
          </a:xfrm>
          <a:prstGeom prst="rect">
            <a:avLst/>
          </a:prstGeom>
          <a:noFill/>
          <a:ln/>
        </p:spPr>
        <p:txBody>
          <a:bodyPr wrap="square" lIns="0" tIns="0" rIns="0" bIns="0" rtlCol="0" anchor="t"/>
          <a:lstStyle/>
          <a:p>
            <a:pPr marL="0" indent="0">
              <a:buNone/>
            </a:pPr>
            <a:r>
              <a:rPr lang="en-US" sz="1450" b="1" dirty="0">
                <a:solidFill>
                  <a:srgbClr val="F3F7FA"/>
                </a:solidFill>
                <a:latin typeface="Calibri" pitchFamily="34" charset="0"/>
                <a:ea typeface="Calibri" pitchFamily="34" charset="-122"/>
                <a:cs typeface="Calibri" pitchFamily="34" charset="-120"/>
              </a:rPr>
              <a:t>Geofenced Port Dwell</a:t>
            </a:r>
            <a:endParaRPr lang="en-US" sz="1450" dirty="0"/>
          </a:p>
        </p:txBody>
      </p:sp>
      <p:sp>
        <p:nvSpPr>
          <p:cNvPr id="15" name="Text 13"/>
          <p:cNvSpPr txBox="1"/>
          <p:nvPr/>
        </p:nvSpPr>
        <p:spPr>
          <a:xfrm>
            <a:off x="3456432" y="3337560"/>
            <a:ext cx="2258568" cy="1600200"/>
          </a:xfrm>
          <a:prstGeom prst="rect">
            <a:avLst/>
          </a:prstGeom>
          <a:noFill/>
          <a:ln/>
        </p:spPr>
        <p:txBody>
          <a:bodyPr wrap="square" lIns="0" tIns="0" rIns="0" bIns="0" rtlCol="0" anchor="t"/>
          <a:lstStyle/>
          <a:p>
            <a:pPr marL="0" indent="0">
              <a:buNone/>
            </a:pPr>
            <a:r>
              <a:rPr lang="en-US" sz="1150" dirty="0">
                <a:solidFill>
                  <a:srgbClr val="93ABBE"/>
                </a:solidFill>
                <a:latin typeface="Calibri" pitchFamily="34" charset="0"/>
                <a:ea typeface="Calibri" pitchFamily="34" charset="-122"/>
                <a:cs typeface="Calibri" pitchFamily="34" charset="-120"/>
              </a:rPr>
              <a:t>Detect port entry/exit against polygon geofences, compute dwell duration per call</a:t>
            </a:r>
            <a:endParaRPr lang="en-US" sz="1150" dirty="0"/>
          </a:p>
        </p:txBody>
      </p:sp>
      <p:sp>
        <p:nvSpPr>
          <p:cNvPr id="16" name="Shape 14"/>
          <p:cNvSpPr/>
          <p:nvPr/>
        </p:nvSpPr>
        <p:spPr>
          <a:xfrm>
            <a:off x="3456432" y="5029200"/>
            <a:ext cx="2258568" cy="0"/>
          </a:xfrm>
          <a:prstGeom prst="line">
            <a:avLst/>
          </a:prstGeom>
          <a:noFill/>
          <a:ln w="12700">
            <a:solidFill>
              <a:srgbClr val="234B63"/>
            </a:solidFill>
            <a:prstDash val="solid"/>
          </a:ln>
        </p:spPr>
        <p:txBody>
          <a:bodyPr/>
          <a:lstStyle/>
          <a:p>
            <a:endParaRPr lang="en-US"/>
          </a:p>
        </p:txBody>
      </p:sp>
      <p:sp>
        <p:nvSpPr>
          <p:cNvPr id="17" name="Text 15"/>
          <p:cNvSpPr txBox="1"/>
          <p:nvPr/>
        </p:nvSpPr>
        <p:spPr>
          <a:xfrm>
            <a:off x="3456432" y="5120640"/>
            <a:ext cx="2258568" cy="411480"/>
          </a:xfrm>
          <a:prstGeom prst="rect">
            <a:avLst/>
          </a:prstGeom>
          <a:noFill/>
          <a:ln/>
        </p:spPr>
        <p:txBody>
          <a:bodyPr wrap="square" lIns="0" tIns="0" rIns="0" bIns="0" rtlCol="0" anchor="ctr"/>
          <a:lstStyle/>
          <a:p>
            <a:pPr marL="0" indent="0">
              <a:buNone/>
            </a:pPr>
            <a:r>
              <a:rPr lang="en-US" sz="1100" i="1" dirty="0">
                <a:solidFill>
                  <a:srgbClr val="5FB8D9"/>
                </a:solidFill>
                <a:latin typeface="Calibri" pitchFamily="34" charset="0"/>
                <a:ea typeface="Calibri" pitchFamily="34" charset="-122"/>
                <a:cs typeface="Calibri" pitchFamily="34" charset="-120"/>
              </a:rPr>
              <a:t>→ port_dwell_times</a:t>
            </a:r>
            <a:endParaRPr lang="en-US" sz="1100" dirty="0"/>
          </a:p>
        </p:txBody>
      </p:sp>
      <p:sp>
        <p:nvSpPr>
          <p:cNvPr id="18" name="Shape 16"/>
          <p:cNvSpPr/>
          <p:nvPr/>
        </p:nvSpPr>
        <p:spPr>
          <a:xfrm>
            <a:off x="6044184" y="1691640"/>
            <a:ext cx="2624328" cy="3931920"/>
          </a:xfrm>
          <a:prstGeom prst="roundRect">
            <a:avLst>
              <a:gd name="adj" fmla="val 2787"/>
            </a:avLst>
          </a:prstGeom>
          <a:solidFill>
            <a:srgbClr val="132C40"/>
          </a:solidFill>
          <a:ln w="12700">
            <a:solidFill>
              <a:srgbClr val="10263B"/>
            </a:solidFill>
            <a:prstDash val="solid"/>
          </a:ln>
        </p:spPr>
        <p:txBody>
          <a:bodyPr/>
          <a:lstStyle/>
          <a:p>
            <a:endParaRPr lang="en-US"/>
          </a:p>
        </p:txBody>
      </p:sp>
      <p:sp>
        <p:nvSpPr>
          <p:cNvPr id="19" name="Shape 17"/>
          <p:cNvSpPr/>
          <p:nvPr/>
        </p:nvSpPr>
        <p:spPr>
          <a:xfrm>
            <a:off x="6245352" y="1920240"/>
            <a:ext cx="457200" cy="457200"/>
          </a:xfrm>
          <a:prstGeom prst="roundRect">
            <a:avLst>
              <a:gd name="adj" fmla="val 50000"/>
            </a:avLst>
          </a:prstGeom>
          <a:solidFill>
            <a:srgbClr val="F2A93B"/>
          </a:solidFill>
          <a:ln/>
        </p:spPr>
        <p:txBody>
          <a:bodyPr/>
          <a:lstStyle/>
          <a:p>
            <a:endParaRPr lang="en-US"/>
          </a:p>
        </p:txBody>
      </p:sp>
      <p:sp>
        <p:nvSpPr>
          <p:cNvPr id="20" name="Text 18"/>
          <p:cNvSpPr txBox="1"/>
          <p:nvPr/>
        </p:nvSpPr>
        <p:spPr>
          <a:xfrm>
            <a:off x="6245352" y="1920240"/>
            <a:ext cx="457200" cy="457200"/>
          </a:xfrm>
          <a:prstGeom prst="rect">
            <a:avLst/>
          </a:prstGeom>
          <a:noFill/>
          <a:ln/>
        </p:spPr>
        <p:txBody>
          <a:bodyPr wrap="square" lIns="0" tIns="0" rIns="0" bIns="0" rtlCol="0" anchor="ctr"/>
          <a:lstStyle/>
          <a:p>
            <a:pPr marL="0" indent="0" algn="ctr">
              <a:buNone/>
            </a:pPr>
            <a:r>
              <a:rPr lang="en-US" sz="1800" b="1" dirty="0">
                <a:solidFill>
                  <a:srgbClr val="0A1826"/>
                </a:solidFill>
                <a:latin typeface="Calibri" pitchFamily="34" charset="0"/>
                <a:ea typeface="Calibri" pitchFamily="34" charset="-122"/>
                <a:cs typeface="Calibri" pitchFamily="34" charset="-120"/>
              </a:rPr>
              <a:t>3</a:t>
            </a:r>
            <a:endParaRPr lang="en-US" sz="1800" dirty="0"/>
          </a:p>
        </p:txBody>
      </p:sp>
      <p:sp>
        <p:nvSpPr>
          <p:cNvPr id="21" name="Text 19"/>
          <p:cNvSpPr txBox="1"/>
          <p:nvPr/>
        </p:nvSpPr>
        <p:spPr>
          <a:xfrm>
            <a:off x="6227064" y="2514600"/>
            <a:ext cx="2258568" cy="777240"/>
          </a:xfrm>
          <a:prstGeom prst="rect">
            <a:avLst/>
          </a:prstGeom>
          <a:noFill/>
          <a:ln/>
        </p:spPr>
        <p:txBody>
          <a:bodyPr wrap="square" lIns="0" tIns="0" rIns="0" bIns="0" rtlCol="0" anchor="t"/>
          <a:lstStyle/>
          <a:p>
            <a:pPr marL="0" indent="0">
              <a:buNone/>
            </a:pPr>
            <a:r>
              <a:rPr lang="en-US" sz="1450" b="1" dirty="0">
                <a:solidFill>
                  <a:srgbClr val="F3F7FA"/>
                </a:solidFill>
                <a:latin typeface="Calibri" pitchFamily="34" charset="0"/>
                <a:ea typeface="Calibri" pitchFamily="34" charset="-122"/>
                <a:cs typeface="Calibri" pitchFamily="34" charset="-120"/>
              </a:rPr>
              <a:t>Speeding Anomaly Detection</a:t>
            </a:r>
            <a:endParaRPr lang="en-US" sz="1450" dirty="0"/>
          </a:p>
        </p:txBody>
      </p:sp>
      <p:sp>
        <p:nvSpPr>
          <p:cNvPr id="22" name="Text 20"/>
          <p:cNvSpPr txBox="1"/>
          <p:nvPr/>
        </p:nvSpPr>
        <p:spPr>
          <a:xfrm>
            <a:off x="6227064" y="3337560"/>
            <a:ext cx="2258568" cy="1600200"/>
          </a:xfrm>
          <a:prstGeom prst="rect">
            <a:avLst/>
          </a:prstGeom>
          <a:noFill/>
          <a:ln/>
        </p:spPr>
        <p:txBody>
          <a:bodyPr wrap="square" lIns="0" tIns="0" rIns="0" bIns="0" rtlCol="0" anchor="t"/>
          <a:lstStyle/>
          <a:p>
            <a:pPr marL="0" indent="0">
              <a:buNone/>
            </a:pPr>
            <a:r>
              <a:rPr lang="en-US" sz="1150" dirty="0">
                <a:solidFill>
                  <a:srgbClr val="93ABBE"/>
                </a:solidFill>
                <a:latin typeface="Calibri" pitchFamily="34" charset="0"/>
                <a:ea typeface="Calibri" pitchFamily="34" charset="-122"/>
                <a:cs typeface="Calibri" pitchFamily="34" charset="-120"/>
              </a:rPr>
              <a:t>Real-time threshold alerting when SOG exceeds a navigable-zone limit</a:t>
            </a:r>
            <a:endParaRPr lang="en-US" sz="1150" dirty="0"/>
          </a:p>
        </p:txBody>
      </p:sp>
      <p:sp>
        <p:nvSpPr>
          <p:cNvPr id="23" name="Shape 21"/>
          <p:cNvSpPr/>
          <p:nvPr/>
        </p:nvSpPr>
        <p:spPr>
          <a:xfrm>
            <a:off x="6227064" y="5029200"/>
            <a:ext cx="2258568" cy="0"/>
          </a:xfrm>
          <a:prstGeom prst="line">
            <a:avLst/>
          </a:prstGeom>
          <a:noFill/>
          <a:ln w="12700">
            <a:solidFill>
              <a:srgbClr val="234B63"/>
            </a:solidFill>
            <a:prstDash val="solid"/>
          </a:ln>
        </p:spPr>
        <p:txBody>
          <a:bodyPr/>
          <a:lstStyle/>
          <a:p>
            <a:endParaRPr lang="en-US"/>
          </a:p>
        </p:txBody>
      </p:sp>
      <p:sp>
        <p:nvSpPr>
          <p:cNvPr id="24" name="Text 22"/>
          <p:cNvSpPr txBox="1"/>
          <p:nvPr/>
        </p:nvSpPr>
        <p:spPr>
          <a:xfrm>
            <a:off x="6227064" y="5120640"/>
            <a:ext cx="2258568" cy="411480"/>
          </a:xfrm>
          <a:prstGeom prst="rect">
            <a:avLst/>
          </a:prstGeom>
          <a:noFill/>
          <a:ln/>
        </p:spPr>
        <p:txBody>
          <a:bodyPr wrap="square" lIns="0" tIns="0" rIns="0" bIns="0" rtlCol="0" anchor="ctr"/>
          <a:lstStyle/>
          <a:p>
            <a:pPr marL="0" indent="0">
              <a:buNone/>
            </a:pPr>
            <a:r>
              <a:rPr lang="en-US" sz="1100" i="1" dirty="0">
                <a:solidFill>
                  <a:srgbClr val="F2A93B"/>
                </a:solidFill>
                <a:latin typeface="Calibri" pitchFamily="34" charset="0"/>
                <a:ea typeface="Calibri" pitchFamily="34" charset="-122"/>
                <a:cs typeface="Calibri" pitchFamily="34" charset="-120"/>
              </a:rPr>
              <a:t>→ vessel_speed_alerts</a:t>
            </a:r>
            <a:endParaRPr lang="en-US" sz="1100" dirty="0"/>
          </a:p>
        </p:txBody>
      </p:sp>
      <p:sp>
        <p:nvSpPr>
          <p:cNvPr id="25" name="Shape 23"/>
          <p:cNvSpPr/>
          <p:nvPr/>
        </p:nvSpPr>
        <p:spPr>
          <a:xfrm>
            <a:off x="8814816" y="1691640"/>
            <a:ext cx="2624328" cy="3931920"/>
          </a:xfrm>
          <a:prstGeom prst="roundRect">
            <a:avLst>
              <a:gd name="adj" fmla="val 2787"/>
            </a:avLst>
          </a:prstGeom>
          <a:solidFill>
            <a:srgbClr val="132C40"/>
          </a:solidFill>
          <a:ln w="12700">
            <a:solidFill>
              <a:srgbClr val="10263B"/>
            </a:solidFill>
            <a:prstDash val="solid"/>
          </a:ln>
        </p:spPr>
        <p:txBody>
          <a:bodyPr/>
          <a:lstStyle/>
          <a:p>
            <a:endParaRPr lang="en-US"/>
          </a:p>
        </p:txBody>
      </p:sp>
      <p:sp>
        <p:nvSpPr>
          <p:cNvPr id="26" name="Shape 24"/>
          <p:cNvSpPr/>
          <p:nvPr/>
        </p:nvSpPr>
        <p:spPr>
          <a:xfrm>
            <a:off x="9015984" y="1920240"/>
            <a:ext cx="457200" cy="457200"/>
          </a:xfrm>
          <a:prstGeom prst="roundRect">
            <a:avLst>
              <a:gd name="adj" fmla="val 50000"/>
            </a:avLst>
          </a:prstGeom>
          <a:solidFill>
            <a:srgbClr val="E85D4B"/>
          </a:solidFill>
          <a:ln/>
        </p:spPr>
        <p:txBody>
          <a:bodyPr/>
          <a:lstStyle/>
          <a:p>
            <a:endParaRPr lang="en-US"/>
          </a:p>
        </p:txBody>
      </p:sp>
      <p:sp>
        <p:nvSpPr>
          <p:cNvPr id="27" name="Text 25"/>
          <p:cNvSpPr txBox="1"/>
          <p:nvPr/>
        </p:nvSpPr>
        <p:spPr>
          <a:xfrm>
            <a:off x="9015984" y="1920240"/>
            <a:ext cx="457200" cy="457200"/>
          </a:xfrm>
          <a:prstGeom prst="rect">
            <a:avLst/>
          </a:prstGeom>
          <a:noFill/>
          <a:ln/>
        </p:spPr>
        <p:txBody>
          <a:bodyPr wrap="square" lIns="0" tIns="0" rIns="0" bIns="0" rtlCol="0" anchor="ctr"/>
          <a:lstStyle/>
          <a:p>
            <a:pPr marL="0" indent="0" algn="ctr">
              <a:buNone/>
            </a:pPr>
            <a:r>
              <a:rPr lang="en-US" sz="1800" b="1" dirty="0">
                <a:solidFill>
                  <a:srgbClr val="0A1826"/>
                </a:solidFill>
                <a:latin typeface="Calibri" pitchFamily="34" charset="0"/>
                <a:ea typeface="Calibri" pitchFamily="34" charset="-122"/>
                <a:cs typeface="Calibri" pitchFamily="34" charset="-120"/>
              </a:rPr>
              <a:t>4</a:t>
            </a:r>
            <a:endParaRPr lang="en-US" sz="1800" dirty="0"/>
          </a:p>
        </p:txBody>
      </p:sp>
      <p:sp>
        <p:nvSpPr>
          <p:cNvPr id="28" name="Text 26"/>
          <p:cNvSpPr txBox="1"/>
          <p:nvPr/>
        </p:nvSpPr>
        <p:spPr>
          <a:xfrm>
            <a:off x="8997696" y="2514600"/>
            <a:ext cx="2258568" cy="777240"/>
          </a:xfrm>
          <a:prstGeom prst="rect">
            <a:avLst/>
          </a:prstGeom>
          <a:noFill/>
          <a:ln/>
        </p:spPr>
        <p:txBody>
          <a:bodyPr wrap="square" lIns="0" tIns="0" rIns="0" bIns="0" rtlCol="0" anchor="t"/>
          <a:lstStyle/>
          <a:p>
            <a:pPr marL="0" indent="0">
              <a:buNone/>
            </a:pPr>
            <a:r>
              <a:rPr lang="en-US" sz="1450" b="1" dirty="0">
                <a:solidFill>
                  <a:srgbClr val="F3F7FA"/>
                </a:solidFill>
                <a:latin typeface="Calibri" pitchFamily="34" charset="0"/>
                <a:ea typeface="Calibri" pitchFamily="34" charset="-122"/>
                <a:cs typeface="Calibri" pitchFamily="34" charset="-120"/>
              </a:rPr>
              <a:t>Behavioral Clustering</a:t>
            </a:r>
            <a:endParaRPr lang="en-US" sz="1450" dirty="0"/>
          </a:p>
        </p:txBody>
      </p:sp>
      <p:sp>
        <p:nvSpPr>
          <p:cNvPr id="29" name="Text 27"/>
          <p:cNvSpPr txBox="1"/>
          <p:nvPr/>
        </p:nvSpPr>
        <p:spPr>
          <a:xfrm>
            <a:off x="8997696" y="3337560"/>
            <a:ext cx="2258568" cy="1600200"/>
          </a:xfrm>
          <a:prstGeom prst="rect">
            <a:avLst/>
          </a:prstGeom>
          <a:noFill/>
          <a:ln/>
        </p:spPr>
        <p:txBody>
          <a:bodyPr wrap="square" lIns="0" tIns="0" rIns="0" bIns="0" rtlCol="0" anchor="t"/>
          <a:lstStyle/>
          <a:p>
            <a:pPr marL="0" indent="0">
              <a:buNone/>
            </a:pPr>
            <a:r>
              <a:rPr lang="en-US" sz="1150" dirty="0">
                <a:solidFill>
                  <a:srgbClr val="93ABBE"/>
                </a:solidFill>
                <a:latin typeface="Calibri" pitchFamily="34" charset="0"/>
                <a:ea typeface="Calibri" pitchFamily="34" charset="-122"/>
                <a:cs typeface="Calibri" pitchFamily="34" charset="-120"/>
              </a:rPr>
              <a:t>Unsupervised K-Means over kinematic features to learn vessel behavior archetypes</a:t>
            </a:r>
            <a:endParaRPr lang="en-US" sz="1150" dirty="0"/>
          </a:p>
        </p:txBody>
      </p:sp>
      <p:sp>
        <p:nvSpPr>
          <p:cNvPr id="30" name="Shape 28"/>
          <p:cNvSpPr/>
          <p:nvPr/>
        </p:nvSpPr>
        <p:spPr>
          <a:xfrm>
            <a:off x="8997696" y="5029200"/>
            <a:ext cx="2258568" cy="0"/>
          </a:xfrm>
          <a:prstGeom prst="line">
            <a:avLst/>
          </a:prstGeom>
          <a:noFill/>
          <a:ln w="12700">
            <a:solidFill>
              <a:srgbClr val="234B63"/>
            </a:solidFill>
            <a:prstDash val="solid"/>
          </a:ln>
        </p:spPr>
        <p:txBody>
          <a:bodyPr/>
          <a:lstStyle/>
          <a:p>
            <a:endParaRPr lang="en-US"/>
          </a:p>
        </p:txBody>
      </p:sp>
      <p:sp>
        <p:nvSpPr>
          <p:cNvPr id="31" name="Text 29"/>
          <p:cNvSpPr txBox="1"/>
          <p:nvPr/>
        </p:nvSpPr>
        <p:spPr>
          <a:xfrm>
            <a:off x="8997696" y="5120640"/>
            <a:ext cx="2258568" cy="411480"/>
          </a:xfrm>
          <a:prstGeom prst="rect">
            <a:avLst/>
          </a:prstGeom>
          <a:noFill/>
          <a:ln/>
        </p:spPr>
        <p:txBody>
          <a:bodyPr wrap="square" lIns="0" tIns="0" rIns="0" bIns="0" rtlCol="0" anchor="ctr"/>
          <a:lstStyle/>
          <a:p>
            <a:pPr marL="0" indent="0">
              <a:buNone/>
            </a:pPr>
            <a:r>
              <a:rPr lang="en-US" sz="1100" i="1" dirty="0">
                <a:solidFill>
                  <a:srgbClr val="E85D4B"/>
                </a:solidFill>
                <a:latin typeface="Calibri" pitchFamily="34" charset="0"/>
                <a:ea typeface="Calibri" pitchFamily="34" charset="-122"/>
                <a:cs typeface="Calibri" pitchFamily="34" charset="-120"/>
              </a:rPr>
              <a:t>→ vessel_behavior_clusters</a:t>
            </a:r>
            <a:endParaRPr lang="en-US" sz="1100" dirty="0"/>
          </a:p>
        </p:txBody>
      </p:sp>
      <p:sp>
        <p:nvSpPr>
          <p:cNvPr id="32" name="Text 30"/>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2600" b="1" dirty="0">
                <a:solidFill>
                  <a:srgbClr val="F3F7FA"/>
                </a:solidFill>
                <a:latin typeface="Calibri" pitchFamily="34" charset="0"/>
                <a:ea typeface="Calibri" pitchFamily="34" charset="-122"/>
                <a:cs typeface="Calibri" pitchFamily="34" charset="-120"/>
              </a:rPr>
              <a:t>Complete System Architecture — Lambda Architecture</a:t>
            </a:r>
            <a:endParaRPr lang="en-US" sz="2600" dirty="0"/>
          </a:p>
        </p:txBody>
      </p:sp>
      <p:sp>
        <p:nvSpPr>
          <p:cNvPr id="4" name="Shape 2"/>
          <p:cNvSpPr/>
          <p:nvPr/>
        </p:nvSpPr>
        <p:spPr>
          <a:xfrm>
            <a:off x="502920" y="1371600"/>
            <a:ext cx="7863840" cy="420624"/>
          </a:xfrm>
          <a:prstGeom prst="roundRect">
            <a:avLst>
              <a:gd name="adj" fmla="val 15217"/>
            </a:avLst>
          </a:prstGeom>
          <a:solidFill>
            <a:srgbClr val="16324A"/>
          </a:solidFill>
          <a:ln w="15875">
            <a:solidFill>
              <a:srgbClr val="6E8A9E"/>
            </a:solidFill>
            <a:prstDash val="solid"/>
          </a:ln>
        </p:spPr>
        <p:txBody>
          <a:bodyPr/>
          <a:lstStyle/>
          <a:p>
            <a:endParaRPr lang="en-US"/>
          </a:p>
        </p:txBody>
      </p:sp>
      <p:sp>
        <p:nvSpPr>
          <p:cNvPr id="5" name="Text 3"/>
          <p:cNvSpPr txBox="1"/>
          <p:nvPr/>
        </p:nvSpPr>
        <p:spPr>
          <a:xfrm>
            <a:off x="548640" y="1371600"/>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AIS Receivers  /  Satellite Feed  /  Simulator</a:t>
            </a:r>
            <a:endParaRPr lang="en-US" sz="1150" dirty="0"/>
          </a:p>
        </p:txBody>
      </p:sp>
      <p:sp>
        <p:nvSpPr>
          <p:cNvPr id="6" name="Shape 4"/>
          <p:cNvSpPr/>
          <p:nvPr/>
        </p:nvSpPr>
        <p:spPr>
          <a:xfrm>
            <a:off x="4434840" y="1792224"/>
            <a:ext cx="0" cy="132588"/>
          </a:xfrm>
          <a:prstGeom prst="line">
            <a:avLst/>
          </a:prstGeom>
          <a:noFill/>
          <a:ln w="25400">
            <a:solidFill>
              <a:srgbClr val="6E8A9E"/>
            </a:solidFill>
            <a:prstDash val="solid"/>
            <a:tailEnd type="triangle"/>
          </a:ln>
        </p:spPr>
        <p:txBody>
          <a:bodyPr/>
          <a:lstStyle/>
          <a:p>
            <a:endParaRPr lang="en-US"/>
          </a:p>
        </p:txBody>
      </p:sp>
      <p:sp>
        <p:nvSpPr>
          <p:cNvPr id="7" name="Shape 5"/>
          <p:cNvSpPr/>
          <p:nvPr/>
        </p:nvSpPr>
        <p:spPr>
          <a:xfrm>
            <a:off x="502920" y="1924812"/>
            <a:ext cx="7863840" cy="420624"/>
          </a:xfrm>
          <a:prstGeom prst="roundRect">
            <a:avLst>
              <a:gd name="adj" fmla="val 15217"/>
            </a:avLst>
          </a:prstGeom>
          <a:solidFill>
            <a:srgbClr val="16324A"/>
          </a:solidFill>
          <a:ln w="15875">
            <a:solidFill>
              <a:srgbClr val="12A594"/>
            </a:solidFill>
            <a:prstDash val="solid"/>
          </a:ln>
        </p:spPr>
        <p:txBody>
          <a:bodyPr/>
          <a:lstStyle/>
          <a:p>
            <a:endParaRPr lang="en-US"/>
          </a:p>
        </p:txBody>
      </p:sp>
      <p:sp>
        <p:nvSpPr>
          <p:cNvPr id="8" name="Text 6"/>
          <p:cNvSpPr txBox="1"/>
          <p:nvPr/>
        </p:nvSpPr>
        <p:spPr>
          <a:xfrm>
            <a:off x="548640" y="1924812"/>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Apache Kafka  —  topic: ais_raw_ingest  (partitioned by MMSI)</a:t>
            </a:r>
            <a:endParaRPr lang="en-US" sz="1150" dirty="0"/>
          </a:p>
        </p:txBody>
      </p:sp>
      <p:sp>
        <p:nvSpPr>
          <p:cNvPr id="9" name="Shape 7"/>
          <p:cNvSpPr/>
          <p:nvPr/>
        </p:nvSpPr>
        <p:spPr>
          <a:xfrm>
            <a:off x="4434840" y="2345436"/>
            <a:ext cx="0" cy="132588"/>
          </a:xfrm>
          <a:prstGeom prst="line">
            <a:avLst/>
          </a:prstGeom>
          <a:noFill/>
          <a:ln w="25400">
            <a:solidFill>
              <a:srgbClr val="12A594"/>
            </a:solidFill>
            <a:prstDash val="solid"/>
            <a:tailEnd type="triangle"/>
          </a:ln>
        </p:spPr>
        <p:txBody>
          <a:bodyPr/>
          <a:lstStyle/>
          <a:p>
            <a:endParaRPr lang="en-US"/>
          </a:p>
        </p:txBody>
      </p:sp>
      <p:sp>
        <p:nvSpPr>
          <p:cNvPr id="10" name="Shape 8"/>
          <p:cNvSpPr/>
          <p:nvPr/>
        </p:nvSpPr>
        <p:spPr>
          <a:xfrm>
            <a:off x="502920" y="2478024"/>
            <a:ext cx="7863840" cy="420624"/>
          </a:xfrm>
          <a:prstGeom prst="roundRect">
            <a:avLst>
              <a:gd name="adj" fmla="val 15217"/>
            </a:avLst>
          </a:prstGeom>
          <a:solidFill>
            <a:srgbClr val="1B3A2C"/>
          </a:solidFill>
          <a:ln w="15875">
            <a:solidFill>
              <a:srgbClr val="F2A93B"/>
            </a:solidFill>
            <a:prstDash val="solid"/>
          </a:ln>
        </p:spPr>
        <p:txBody>
          <a:bodyPr/>
          <a:lstStyle/>
          <a:p>
            <a:endParaRPr lang="en-US"/>
          </a:p>
        </p:txBody>
      </p:sp>
      <p:sp>
        <p:nvSpPr>
          <p:cNvPr id="11" name="Text 9"/>
          <p:cNvSpPr txBox="1"/>
          <p:nvPr/>
        </p:nvSpPr>
        <p:spPr>
          <a:xfrm>
            <a:off x="548640" y="2478024"/>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Spark Structured Streaming  —  validate + enrich  (SPEED LAYER)</a:t>
            </a:r>
            <a:endParaRPr lang="en-US" sz="1150" dirty="0"/>
          </a:p>
        </p:txBody>
      </p:sp>
      <p:sp>
        <p:nvSpPr>
          <p:cNvPr id="12" name="Shape 10"/>
          <p:cNvSpPr/>
          <p:nvPr/>
        </p:nvSpPr>
        <p:spPr>
          <a:xfrm>
            <a:off x="502920" y="3031236"/>
            <a:ext cx="2529840" cy="502920"/>
          </a:xfrm>
          <a:prstGeom prst="roundRect">
            <a:avLst>
              <a:gd name="adj" fmla="val 12727"/>
            </a:avLst>
          </a:prstGeom>
          <a:solidFill>
            <a:srgbClr val="16324A"/>
          </a:solidFill>
          <a:ln w="15875">
            <a:solidFill>
              <a:srgbClr val="5FB8D9"/>
            </a:solidFill>
            <a:prstDash val="solid"/>
          </a:ln>
        </p:spPr>
        <p:txBody>
          <a:bodyPr/>
          <a:lstStyle/>
          <a:p>
            <a:endParaRPr lang="en-US"/>
          </a:p>
        </p:txBody>
      </p:sp>
      <p:sp>
        <p:nvSpPr>
          <p:cNvPr id="13" name="Text 11"/>
          <p:cNvSpPr txBox="1"/>
          <p:nvPr/>
        </p:nvSpPr>
        <p:spPr>
          <a:xfrm>
            <a:off x="548640" y="3031236"/>
            <a:ext cx="2438400" cy="502920"/>
          </a:xfrm>
          <a:prstGeom prst="rect">
            <a:avLst/>
          </a:prstGeom>
          <a:noFill/>
          <a:ln/>
        </p:spPr>
        <p:txBody>
          <a:bodyPr wrap="square" lIns="0" tIns="0" rIns="0" bIns="0" rtlCol="0" anchor="ctr"/>
          <a:lstStyle/>
          <a:p>
            <a:pPr marL="0" indent="0" algn="ctr">
              <a:lnSpc>
                <a:spcPct val="100000"/>
              </a:lnSpc>
              <a:buNone/>
            </a:pPr>
            <a:r>
              <a:rPr lang="en-US" sz="1000" b="1" dirty="0">
                <a:solidFill>
                  <a:srgbClr val="F3F7FA"/>
                </a:solidFill>
                <a:latin typeface="Calibri" pitchFamily="34" charset="0"/>
                <a:ea typeface="Calibri" pitchFamily="34" charset="-122"/>
                <a:cs typeface="Calibri" pitchFamily="34" charset="-120"/>
              </a:rPr>
              <a:t>PostGIS Upsert</a:t>
            </a:r>
            <a:endParaRPr lang="en-US" sz="1000" dirty="0"/>
          </a:p>
          <a:p>
            <a:pPr marL="0" indent="0" algn="ctr">
              <a:lnSpc>
                <a:spcPct val="100000"/>
              </a:lnSpc>
              <a:buNone/>
            </a:pPr>
            <a:r>
              <a:rPr lang="en-US" sz="1000" b="1" dirty="0">
                <a:solidFill>
                  <a:srgbClr val="F3F7FA"/>
                </a:solidFill>
                <a:latin typeface="Calibri" pitchFamily="34" charset="0"/>
                <a:ea typeface="Calibri" pitchFamily="34" charset="-122"/>
                <a:cs typeface="Calibri" pitchFamily="34" charset="-120"/>
              </a:rPr>
              <a:t>active_fleet_state</a:t>
            </a:r>
            <a:endParaRPr lang="en-US" sz="1000" dirty="0"/>
          </a:p>
        </p:txBody>
      </p:sp>
      <p:sp>
        <p:nvSpPr>
          <p:cNvPr id="14" name="Shape 12"/>
          <p:cNvSpPr/>
          <p:nvPr/>
        </p:nvSpPr>
        <p:spPr>
          <a:xfrm>
            <a:off x="3169920" y="3031236"/>
            <a:ext cx="2529840" cy="502920"/>
          </a:xfrm>
          <a:prstGeom prst="roundRect">
            <a:avLst>
              <a:gd name="adj" fmla="val 12727"/>
            </a:avLst>
          </a:prstGeom>
          <a:solidFill>
            <a:srgbClr val="16324A"/>
          </a:solidFill>
          <a:ln w="15875">
            <a:solidFill>
              <a:srgbClr val="5FB8D9"/>
            </a:solidFill>
            <a:prstDash val="solid"/>
          </a:ln>
        </p:spPr>
        <p:txBody>
          <a:bodyPr/>
          <a:lstStyle/>
          <a:p>
            <a:endParaRPr lang="en-US"/>
          </a:p>
        </p:txBody>
      </p:sp>
      <p:sp>
        <p:nvSpPr>
          <p:cNvPr id="15" name="Text 13"/>
          <p:cNvSpPr txBox="1"/>
          <p:nvPr/>
        </p:nvSpPr>
        <p:spPr>
          <a:xfrm>
            <a:off x="3215640" y="3031236"/>
            <a:ext cx="2438400" cy="502920"/>
          </a:xfrm>
          <a:prstGeom prst="rect">
            <a:avLst/>
          </a:prstGeom>
          <a:noFill/>
          <a:ln/>
        </p:spPr>
        <p:txBody>
          <a:bodyPr wrap="square" lIns="0" tIns="0" rIns="0" bIns="0" rtlCol="0" anchor="ctr"/>
          <a:lstStyle/>
          <a:p>
            <a:pPr marL="0" indent="0" algn="ctr">
              <a:lnSpc>
                <a:spcPct val="100000"/>
              </a:lnSpc>
              <a:buNone/>
            </a:pPr>
            <a:r>
              <a:rPr lang="en-US" sz="1000" b="1" dirty="0">
                <a:solidFill>
                  <a:srgbClr val="F3F7FA"/>
                </a:solidFill>
                <a:latin typeface="Calibri" pitchFamily="34" charset="0"/>
                <a:ea typeface="Calibri" pitchFamily="34" charset="-122"/>
                <a:cs typeface="Calibri" pitchFamily="34" charset="-120"/>
              </a:rPr>
              <a:t>Kafka Alerts</a:t>
            </a:r>
            <a:endParaRPr lang="en-US" sz="1000" dirty="0"/>
          </a:p>
          <a:p>
            <a:pPr marL="0" indent="0" algn="ctr">
              <a:lnSpc>
                <a:spcPct val="100000"/>
              </a:lnSpc>
              <a:buNone/>
            </a:pPr>
            <a:r>
              <a:rPr lang="en-US" sz="1000" b="1" dirty="0">
                <a:solidFill>
                  <a:srgbClr val="F3F7FA"/>
                </a:solidFill>
                <a:latin typeface="Calibri" pitchFamily="34" charset="0"/>
                <a:ea typeface="Calibri" pitchFamily="34" charset="-122"/>
                <a:cs typeface="Calibri" pitchFamily="34" charset="-120"/>
              </a:rPr>
              <a:t>vessel_speed_alerts</a:t>
            </a:r>
            <a:endParaRPr lang="en-US" sz="1000" dirty="0"/>
          </a:p>
        </p:txBody>
      </p:sp>
      <p:sp>
        <p:nvSpPr>
          <p:cNvPr id="16" name="Shape 14"/>
          <p:cNvSpPr/>
          <p:nvPr/>
        </p:nvSpPr>
        <p:spPr>
          <a:xfrm>
            <a:off x="5836920" y="3031236"/>
            <a:ext cx="2529840" cy="502920"/>
          </a:xfrm>
          <a:prstGeom prst="roundRect">
            <a:avLst>
              <a:gd name="adj" fmla="val 12727"/>
            </a:avLst>
          </a:prstGeom>
          <a:solidFill>
            <a:srgbClr val="16324A"/>
          </a:solidFill>
          <a:ln w="15875">
            <a:solidFill>
              <a:srgbClr val="5FB8D9"/>
            </a:solidFill>
            <a:prstDash val="solid"/>
          </a:ln>
        </p:spPr>
        <p:txBody>
          <a:bodyPr/>
          <a:lstStyle/>
          <a:p>
            <a:endParaRPr lang="en-US"/>
          </a:p>
        </p:txBody>
      </p:sp>
      <p:sp>
        <p:nvSpPr>
          <p:cNvPr id="17" name="Text 15"/>
          <p:cNvSpPr txBox="1"/>
          <p:nvPr/>
        </p:nvSpPr>
        <p:spPr>
          <a:xfrm>
            <a:off x="5882640" y="3031236"/>
            <a:ext cx="2438400" cy="502920"/>
          </a:xfrm>
          <a:prstGeom prst="rect">
            <a:avLst/>
          </a:prstGeom>
          <a:noFill/>
          <a:ln/>
        </p:spPr>
        <p:txBody>
          <a:bodyPr wrap="square" lIns="0" tIns="0" rIns="0" bIns="0" rtlCol="0" anchor="ctr"/>
          <a:lstStyle/>
          <a:p>
            <a:pPr marL="0" indent="0" algn="ctr">
              <a:lnSpc>
                <a:spcPct val="100000"/>
              </a:lnSpc>
              <a:buNone/>
            </a:pPr>
            <a:r>
              <a:rPr lang="en-US" sz="1000" b="1" dirty="0">
                <a:solidFill>
                  <a:srgbClr val="F3F7FA"/>
                </a:solidFill>
                <a:latin typeface="Calibri" pitchFamily="34" charset="0"/>
                <a:ea typeface="Calibri" pitchFamily="34" charset="-122"/>
                <a:cs typeface="Calibri" pitchFamily="34" charset="-120"/>
              </a:rPr>
              <a:t>HDFS Raw</a:t>
            </a:r>
            <a:endParaRPr lang="en-US" sz="1000" dirty="0"/>
          </a:p>
          <a:p>
            <a:pPr marL="0" indent="0" algn="ctr">
              <a:lnSpc>
                <a:spcPct val="100000"/>
              </a:lnSpc>
              <a:buNone/>
            </a:pPr>
            <a:r>
              <a:rPr lang="en-US" sz="1000" b="1" dirty="0">
                <a:solidFill>
                  <a:srgbClr val="F3F7FA"/>
                </a:solidFill>
                <a:latin typeface="Calibri" pitchFamily="34" charset="0"/>
                <a:ea typeface="Calibri" pitchFamily="34" charset="-122"/>
                <a:cs typeface="Calibri" pitchFamily="34" charset="-120"/>
              </a:rPr>
              <a:t>immutable archive</a:t>
            </a:r>
            <a:endParaRPr lang="en-US" sz="1000" dirty="0"/>
          </a:p>
        </p:txBody>
      </p:sp>
      <p:sp>
        <p:nvSpPr>
          <p:cNvPr id="18" name="Shape 16"/>
          <p:cNvSpPr/>
          <p:nvPr/>
        </p:nvSpPr>
        <p:spPr>
          <a:xfrm>
            <a:off x="4434840" y="2898648"/>
            <a:ext cx="0" cy="132588"/>
          </a:xfrm>
          <a:prstGeom prst="line">
            <a:avLst/>
          </a:prstGeom>
          <a:noFill/>
          <a:ln w="25400">
            <a:solidFill>
              <a:srgbClr val="F2A93B"/>
            </a:solidFill>
            <a:prstDash val="solid"/>
            <a:tailEnd type="triangle"/>
          </a:ln>
        </p:spPr>
        <p:txBody>
          <a:bodyPr/>
          <a:lstStyle/>
          <a:p>
            <a:endParaRPr lang="en-US"/>
          </a:p>
        </p:txBody>
      </p:sp>
      <p:sp>
        <p:nvSpPr>
          <p:cNvPr id="19" name="Shape 17"/>
          <p:cNvSpPr/>
          <p:nvPr/>
        </p:nvSpPr>
        <p:spPr>
          <a:xfrm>
            <a:off x="4434840" y="3534156"/>
            <a:ext cx="0" cy="132588"/>
          </a:xfrm>
          <a:prstGeom prst="line">
            <a:avLst/>
          </a:prstGeom>
          <a:noFill/>
          <a:ln w="25400">
            <a:solidFill>
              <a:srgbClr val="5FB8D9"/>
            </a:solidFill>
            <a:prstDash val="solid"/>
            <a:tailEnd type="triangle"/>
          </a:ln>
        </p:spPr>
        <p:txBody>
          <a:bodyPr/>
          <a:lstStyle/>
          <a:p>
            <a:endParaRPr lang="en-US"/>
          </a:p>
        </p:txBody>
      </p:sp>
      <p:sp>
        <p:nvSpPr>
          <p:cNvPr id="20" name="Shape 18"/>
          <p:cNvSpPr/>
          <p:nvPr/>
        </p:nvSpPr>
        <p:spPr>
          <a:xfrm>
            <a:off x="502920" y="3666744"/>
            <a:ext cx="7863840" cy="420624"/>
          </a:xfrm>
          <a:prstGeom prst="roundRect">
            <a:avLst>
              <a:gd name="adj" fmla="val 15217"/>
            </a:avLst>
          </a:prstGeom>
          <a:solidFill>
            <a:srgbClr val="132E42"/>
          </a:solidFill>
          <a:ln w="15875">
            <a:solidFill>
              <a:srgbClr val="5FB8D9"/>
            </a:solidFill>
            <a:prstDash val="solid"/>
          </a:ln>
        </p:spPr>
        <p:txBody>
          <a:bodyPr/>
          <a:lstStyle/>
          <a:p>
            <a:endParaRPr lang="en-US"/>
          </a:p>
        </p:txBody>
      </p:sp>
      <p:sp>
        <p:nvSpPr>
          <p:cNvPr id="21" name="Text 19"/>
          <p:cNvSpPr txBox="1"/>
          <p:nvPr/>
        </p:nvSpPr>
        <p:spPr>
          <a:xfrm>
            <a:off x="548640" y="3666744"/>
            <a:ext cx="7772400" cy="420624"/>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HDFS Data Lake  —  Parquet/Snappy, partitioned by date  (BATCH LAYER source of truth)</a:t>
            </a:r>
            <a:endParaRPr lang="en-US" sz="1100" dirty="0"/>
          </a:p>
        </p:txBody>
      </p:sp>
      <p:sp>
        <p:nvSpPr>
          <p:cNvPr id="22" name="Shape 20"/>
          <p:cNvSpPr/>
          <p:nvPr/>
        </p:nvSpPr>
        <p:spPr>
          <a:xfrm>
            <a:off x="4434840" y="4087368"/>
            <a:ext cx="0" cy="132588"/>
          </a:xfrm>
          <a:prstGeom prst="line">
            <a:avLst/>
          </a:prstGeom>
          <a:noFill/>
          <a:ln w="25400">
            <a:solidFill>
              <a:srgbClr val="5FB8D9"/>
            </a:solidFill>
            <a:prstDash val="solid"/>
            <a:tailEnd type="triangle"/>
          </a:ln>
        </p:spPr>
        <p:txBody>
          <a:bodyPr/>
          <a:lstStyle/>
          <a:p>
            <a:endParaRPr lang="en-US"/>
          </a:p>
        </p:txBody>
      </p:sp>
      <p:sp>
        <p:nvSpPr>
          <p:cNvPr id="23" name="Shape 21"/>
          <p:cNvSpPr/>
          <p:nvPr/>
        </p:nvSpPr>
        <p:spPr>
          <a:xfrm>
            <a:off x="502920" y="4219956"/>
            <a:ext cx="7863840" cy="420624"/>
          </a:xfrm>
          <a:prstGeom prst="roundRect">
            <a:avLst>
              <a:gd name="adj" fmla="val 15217"/>
            </a:avLst>
          </a:prstGeom>
          <a:solidFill>
            <a:srgbClr val="16324A"/>
          </a:solidFill>
          <a:ln w="15875">
            <a:solidFill>
              <a:srgbClr val="5FB8D9"/>
            </a:solidFill>
            <a:prstDash val="solid"/>
          </a:ln>
        </p:spPr>
        <p:txBody>
          <a:bodyPr/>
          <a:lstStyle/>
          <a:p>
            <a:endParaRPr lang="en-US"/>
          </a:p>
        </p:txBody>
      </p:sp>
      <p:sp>
        <p:nvSpPr>
          <p:cNvPr id="24" name="Text 22"/>
          <p:cNvSpPr txBox="1"/>
          <p:nvPr/>
        </p:nvSpPr>
        <p:spPr>
          <a:xfrm>
            <a:off x="548640" y="4219956"/>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Apache Airflow  —  maritime_batch_kpi_pipeline (daily DAG)</a:t>
            </a:r>
            <a:endParaRPr lang="en-US" sz="1150" dirty="0"/>
          </a:p>
        </p:txBody>
      </p:sp>
      <p:sp>
        <p:nvSpPr>
          <p:cNvPr id="25" name="Shape 23"/>
          <p:cNvSpPr/>
          <p:nvPr/>
        </p:nvSpPr>
        <p:spPr>
          <a:xfrm>
            <a:off x="4434840" y="4640580"/>
            <a:ext cx="0" cy="132588"/>
          </a:xfrm>
          <a:prstGeom prst="line">
            <a:avLst/>
          </a:prstGeom>
          <a:noFill/>
          <a:ln w="25400">
            <a:solidFill>
              <a:srgbClr val="5FB8D9"/>
            </a:solidFill>
            <a:prstDash val="solid"/>
            <a:tailEnd type="triangle"/>
          </a:ln>
        </p:spPr>
        <p:txBody>
          <a:bodyPr/>
          <a:lstStyle/>
          <a:p>
            <a:endParaRPr lang="en-US"/>
          </a:p>
        </p:txBody>
      </p:sp>
      <p:sp>
        <p:nvSpPr>
          <p:cNvPr id="26" name="Shape 24"/>
          <p:cNvSpPr/>
          <p:nvPr/>
        </p:nvSpPr>
        <p:spPr>
          <a:xfrm>
            <a:off x="502920" y="4773168"/>
            <a:ext cx="7863840" cy="420624"/>
          </a:xfrm>
          <a:prstGeom prst="roundRect">
            <a:avLst>
              <a:gd name="adj" fmla="val 15217"/>
            </a:avLst>
          </a:prstGeom>
          <a:solidFill>
            <a:srgbClr val="16324A"/>
          </a:solidFill>
          <a:ln w="15875">
            <a:solidFill>
              <a:srgbClr val="5FB8D9"/>
            </a:solidFill>
            <a:prstDash val="solid"/>
          </a:ln>
        </p:spPr>
        <p:txBody>
          <a:bodyPr/>
          <a:lstStyle/>
          <a:p>
            <a:endParaRPr lang="en-US"/>
          </a:p>
        </p:txBody>
      </p:sp>
      <p:sp>
        <p:nvSpPr>
          <p:cNvPr id="27" name="Text 25"/>
          <p:cNvSpPr txBox="1"/>
          <p:nvPr/>
        </p:nvSpPr>
        <p:spPr>
          <a:xfrm>
            <a:off x="548640" y="4773168"/>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Batch Processing + ML  —  KPIs, dwell time, K-Means clustering</a:t>
            </a:r>
            <a:endParaRPr lang="en-US" sz="1150" dirty="0"/>
          </a:p>
        </p:txBody>
      </p:sp>
      <p:sp>
        <p:nvSpPr>
          <p:cNvPr id="28" name="Shape 26"/>
          <p:cNvSpPr/>
          <p:nvPr/>
        </p:nvSpPr>
        <p:spPr>
          <a:xfrm>
            <a:off x="4434840" y="5193792"/>
            <a:ext cx="0" cy="132588"/>
          </a:xfrm>
          <a:prstGeom prst="line">
            <a:avLst/>
          </a:prstGeom>
          <a:noFill/>
          <a:ln w="25400">
            <a:solidFill>
              <a:srgbClr val="12A594"/>
            </a:solidFill>
            <a:prstDash val="solid"/>
            <a:tailEnd type="triangle"/>
          </a:ln>
        </p:spPr>
        <p:txBody>
          <a:bodyPr/>
          <a:lstStyle/>
          <a:p>
            <a:endParaRPr lang="en-US"/>
          </a:p>
        </p:txBody>
      </p:sp>
      <p:sp>
        <p:nvSpPr>
          <p:cNvPr id="29" name="Shape 27"/>
          <p:cNvSpPr/>
          <p:nvPr/>
        </p:nvSpPr>
        <p:spPr>
          <a:xfrm>
            <a:off x="502920" y="5326380"/>
            <a:ext cx="7863840" cy="420624"/>
          </a:xfrm>
          <a:prstGeom prst="roundRect">
            <a:avLst>
              <a:gd name="adj" fmla="val 15217"/>
            </a:avLst>
          </a:prstGeom>
          <a:solidFill>
            <a:srgbClr val="16324A"/>
          </a:solidFill>
          <a:ln w="15875">
            <a:solidFill>
              <a:srgbClr val="12A594"/>
            </a:solidFill>
            <a:prstDash val="solid"/>
          </a:ln>
        </p:spPr>
        <p:txBody>
          <a:bodyPr/>
          <a:lstStyle/>
          <a:p>
            <a:endParaRPr lang="en-US"/>
          </a:p>
        </p:txBody>
      </p:sp>
      <p:sp>
        <p:nvSpPr>
          <p:cNvPr id="30" name="Text 28"/>
          <p:cNvSpPr txBox="1"/>
          <p:nvPr/>
        </p:nvSpPr>
        <p:spPr>
          <a:xfrm>
            <a:off x="548640" y="5326380"/>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PostgreSQL / PostGIS  —  unified serving layer</a:t>
            </a:r>
            <a:endParaRPr lang="en-US" sz="1150" dirty="0"/>
          </a:p>
        </p:txBody>
      </p:sp>
      <p:sp>
        <p:nvSpPr>
          <p:cNvPr id="31" name="Shape 29"/>
          <p:cNvSpPr/>
          <p:nvPr/>
        </p:nvSpPr>
        <p:spPr>
          <a:xfrm>
            <a:off x="4434840" y="5747004"/>
            <a:ext cx="0" cy="132588"/>
          </a:xfrm>
          <a:prstGeom prst="line">
            <a:avLst/>
          </a:prstGeom>
          <a:noFill/>
          <a:ln w="25400">
            <a:solidFill>
              <a:srgbClr val="12A594"/>
            </a:solidFill>
            <a:prstDash val="solid"/>
            <a:tailEnd type="triangle"/>
          </a:ln>
        </p:spPr>
        <p:txBody>
          <a:bodyPr/>
          <a:lstStyle/>
          <a:p>
            <a:endParaRPr lang="en-US"/>
          </a:p>
        </p:txBody>
      </p:sp>
      <p:sp>
        <p:nvSpPr>
          <p:cNvPr id="32" name="Shape 30"/>
          <p:cNvSpPr/>
          <p:nvPr/>
        </p:nvSpPr>
        <p:spPr>
          <a:xfrm>
            <a:off x="502920" y="5879592"/>
            <a:ext cx="7863840" cy="420624"/>
          </a:xfrm>
          <a:prstGeom prst="roundRect">
            <a:avLst>
              <a:gd name="adj" fmla="val 15217"/>
            </a:avLst>
          </a:prstGeom>
          <a:solidFill>
            <a:srgbClr val="16324A"/>
          </a:solidFill>
          <a:ln w="15875">
            <a:solidFill>
              <a:srgbClr val="12A594"/>
            </a:solidFill>
            <a:prstDash val="solid"/>
          </a:ln>
        </p:spPr>
        <p:txBody>
          <a:bodyPr/>
          <a:lstStyle/>
          <a:p>
            <a:endParaRPr lang="en-US"/>
          </a:p>
        </p:txBody>
      </p:sp>
      <p:sp>
        <p:nvSpPr>
          <p:cNvPr id="33" name="Text 31"/>
          <p:cNvSpPr txBox="1"/>
          <p:nvPr/>
        </p:nvSpPr>
        <p:spPr>
          <a:xfrm>
            <a:off x="548640" y="5879592"/>
            <a:ext cx="7772400" cy="420624"/>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Apache Zeppelin  +  Apache Superset  —  analytics &amp; dashboards</a:t>
            </a:r>
            <a:endParaRPr lang="en-US" sz="1150" dirty="0"/>
          </a:p>
        </p:txBody>
      </p:sp>
      <p:sp>
        <p:nvSpPr>
          <p:cNvPr id="34" name="Shape 32"/>
          <p:cNvSpPr/>
          <p:nvPr/>
        </p:nvSpPr>
        <p:spPr>
          <a:xfrm>
            <a:off x="8686800" y="1508760"/>
            <a:ext cx="2999232" cy="2011680"/>
          </a:xfrm>
          <a:prstGeom prst="roundRect">
            <a:avLst>
              <a:gd name="adj" fmla="val 3636"/>
            </a:avLst>
          </a:prstGeom>
          <a:solidFill>
            <a:srgbClr val="1B3A2C"/>
          </a:solidFill>
          <a:ln w="12700">
            <a:solidFill>
              <a:srgbClr val="10263B"/>
            </a:solidFill>
            <a:prstDash val="solid"/>
          </a:ln>
        </p:spPr>
        <p:txBody>
          <a:bodyPr/>
          <a:lstStyle/>
          <a:p>
            <a:endParaRPr lang="en-US"/>
          </a:p>
        </p:txBody>
      </p:sp>
      <p:sp>
        <p:nvSpPr>
          <p:cNvPr id="35" name="Text 33"/>
          <p:cNvSpPr txBox="1"/>
          <p:nvPr/>
        </p:nvSpPr>
        <p:spPr>
          <a:xfrm>
            <a:off x="8823960" y="1627632"/>
            <a:ext cx="2724912" cy="320040"/>
          </a:xfrm>
          <a:prstGeom prst="rect">
            <a:avLst/>
          </a:prstGeom>
          <a:noFill/>
          <a:ln/>
        </p:spPr>
        <p:txBody>
          <a:bodyPr wrap="square" lIns="0" tIns="0" rIns="0" bIns="0" rtlCol="0" anchor="ctr"/>
          <a:lstStyle/>
          <a:p>
            <a:pPr marL="0" indent="0">
              <a:buNone/>
            </a:pPr>
            <a:r>
              <a:rPr lang="en-US" sz="1500" b="1" dirty="0">
                <a:solidFill>
                  <a:srgbClr val="F2A93B"/>
                </a:solidFill>
                <a:latin typeface="Calibri" pitchFamily="34" charset="0"/>
                <a:ea typeface="Calibri" pitchFamily="34" charset="-122"/>
                <a:cs typeface="Calibri" pitchFamily="34" charset="-120"/>
              </a:rPr>
              <a:t>SPEED LAYER</a:t>
            </a:r>
            <a:endParaRPr lang="en-US" sz="1500" dirty="0"/>
          </a:p>
        </p:txBody>
      </p:sp>
      <p:sp>
        <p:nvSpPr>
          <p:cNvPr id="36" name="Text 34"/>
          <p:cNvSpPr txBox="1"/>
          <p:nvPr/>
        </p:nvSpPr>
        <p:spPr>
          <a:xfrm>
            <a:off x="8823960" y="1965960"/>
            <a:ext cx="2724912" cy="1463040"/>
          </a:xfrm>
          <a:prstGeom prst="rect">
            <a:avLst/>
          </a:prstGeom>
          <a:noFill/>
          <a:ln/>
        </p:spPr>
        <p:txBody>
          <a:bodyPr wrap="square" lIns="0" tIns="0" rIns="0" bIns="0" rtlCol="0" anchor="t"/>
          <a:lstStyle/>
          <a:p>
            <a:pPr marL="0" indent="0">
              <a:buNone/>
            </a:pPr>
            <a:r>
              <a:rPr lang="en-US" sz="1150" dirty="0">
                <a:solidFill>
                  <a:srgbClr val="CFE8D8"/>
                </a:solidFill>
                <a:latin typeface="Calibri" pitchFamily="34" charset="0"/>
                <a:ea typeface="Calibri" pitchFamily="34" charset="-122"/>
                <a:cs typeface="Calibri" pitchFamily="34" charset="-120"/>
              </a:rPr>
              <a:t>Kafka → Spark Streaming → PostGIS + Alerts. Millisecond-to-second freshness, approximate &amp; non-reprocessable.</a:t>
            </a:r>
            <a:endParaRPr lang="en-US" sz="1150" dirty="0"/>
          </a:p>
        </p:txBody>
      </p:sp>
      <p:sp>
        <p:nvSpPr>
          <p:cNvPr id="37" name="Shape 35"/>
          <p:cNvSpPr/>
          <p:nvPr/>
        </p:nvSpPr>
        <p:spPr>
          <a:xfrm>
            <a:off x="8686800" y="3657600"/>
            <a:ext cx="2999232" cy="2011680"/>
          </a:xfrm>
          <a:prstGeom prst="roundRect">
            <a:avLst>
              <a:gd name="adj" fmla="val 3636"/>
            </a:avLst>
          </a:prstGeom>
          <a:solidFill>
            <a:srgbClr val="132E42"/>
          </a:solidFill>
          <a:ln w="12700">
            <a:solidFill>
              <a:srgbClr val="10263B"/>
            </a:solidFill>
            <a:prstDash val="solid"/>
          </a:ln>
        </p:spPr>
        <p:txBody>
          <a:bodyPr/>
          <a:lstStyle/>
          <a:p>
            <a:endParaRPr lang="en-US"/>
          </a:p>
        </p:txBody>
      </p:sp>
      <p:sp>
        <p:nvSpPr>
          <p:cNvPr id="38" name="Text 36"/>
          <p:cNvSpPr txBox="1"/>
          <p:nvPr/>
        </p:nvSpPr>
        <p:spPr>
          <a:xfrm>
            <a:off x="8823960" y="3776472"/>
            <a:ext cx="2724912" cy="320040"/>
          </a:xfrm>
          <a:prstGeom prst="rect">
            <a:avLst/>
          </a:prstGeom>
          <a:noFill/>
          <a:ln/>
        </p:spPr>
        <p:txBody>
          <a:bodyPr wrap="square" lIns="0" tIns="0" rIns="0" bIns="0" rtlCol="0" anchor="ctr"/>
          <a:lstStyle/>
          <a:p>
            <a:pPr marL="0" indent="0">
              <a:buNone/>
            </a:pPr>
            <a:r>
              <a:rPr lang="en-US" sz="1500" b="1" dirty="0">
                <a:solidFill>
                  <a:srgbClr val="5FB8D9"/>
                </a:solidFill>
                <a:latin typeface="Calibri" pitchFamily="34" charset="0"/>
                <a:ea typeface="Calibri" pitchFamily="34" charset="-122"/>
                <a:cs typeface="Calibri" pitchFamily="34" charset="-120"/>
              </a:rPr>
              <a:t>BATCH LAYER</a:t>
            </a:r>
            <a:endParaRPr lang="en-US" sz="1500" dirty="0"/>
          </a:p>
        </p:txBody>
      </p:sp>
      <p:sp>
        <p:nvSpPr>
          <p:cNvPr id="39" name="Text 37"/>
          <p:cNvSpPr txBox="1"/>
          <p:nvPr/>
        </p:nvSpPr>
        <p:spPr>
          <a:xfrm>
            <a:off x="8823960" y="4114800"/>
            <a:ext cx="2724912" cy="1463040"/>
          </a:xfrm>
          <a:prstGeom prst="rect">
            <a:avLst/>
          </a:prstGeom>
          <a:noFill/>
          <a:ln/>
        </p:spPr>
        <p:txBody>
          <a:bodyPr wrap="square" lIns="0" tIns="0" rIns="0" bIns="0" rtlCol="0" anchor="t"/>
          <a:lstStyle/>
          <a:p>
            <a:pPr marL="0" indent="0">
              <a:buNone/>
            </a:pPr>
            <a:r>
              <a:rPr lang="en-US" sz="1150" dirty="0">
                <a:solidFill>
                  <a:srgbClr val="CFE1EF"/>
                </a:solidFill>
                <a:latin typeface="Calibri" pitchFamily="34" charset="0"/>
                <a:ea typeface="Calibri" pitchFamily="34" charset="-122"/>
                <a:cs typeface="Calibri" pitchFamily="34" charset="-120"/>
              </a:rPr>
              <a:t>HDFS → Airflow → Spark batch + ML → PostGIS. Exact, reprocessable, auditable — computed once a day.</a:t>
            </a:r>
            <a:endParaRPr lang="en-US" sz="1150" dirty="0"/>
          </a:p>
        </p:txBody>
      </p:sp>
      <p:sp>
        <p:nvSpPr>
          <p:cNvPr id="40" name="Text 38"/>
          <p:cNvSpPr txBox="1"/>
          <p:nvPr/>
        </p:nvSpPr>
        <p:spPr>
          <a:xfrm>
            <a:off x="8686800" y="5806440"/>
            <a:ext cx="2999232" cy="640080"/>
          </a:xfrm>
          <a:prstGeom prst="rect">
            <a:avLst/>
          </a:prstGeom>
          <a:noFill/>
          <a:ln/>
        </p:spPr>
        <p:txBody>
          <a:bodyPr wrap="square" lIns="0" tIns="0" rIns="0" bIns="0" rtlCol="0" anchor="ctr"/>
          <a:lstStyle/>
          <a:p>
            <a:pPr marL="0" indent="0">
              <a:buNone/>
            </a:pPr>
            <a:r>
              <a:rPr lang="en-US" sz="1050" i="1" dirty="0">
                <a:solidFill>
                  <a:srgbClr val="93ABBE"/>
                </a:solidFill>
                <a:latin typeface="Calibri" pitchFamily="34" charset="0"/>
                <a:ea typeface="Calibri" pitchFamily="34" charset="-122"/>
                <a:cs typeface="Calibri" pitchFamily="34" charset="-120"/>
              </a:rPr>
              <a:t>Deployment: Docker Compose</a:t>
            </a:r>
            <a:endParaRPr lang="en-US" sz="1050" dirty="0"/>
          </a:p>
          <a:p>
            <a:pPr marL="0" indent="0">
              <a:buNone/>
            </a:pPr>
            <a:r>
              <a:rPr lang="en-US" sz="1050" i="1" dirty="0">
                <a:solidFill>
                  <a:srgbClr val="93ABBE"/>
                </a:solidFill>
                <a:latin typeface="Calibri" pitchFamily="34" charset="0"/>
                <a:ea typeface="Calibri" pitchFamily="34" charset="-122"/>
                <a:cs typeface="Calibri" pitchFamily="34" charset="-120"/>
              </a:rPr>
              <a:t>(single-host, one docker-compose.yml)</a:t>
            </a:r>
            <a:endParaRPr lang="en-US" sz="1050" dirty="0"/>
          </a:p>
        </p:txBody>
      </p:sp>
      <p:sp>
        <p:nvSpPr>
          <p:cNvPr id="41" name="Text 39"/>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DESIGN RATIONALE</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Why Lambda Architecture — Not Kappa, Not Pure Batch</a:t>
            </a:r>
            <a:endParaRPr lang="en-US" sz="3000" dirty="0"/>
          </a:p>
        </p:txBody>
      </p:sp>
      <p:sp>
        <p:nvSpPr>
          <p:cNvPr id="4" name="Shape 2"/>
          <p:cNvSpPr/>
          <p:nvPr/>
        </p:nvSpPr>
        <p:spPr>
          <a:xfrm>
            <a:off x="502920" y="1600200"/>
            <a:ext cx="5074920" cy="3520440"/>
          </a:xfrm>
          <a:prstGeom prst="roundRect">
            <a:avLst>
              <a:gd name="adj" fmla="val 2078"/>
            </a:avLst>
          </a:prstGeom>
          <a:solidFill>
            <a:srgbClr val="1B3A2C"/>
          </a:solidFill>
          <a:ln w="12700">
            <a:solidFill>
              <a:srgbClr val="10263B"/>
            </a:solidFill>
            <a:prstDash val="solid"/>
          </a:ln>
        </p:spPr>
        <p:txBody>
          <a:bodyPr/>
          <a:lstStyle/>
          <a:p>
            <a:endParaRPr lang="en-US"/>
          </a:p>
        </p:txBody>
      </p:sp>
      <p:sp>
        <p:nvSpPr>
          <p:cNvPr id="5" name="Text 3"/>
          <p:cNvSpPr txBox="1"/>
          <p:nvPr/>
        </p:nvSpPr>
        <p:spPr>
          <a:xfrm>
            <a:off x="731520" y="1783080"/>
            <a:ext cx="4617720" cy="365760"/>
          </a:xfrm>
          <a:prstGeom prst="rect">
            <a:avLst/>
          </a:prstGeom>
          <a:noFill/>
          <a:ln/>
        </p:spPr>
        <p:txBody>
          <a:bodyPr wrap="square" lIns="0" tIns="0" rIns="0" bIns="0" rtlCol="0" anchor="ctr"/>
          <a:lstStyle/>
          <a:p>
            <a:pPr marL="0" indent="0">
              <a:buNone/>
            </a:pPr>
            <a:r>
              <a:rPr lang="en-US" sz="1800" b="1" dirty="0">
                <a:solidFill>
                  <a:srgbClr val="F2A93B"/>
                </a:solidFill>
                <a:latin typeface="Calibri" pitchFamily="34" charset="0"/>
                <a:ea typeface="Calibri" pitchFamily="34" charset="-122"/>
                <a:cs typeface="Calibri" pitchFamily="34" charset="-120"/>
              </a:rPr>
              <a:t>SPEED LAYER</a:t>
            </a:r>
            <a:endParaRPr lang="en-US" sz="1800" dirty="0"/>
          </a:p>
        </p:txBody>
      </p:sp>
      <p:sp>
        <p:nvSpPr>
          <p:cNvPr id="6" name="Text 4"/>
          <p:cNvSpPr txBox="1"/>
          <p:nvPr/>
        </p:nvSpPr>
        <p:spPr>
          <a:xfrm>
            <a:off x="731520" y="2286000"/>
            <a:ext cx="4617720" cy="265176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DCEFE2"/>
                </a:solidFill>
                <a:latin typeface="Calibri" pitchFamily="34" charset="0"/>
                <a:ea typeface="Calibri" pitchFamily="34" charset="-122"/>
                <a:cs typeface="Calibri" pitchFamily="34" charset="-120"/>
              </a:rPr>
              <a:t>Very fresh data — sub-5-second latency</a:t>
            </a:r>
            <a:endParaRPr lang="en-US" sz="1350" dirty="0"/>
          </a:p>
          <a:p>
            <a:pPr marL="228600" indent="-228600">
              <a:spcAft>
                <a:spcPts val="1000"/>
              </a:spcAft>
              <a:buSzPct val="100000"/>
              <a:buChar char="•"/>
            </a:pPr>
            <a:r>
              <a:rPr lang="en-US" sz="1350" dirty="0">
                <a:solidFill>
                  <a:srgbClr val="DCEFE2"/>
                </a:solidFill>
                <a:latin typeface="Calibri" pitchFamily="34" charset="0"/>
                <a:ea typeface="Calibri" pitchFamily="34" charset="-122"/>
                <a:cs typeface="Calibri" pitchFamily="34" charset="-120"/>
              </a:rPr>
              <a:t>Real-time active fleet state</a:t>
            </a:r>
            <a:endParaRPr lang="en-US" sz="1350" dirty="0"/>
          </a:p>
          <a:p>
            <a:pPr marL="228600" indent="-228600">
              <a:spcAft>
                <a:spcPts val="1000"/>
              </a:spcAft>
              <a:buSzPct val="100000"/>
              <a:buChar char="•"/>
            </a:pPr>
            <a:r>
              <a:rPr lang="en-US" sz="1350" dirty="0">
                <a:solidFill>
                  <a:srgbClr val="DCEFE2"/>
                </a:solidFill>
                <a:latin typeface="Calibri" pitchFamily="34" charset="0"/>
                <a:ea typeface="Calibri" pitchFamily="34" charset="-122"/>
                <a:cs typeface="Calibri" pitchFamily="34" charset="-120"/>
              </a:rPr>
              <a:t>Speed threshold alerts</a:t>
            </a:r>
            <a:endParaRPr lang="en-US" sz="1350" dirty="0"/>
          </a:p>
          <a:p>
            <a:pPr marL="228600" indent="-228600">
              <a:spcAft>
                <a:spcPts val="1000"/>
              </a:spcAft>
              <a:buSzPct val="100000"/>
              <a:buChar char="•"/>
            </a:pPr>
            <a:r>
              <a:rPr lang="en-US" sz="1350" dirty="0">
                <a:solidFill>
                  <a:srgbClr val="DCEFE2"/>
                </a:solidFill>
                <a:latin typeface="Calibri" pitchFamily="34" charset="0"/>
                <a:ea typeface="Calibri" pitchFamily="34" charset="-122"/>
                <a:cs typeface="Calibri" pitchFamily="34" charset="-120"/>
              </a:rPr>
              <a:t>Approximate, non-reprocessable state</a:t>
            </a:r>
            <a:endParaRPr lang="en-US" sz="1350" dirty="0"/>
          </a:p>
        </p:txBody>
      </p:sp>
      <p:sp>
        <p:nvSpPr>
          <p:cNvPr id="7" name="Shape 5"/>
          <p:cNvSpPr/>
          <p:nvPr/>
        </p:nvSpPr>
        <p:spPr>
          <a:xfrm>
            <a:off x="6035040" y="1600200"/>
            <a:ext cx="5074920" cy="3520440"/>
          </a:xfrm>
          <a:prstGeom prst="roundRect">
            <a:avLst>
              <a:gd name="adj" fmla="val 2078"/>
            </a:avLst>
          </a:prstGeom>
          <a:solidFill>
            <a:srgbClr val="132E42"/>
          </a:solidFill>
          <a:ln w="12700">
            <a:solidFill>
              <a:srgbClr val="10263B"/>
            </a:solidFill>
            <a:prstDash val="solid"/>
          </a:ln>
        </p:spPr>
        <p:txBody>
          <a:bodyPr/>
          <a:lstStyle/>
          <a:p>
            <a:endParaRPr lang="en-US"/>
          </a:p>
        </p:txBody>
      </p:sp>
      <p:sp>
        <p:nvSpPr>
          <p:cNvPr id="8" name="Text 6"/>
          <p:cNvSpPr txBox="1"/>
          <p:nvPr/>
        </p:nvSpPr>
        <p:spPr>
          <a:xfrm>
            <a:off x="6263640" y="1783080"/>
            <a:ext cx="4617720" cy="365760"/>
          </a:xfrm>
          <a:prstGeom prst="rect">
            <a:avLst/>
          </a:prstGeom>
          <a:noFill/>
          <a:ln/>
        </p:spPr>
        <p:txBody>
          <a:bodyPr wrap="square" lIns="0" tIns="0" rIns="0" bIns="0" rtlCol="0" anchor="ctr"/>
          <a:lstStyle/>
          <a:p>
            <a:pPr marL="0" indent="0">
              <a:buNone/>
            </a:pPr>
            <a:r>
              <a:rPr lang="en-US" sz="1800" b="1" dirty="0">
                <a:solidFill>
                  <a:srgbClr val="5FB8D9"/>
                </a:solidFill>
                <a:latin typeface="Calibri" pitchFamily="34" charset="0"/>
                <a:ea typeface="Calibri" pitchFamily="34" charset="-122"/>
                <a:cs typeface="Calibri" pitchFamily="34" charset="-120"/>
              </a:rPr>
              <a:t>BATCH LAYER</a:t>
            </a:r>
            <a:endParaRPr lang="en-US" sz="1800" dirty="0"/>
          </a:p>
        </p:txBody>
      </p:sp>
      <p:sp>
        <p:nvSpPr>
          <p:cNvPr id="9" name="Text 7"/>
          <p:cNvSpPr txBox="1"/>
          <p:nvPr/>
        </p:nvSpPr>
        <p:spPr>
          <a:xfrm>
            <a:off x="6263640" y="2286000"/>
            <a:ext cx="4617720" cy="265176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D6E7F3"/>
                </a:solidFill>
                <a:latin typeface="Calibri" pitchFamily="34" charset="0"/>
                <a:ea typeface="Calibri" pitchFamily="34" charset="-122"/>
                <a:cs typeface="Calibri" pitchFamily="34" charset="-120"/>
              </a:rPr>
              <a:t>Historical, reprocessable computation</a:t>
            </a:r>
            <a:endParaRPr lang="en-US" sz="1350" dirty="0"/>
          </a:p>
          <a:p>
            <a:pPr marL="228600" indent="-228600">
              <a:spcAft>
                <a:spcPts val="1000"/>
              </a:spcAft>
              <a:buSzPct val="100000"/>
              <a:buChar char="•"/>
            </a:pPr>
            <a:r>
              <a:rPr lang="en-US" sz="1350" dirty="0">
                <a:solidFill>
                  <a:srgbClr val="D6E7F3"/>
                </a:solidFill>
                <a:latin typeface="Calibri" pitchFamily="34" charset="0"/>
                <a:ea typeface="Calibri" pitchFamily="34" charset="-122"/>
                <a:cs typeface="Calibri" pitchFamily="34" charset="-120"/>
              </a:rPr>
              <a:t>Daily fleet KPIs &amp; dwell-time aggregation</a:t>
            </a:r>
            <a:endParaRPr lang="en-US" sz="1350" dirty="0"/>
          </a:p>
          <a:p>
            <a:pPr marL="228600" indent="-228600">
              <a:spcAft>
                <a:spcPts val="1000"/>
              </a:spcAft>
              <a:buSzPct val="100000"/>
              <a:buChar char="•"/>
            </a:pPr>
            <a:r>
              <a:rPr lang="en-US" sz="1350" dirty="0">
                <a:solidFill>
                  <a:srgbClr val="D6E7F3"/>
                </a:solidFill>
                <a:latin typeface="Calibri" pitchFamily="34" charset="0"/>
                <a:ea typeface="Calibri" pitchFamily="34" charset="-122"/>
                <a:cs typeface="Calibri" pitchFamily="34" charset="-120"/>
              </a:rPr>
              <a:t>Behavioral clustering (batch-native K-Means)</a:t>
            </a:r>
            <a:endParaRPr lang="en-US" sz="1350" dirty="0"/>
          </a:p>
          <a:p>
            <a:pPr marL="228600" indent="-228600">
              <a:spcAft>
                <a:spcPts val="1000"/>
              </a:spcAft>
              <a:buSzPct val="100000"/>
              <a:buChar char="•"/>
            </a:pPr>
            <a:r>
              <a:rPr lang="en-US" sz="1350" dirty="0">
                <a:solidFill>
                  <a:srgbClr val="D6E7F3"/>
                </a:solidFill>
                <a:latin typeface="Calibri" pitchFamily="34" charset="0"/>
                <a:ea typeface="Calibri" pitchFamily="34" charset="-122"/>
                <a:cs typeface="Calibri" pitchFamily="34" charset="-120"/>
              </a:rPr>
              <a:t>Exact, auditable results</a:t>
            </a:r>
            <a:endParaRPr lang="en-US" sz="1350" dirty="0"/>
          </a:p>
        </p:txBody>
      </p:sp>
      <p:sp>
        <p:nvSpPr>
          <p:cNvPr id="10" name="Shape 8"/>
          <p:cNvSpPr/>
          <p:nvPr/>
        </p:nvSpPr>
        <p:spPr>
          <a:xfrm>
            <a:off x="502920" y="5303520"/>
            <a:ext cx="10515600" cy="822960"/>
          </a:xfrm>
          <a:prstGeom prst="roundRect">
            <a:avLst>
              <a:gd name="adj" fmla="val 8889"/>
            </a:avLst>
          </a:prstGeom>
          <a:solidFill>
            <a:srgbClr val="16324A"/>
          </a:solidFill>
          <a:ln w="12700">
            <a:solidFill>
              <a:srgbClr val="10263B"/>
            </a:solidFill>
            <a:prstDash val="solid"/>
          </a:ln>
        </p:spPr>
        <p:txBody>
          <a:bodyPr/>
          <a:lstStyle/>
          <a:p>
            <a:endParaRPr lang="en-US"/>
          </a:p>
        </p:txBody>
      </p:sp>
      <p:sp>
        <p:nvSpPr>
          <p:cNvPr id="11" name="Text 9"/>
          <p:cNvSpPr txBox="1"/>
          <p:nvPr/>
        </p:nvSpPr>
        <p:spPr>
          <a:xfrm>
            <a:off x="731520" y="5394960"/>
            <a:ext cx="7863840" cy="640080"/>
          </a:xfrm>
          <a:prstGeom prst="rect">
            <a:avLst/>
          </a:prstGeom>
          <a:noFill/>
          <a:ln/>
        </p:spPr>
        <p:txBody>
          <a:bodyPr wrap="square" lIns="0" tIns="0" rIns="0" bIns="0" rtlCol="0" anchor="ctr"/>
          <a:lstStyle/>
          <a:p>
            <a:pPr marL="0" indent="0">
              <a:buNone/>
            </a:pPr>
            <a:r>
              <a:rPr lang="en-US" sz="1500" i="1" dirty="0">
                <a:solidFill>
                  <a:srgbClr val="F3F7FA"/>
                </a:solidFill>
                <a:latin typeface="Calibri" pitchFamily="34" charset="0"/>
                <a:ea typeface="Calibri" pitchFamily="34" charset="-122"/>
                <a:cs typeface="Calibri" pitchFamily="34" charset="-120"/>
              </a:rPr>
              <a:t>“Streaming gives us freshness. Batch gives us correctness and reprocessing.”</a:t>
            </a:r>
            <a:endParaRPr lang="en-US" sz="1500" dirty="0"/>
          </a:p>
        </p:txBody>
      </p:sp>
      <p:sp>
        <p:nvSpPr>
          <p:cNvPr id="12" name="Text 10"/>
          <p:cNvSpPr txBox="1"/>
          <p:nvPr/>
        </p:nvSpPr>
        <p:spPr>
          <a:xfrm>
            <a:off x="8686800" y="5394960"/>
            <a:ext cx="2194560" cy="640080"/>
          </a:xfrm>
          <a:prstGeom prst="rect">
            <a:avLst/>
          </a:prstGeom>
          <a:noFill/>
          <a:ln/>
        </p:spPr>
        <p:txBody>
          <a:bodyPr wrap="square" lIns="0" tIns="0" rIns="0" bIns="0" rtlCol="0" anchor="ctr"/>
          <a:lstStyle/>
          <a:p>
            <a:pPr marL="0" indent="0" algn="r">
              <a:buNone/>
            </a:pPr>
            <a:r>
              <a:rPr lang="en-US" sz="1050" b="1" dirty="0">
                <a:solidFill>
                  <a:srgbClr val="12A594"/>
                </a:solidFill>
                <a:latin typeface="Calibri" pitchFamily="34" charset="0"/>
                <a:ea typeface="Calibri" pitchFamily="34" charset="-122"/>
                <a:cs typeface="Calibri" pitchFamily="34" charset="-120"/>
              </a:rPr>
              <a:t>HDFS is the immutable</a:t>
            </a:r>
            <a:endParaRPr lang="en-US" sz="1050" dirty="0"/>
          </a:p>
          <a:p>
            <a:pPr marL="0" indent="0" algn="r">
              <a:buNone/>
            </a:pPr>
            <a:r>
              <a:rPr lang="en-US" sz="1050" b="1" dirty="0">
                <a:solidFill>
                  <a:srgbClr val="12A594"/>
                </a:solidFill>
                <a:latin typeface="Calibri" pitchFamily="34" charset="0"/>
                <a:ea typeface="Calibri" pitchFamily="34" charset="-122"/>
                <a:cs typeface="Calibri" pitchFamily="34" charset="-120"/>
              </a:rPr>
              <a:t>source of truth reconciling both layers</a:t>
            </a:r>
            <a:endParaRPr lang="en-US" sz="1050" dirty="0"/>
          </a:p>
        </p:txBody>
      </p:sp>
      <p:sp>
        <p:nvSpPr>
          <p:cNvPr id="13" name="Text 11"/>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LAYER 1 — INGESTION</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Kafka: Durable, Partitioned, Replayable Ingestion</a:t>
            </a:r>
            <a:endParaRPr lang="en-US" sz="3000" dirty="0"/>
          </a:p>
        </p:txBody>
      </p:sp>
      <p:sp>
        <p:nvSpPr>
          <p:cNvPr id="4" name="Text 2"/>
          <p:cNvSpPr txBox="1"/>
          <p:nvPr/>
        </p:nvSpPr>
        <p:spPr>
          <a:xfrm>
            <a:off x="502920" y="1600200"/>
            <a:ext cx="5120640" cy="27432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Topic ais_raw_ingest — primary ingress of raw AIS reports</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Topic vessel_speed_alerts — derived alert stream from the speed layer</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Consumer group streaming-processors owned exclusively by the Spark job</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Replication factor 3, min.insync.replicas = 2 for broker-failure tolerance</a:t>
            </a:r>
            <a:endParaRPr lang="en-US" sz="1350" dirty="0"/>
          </a:p>
          <a:p>
            <a:pPr marL="228600" indent="-228600">
              <a:spcAft>
                <a:spcPts val="1200"/>
              </a:spcAft>
              <a:buSzPct val="100000"/>
              <a:buChar char="•"/>
            </a:pPr>
            <a:r>
              <a:rPr lang="en-US" sz="1350" dirty="0">
                <a:solidFill>
                  <a:srgbClr val="F3F7FA"/>
                </a:solidFill>
                <a:latin typeface="Calibri" pitchFamily="34" charset="0"/>
                <a:ea typeface="Calibri" pitchFamily="34" charset="-122"/>
                <a:cs typeface="Calibri" pitchFamily="34" charset="-120"/>
              </a:rPr>
              <a:t>Sustained target: 1,000–3,000 msg/s, burst tolerance to ~8,000 msg/s</a:t>
            </a:r>
            <a:endParaRPr lang="en-US" sz="1350" dirty="0"/>
          </a:p>
        </p:txBody>
      </p:sp>
      <p:sp>
        <p:nvSpPr>
          <p:cNvPr id="5" name="Shape 3"/>
          <p:cNvSpPr/>
          <p:nvPr/>
        </p:nvSpPr>
        <p:spPr>
          <a:xfrm>
            <a:off x="502920" y="4617720"/>
            <a:ext cx="5120640" cy="1508760"/>
          </a:xfrm>
          <a:prstGeom prst="roundRect">
            <a:avLst>
              <a:gd name="adj" fmla="val 4848"/>
            </a:avLst>
          </a:prstGeom>
          <a:solidFill>
            <a:srgbClr val="16324A"/>
          </a:solidFill>
          <a:ln w="12700">
            <a:solidFill>
              <a:srgbClr val="10263B"/>
            </a:solidFill>
            <a:prstDash val="solid"/>
          </a:ln>
        </p:spPr>
        <p:txBody>
          <a:bodyPr/>
          <a:lstStyle/>
          <a:p>
            <a:endParaRPr lang="en-US"/>
          </a:p>
        </p:txBody>
      </p:sp>
      <p:sp>
        <p:nvSpPr>
          <p:cNvPr id="6" name="Text 4"/>
          <p:cNvSpPr txBox="1"/>
          <p:nvPr/>
        </p:nvSpPr>
        <p:spPr>
          <a:xfrm>
            <a:off x="685800" y="4736592"/>
            <a:ext cx="4754880" cy="274320"/>
          </a:xfrm>
          <a:prstGeom prst="rect">
            <a:avLst/>
          </a:prstGeom>
          <a:noFill/>
          <a:ln/>
        </p:spPr>
        <p:txBody>
          <a:bodyPr wrap="square" lIns="0" tIns="0" rIns="0" bIns="0" rtlCol="0" anchor="ctr"/>
          <a:lstStyle/>
          <a:p>
            <a:pPr marL="0" indent="0">
              <a:buNone/>
            </a:pPr>
            <a:r>
              <a:rPr lang="en-US" sz="1250" b="1" dirty="0">
                <a:solidFill>
                  <a:srgbClr val="12A594"/>
                </a:solidFill>
                <a:latin typeface="Calibri" pitchFamily="34" charset="0"/>
                <a:ea typeface="Calibri" pitchFamily="34" charset="-122"/>
                <a:cs typeface="Calibri" pitchFamily="34" charset="-120"/>
              </a:rPr>
              <a:t>Why partition by hash(mmsi) % N?</a:t>
            </a:r>
            <a:endParaRPr lang="en-US" sz="1250" dirty="0"/>
          </a:p>
        </p:txBody>
      </p:sp>
      <p:sp>
        <p:nvSpPr>
          <p:cNvPr id="7" name="Text 5"/>
          <p:cNvSpPr txBox="1"/>
          <p:nvPr/>
        </p:nvSpPr>
        <p:spPr>
          <a:xfrm>
            <a:off x="685800" y="5029200"/>
            <a:ext cx="4754880" cy="1005840"/>
          </a:xfrm>
          <a:prstGeom prst="rect">
            <a:avLst/>
          </a:prstGeom>
          <a:noFill/>
          <a:ln/>
        </p:spPr>
        <p:txBody>
          <a:bodyPr wrap="square" lIns="0" tIns="0" rIns="0" bIns="0" rtlCol="0" anchor="ctr"/>
          <a:lstStyle/>
          <a:p>
            <a:pPr marL="0" indent="0">
              <a:buNone/>
            </a:pPr>
            <a:r>
              <a:rPr lang="en-US" sz="1200" dirty="0">
                <a:solidFill>
                  <a:srgbClr val="93ABBE"/>
                </a:solidFill>
                <a:latin typeface="Calibri" pitchFamily="34" charset="0"/>
                <a:ea typeface="Calibri" pitchFamily="34" charset="-122"/>
                <a:cs typeface="Calibri" pitchFamily="34" charset="-120"/>
              </a:rPr>
              <a:t>All messages for one vessel land on the same partition → per-vessel ordering is guaranteed end-to-end, which is essential for correct “latest state” upserts.</a:t>
            </a:r>
            <a:endParaRPr lang="en-US" sz="1200" dirty="0"/>
          </a:p>
        </p:txBody>
      </p:sp>
      <p:sp>
        <p:nvSpPr>
          <p:cNvPr id="8" name="Shape 6"/>
          <p:cNvSpPr/>
          <p:nvPr/>
        </p:nvSpPr>
        <p:spPr>
          <a:xfrm>
            <a:off x="7840980" y="1600200"/>
            <a:ext cx="2011680" cy="548640"/>
          </a:xfrm>
          <a:prstGeom prst="roundRect">
            <a:avLst>
              <a:gd name="adj" fmla="val 11667"/>
            </a:avLst>
          </a:prstGeom>
          <a:solidFill>
            <a:srgbClr val="16324A"/>
          </a:solidFill>
          <a:ln w="15875">
            <a:solidFill>
              <a:srgbClr val="6E8A9E"/>
            </a:solidFill>
            <a:prstDash val="solid"/>
          </a:ln>
        </p:spPr>
        <p:txBody>
          <a:bodyPr/>
          <a:lstStyle/>
          <a:p>
            <a:endParaRPr lang="en-US"/>
          </a:p>
        </p:txBody>
      </p:sp>
      <p:sp>
        <p:nvSpPr>
          <p:cNvPr id="9" name="Text 7"/>
          <p:cNvSpPr txBox="1"/>
          <p:nvPr/>
        </p:nvSpPr>
        <p:spPr>
          <a:xfrm>
            <a:off x="7886700" y="1600200"/>
            <a:ext cx="1920240" cy="548640"/>
          </a:xfrm>
          <a:prstGeom prst="rect">
            <a:avLst/>
          </a:prstGeom>
          <a:noFill/>
          <a:ln/>
        </p:spPr>
        <p:txBody>
          <a:bodyPr wrap="square" lIns="0" tIns="0" rIns="0" bIns="0" rtlCol="0" anchor="ctr"/>
          <a:lstStyle/>
          <a:p>
            <a:pPr marL="0" indent="0" algn="ctr">
              <a:lnSpc>
                <a:spcPct val="100000"/>
              </a:lnSpc>
              <a:buNone/>
            </a:pPr>
            <a:r>
              <a:rPr lang="en-US" sz="1200" b="1" dirty="0">
                <a:solidFill>
                  <a:srgbClr val="F3F7FA"/>
                </a:solidFill>
                <a:latin typeface="Calibri" pitchFamily="34" charset="0"/>
                <a:ea typeface="Calibri" pitchFamily="34" charset="-122"/>
                <a:cs typeface="Calibri" pitchFamily="34" charset="-120"/>
              </a:rPr>
              <a:t>AIS Event (JSON)</a:t>
            </a:r>
            <a:endParaRPr lang="en-US" sz="1200" dirty="0"/>
          </a:p>
        </p:txBody>
      </p:sp>
      <p:sp>
        <p:nvSpPr>
          <p:cNvPr id="10" name="Shape 8"/>
          <p:cNvSpPr/>
          <p:nvPr/>
        </p:nvSpPr>
        <p:spPr>
          <a:xfrm>
            <a:off x="8846820" y="2167128"/>
            <a:ext cx="0" cy="320040"/>
          </a:xfrm>
          <a:prstGeom prst="line">
            <a:avLst/>
          </a:prstGeom>
          <a:noFill/>
          <a:ln w="25400">
            <a:solidFill>
              <a:srgbClr val="12A594"/>
            </a:solidFill>
            <a:prstDash val="solid"/>
            <a:tailEnd type="triangle"/>
          </a:ln>
        </p:spPr>
        <p:txBody>
          <a:bodyPr/>
          <a:lstStyle/>
          <a:p>
            <a:endParaRPr lang="en-US"/>
          </a:p>
        </p:txBody>
      </p:sp>
      <p:sp>
        <p:nvSpPr>
          <p:cNvPr id="11" name="Shape 9"/>
          <p:cNvSpPr/>
          <p:nvPr/>
        </p:nvSpPr>
        <p:spPr>
          <a:xfrm>
            <a:off x="7383780" y="2487168"/>
            <a:ext cx="2926080" cy="548640"/>
          </a:xfrm>
          <a:prstGeom prst="roundRect">
            <a:avLst>
              <a:gd name="adj" fmla="val 11667"/>
            </a:avLst>
          </a:prstGeom>
          <a:solidFill>
            <a:srgbClr val="16324A"/>
          </a:solidFill>
          <a:ln w="15875">
            <a:solidFill>
              <a:srgbClr val="12A594"/>
            </a:solidFill>
            <a:prstDash val="solid"/>
          </a:ln>
        </p:spPr>
        <p:txBody>
          <a:bodyPr/>
          <a:lstStyle/>
          <a:p>
            <a:endParaRPr lang="en-US"/>
          </a:p>
        </p:txBody>
      </p:sp>
      <p:sp>
        <p:nvSpPr>
          <p:cNvPr id="12" name="Text 10"/>
          <p:cNvSpPr txBox="1"/>
          <p:nvPr/>
        </p:nvSpPr>
        <p:spPr>
          <a:xfrm>
            <a:off x="7429500" y="2487168"/>
            <a:ext cx="2834640" cy="548640"/>
          </a:xfrm>
          <a:prstGeom prst="rect">
            <a:avLst/>
          </a:prstGeom>
          <a:noFill/>
          <a:ln/>
        </p:spPr>
        <p:txBody>
          <a:bodyPr wrap="square" lIns="0" tIns="0" rIns="0" bIns="0" rtlCol="0" anchor="ctr"/>
          <a:lstStyle/>
          <a:p>
            <a:pPr marL="0" indent="0" algn="ctr">
              <a:lnSpc>
                <a:spcPct val="100000"/>
              </a:lnSpc>
              <a:buNone/>
            </a:pPr>
            <a:r>
              <a:rPr lang="en-US" sz="1200" b="1" dirty="0">
                <a:solidFill>
                  <a:srgbClr val="F3F7FA"/>
                </a:solidFill>
                <a:latin typeface="Calibri" pitchFamily="34" charset="0"/>
                <a:ea typeface="Calibri" pitchFamily="34" charset="-122"/>
                <a:cs typeface="Calibri" pitchFamily="34" charset="-120"/>
              </a:rPr>
              <a:t>Kafka Topic: ais_raw_ingest</a:t>
            </a:r>
            <a:endParaRPr lang="en-US" sz="1200" dirty="0"/>
          </a:p>
        </p:txBody>
      </p:sp>
      <p:sp>
        <p:nvSpPr>
          <p:cNvPr id="13" name="Shape 11"/>
          <p:cNvSpPr/>
          <p:nvPr/>
        </p:nvSpPr>
        <p:spPr>
          <a:xfrm>
            <a:off x="8846820" y="3054096"/>
            <a:ext cx="0" cy="320040"/>
          </a:xfrm>
          <a:prstGeom prst="line">
            <a:avLst/>
          </a:prstGeom>
          <a:noFill/>
          <a:ln w="25400">
            <a:solidFill>
              <a:srgbClr val="12A594"/>
            </a:solidFill>
            <a:prstDash val="solid"/>
            <a:tailEnd type="triangle"/>
          </a:ln>
        </p:spPr>
        <p:txBody>
          <a:bodyPr/>
          <a:lstStyle/>
          <a:p>
            <a:endParaRPr lang="en-US"/>
          </a:p>
        </p:txBody>
      </p:sp>
      <p:sp>
        <p:nvSpPr>
          <p:cNvPr id="14" name="Shape 12"/>
          <p:cNvSpPr/>
          <p:nvPr/>
        </p:nvSpPr>
        <p:spPr>
          <a:xfrm>
            <a:off x="6131052" y="3383280"/>
            <a:ext cx="1234440" cy="548640"/>
          </a:xfrm>
          <a:prstGeom prst="roundRect">
            <a:avLst>
              <a:gd name="adj" fmla="val 11667"/>
            </a:avLst>
          </a:prstGeom>
          <a:solidFill>
            <a:srgbClr val="132E42"/>
          </a:solidFill>
          <a:ln w="15875">
            <a:solidFill>
              <a:srgbClr val="5FB8D9"/>
            </a:solidFill>
            <a:prstDash val="solid"/>
          </a:ln>
        </p:spPr>
        <p:txBody>
          <a:bodyPr/>
          <a:lstStyle/>
          <a:p>
            <a:endParaRPr lang="en-US"/>
          </a:p>
        </p:txBody>
      </p:sp>
      <p:sp>
        <p:nvSpPr>
          <p:cNvPr id="15" name="Text 13"/>
          <p:cNvSpPr txBox="1"/>
          <p:nvPr/>
        </p:nvSpPr>
        <p:spPr>
          <a:xfrm>
            <a:off x="6176772" y="3383280"/>
            <a:ext cx="1143000" cy="54864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Partition 0</a:t>
            </a:r>
            <a:endParaRPr lang="en-US" sz="1050" dirty="0"/>
          </a:p>
        </p:txBody>
      </p:sp>
      <p:sp>
        <p:nvSpPr>
          <p:cNvPr id="16" name="Shape 14"/>
          <p:cNvSpPr/>
          <p:nvPr/>
        </p:nvSpPr>
        <p:spPr>
          <a:xfrm>
            <a:off x="7530084" y="3383280"/>
            <a:ext cx="1234440" cy="548640"/>
          </a:xfrm>
          <a:prstGeom prst="roundRect">
            <a:avLst>
              <a:gd name="adj" fmla="val 11667"/>
            </a:avLst>
          </a:prstGeom>
          <a:solidFill>
            <a:srgbClr val="132E42"/>
          </a:solidFill>
          <a:ln w="15875">
            <a:solidFill>
              <a:srgbClr val="5FB8D9"/>
            </a:solidFill>
            <a:prstDash val="solid"/>
          </a:ln>
        </p:spPr>
        <p:txBody>
          <a:bodyPr/>
          <a:lstStyle/>
          <a:p>
            <a:endParaRPr lang="en-US"/>
          </a:p>
        </p:txBody>
      </p:sp>
      <p:sp>
        <p:nvSpPr>
          <p:cNvPr id="17" name="Text 15"/>
          <p:cNvSpPr txBox="1"/>
          <p:nvPr/>
        </p:nvSpPr>
        <p:spPr>
          <a:xfrm>
            <a:off x="7575804" y="3383280"/>
            <a:ext cx="1143000" cy="54864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Partition 1</a:t>
            </a:r>
            <a:endParaRPr lang="en-US" sz="1050" dirty="0"/>
          </a:p>
        </p:txBody>
      </p:sp>
      <p:sp>
        <p:nvSpPr>
          <p:cNvPr id="18" name="Shape 16"/>
          <p:cNvSpPr/>
          <p:nvPr/>
        </p:nvSpPr>
        <p:spPr>
          <a:xfrm>
            <a:off x="8929116" y="3383280"/>
            <a:ext cx="1234440" cy="548640"/>
          </a:xfrm>
          <a:prstGeom prst="roundRect">
            <a:avLst>
              <a:gd name="adj" fmla="val 11667"/>
            </a:avLst>
          </a:prstGeom>
          <a:solidFill>
            <a:srgbClr val="132E42"/>
          </a:solidFill>
          <a:ln w="15875">
            <a:solidFill>
              <a:srgbClr val="5FB8D9"/>
            </a:solidFill>
            <a:prstDash val="solid"/>
          </a:ln>
        </p:spPr>
        <p:txBody>
          <a:bodyPr/>
          <a:lstStyle/>
          <a:p>
            <a:endParaRPr lang="en-US"/>
          </a:p>
        </p:txBody>
      </p:sp>
      <p:sp>
        <p:nvSpPr>
          <p:cNvPr id="19" name="Text 17"/>
          <p:cNvSpPr txBox="1"/>
          <p:nvPr/>
        </p:nvSpPr>
        <p:spPr>
          <a:xfrm>
            <a:off x="8974836" y="3383280"/>
            <a:ext cx="1143000" cy="54864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Partition 2</a:t>
            </a:r>
            <a:endParaRPr lang="en-US" sz="1050" dirty="0"/>
          </a:p>
        </p:txBody>
      </p:sp>
      <p:sp>
        <p:nvSpPr>
          <p:cNvPr id="20" name="Shape 18"/>
          <p:cNvSpPr/>
          <p:nvPr/>
        </p:nvSpPr>
        <p:spPr>
          <a:xfrm>
            <a:off x="10328148" y="3383280"/>
            <a:ext cx="1234440" cy="548640"/>
          </a:xfrm>
          <a:prstGeom prst="roundRect">
            <a:avLst>
              <a:gd name="adj" fmla="val 11667"/>
            </a:avLst>
          </a:prstGeom>
          <a:solidFill>
            <a:srgbClr val="132E42"/>
          </a:solidFill>
          <a:ln w="15875">
            <a:solidFill>
              <a:srgbClr val="5FB8D9"/>
            </a:solidFill>
            <a:prstDash val="solid"/>
          </a:ln>
        </p:spPr>
        <p:txBody>
          <a:bodyPr/>
          <a:lstStyle/>
          <a:p>
            <a:endParaRPr lang="en-US"/>
          </a:p>
        </p:txBody>
      </p:sp>
      <p:sp>
        <p:nvSpPr>
          <p:cNvPr id="21" name="Text 19"/>
          <p:cNvSpPr txBox="1"/>
          <p:nvPr/>
        </p:nvSpPr>
        <p:spPr>
          <a:xfrm>
            <a:off x="10373868" y="3383280"/>
            <a:ext cx="1143000" cy="54864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 N</a:t>
            </a:r>
            <a:endParaRPr lang="en-US" sz="1050" dirty="0"/>
          </a:p>
        </p:txBody>
      </p:sp>
      <p:sp>
        <p:nvSpPr>
          <p:cNvPr id="22" name="Shape 20"/>
          <p:cNvSpPr/>
          <p:nvPr/>
        </p:nvSpPr>
        <p:spPr>
          <a:xfrm>
            <a:off x="8846820" y="3950208"/>
            <a:ext cx="0" cy="320040"/>
          </a:xfrm>
          <a:prstGeom prst="line">
            <a:avLst/>
          </a:prstGeom>
          <a:noFill/>
          <a:ln w="25400">
            <a:solidFill>
              <a:srgbClr val="12A594"/>
            </a:solidFill>
            <a:prstDash val="solid"/>
            <a:tailEnd type="triangle"/>
          </a:ln>
        </p:spPr>
        <p:txBody>
          <a:bodyPr/>
          <a:lstStyle/>
          <a:p>
            <a:endParaRPr lang="en-US"/>
          </a:p>
        </p:txBody>
      </p:sp>
      <p:sp>
        <p:nvSpPr>
          <p:cNvPr id="23" name="Shape 21"/>
          <p:cNvSpPr/>
          <p:nvPr/>
        </p:nvSpPr>
        <p:spPr>
          <a:xfrm>
            <a:off x="7475220" y="4279392"/>
            <a:ext cx="2743200" cy="548640"/>
          </a:xfrm>
          <a:prstGeom prst="roundRect">
            <a:avLst>
              <a:gd name="adj" fmla="val 11667"/>
            </a:avLst>
          </a:prstGeom>
          <a:solidFill>
            <a:srgbClr val="1B3A2C"/>
          </a:solidFill>
          <a:ln w="15875">
            <a:solidFill>
              <a:srgbClr val="F2A93B"/>
            </a:solidFill>
            <a:prstDash val="solid"/>
          </a:ln>
        </p:spPr>
        <p:txBody>
          <a:bodyPr/>
          <a:lstStyle/>
          <a:p>
            <a:endParaRPr lang="en-US"/>
          </a:p>
        </p:txBody>
      </p:sp>
      <p:sp>
        <p:nvSpPr>
          <p:cNvPr id="24" name="Text 22"/>
          <p:cNvSpPr txBox="1"/>
          <p:nvPr/>
        </p:nvSpPr>
        <p:spPr>
          <a:xfrm>
            <a:off x="7520940" y="4279392"/>
            <a:ext cx="2651760" cy="548640"/>
          </a:xfrm>
          <a:prstGeom prst="rect">
            <a:avLst/>
          </a:prstGeom>
          <a:noFill/>
          <a:ln/>
        </p:spPr>
        <p:txBody>
          <a:bodyPr wrap="square" lIns="0" tIns="0" rIns="0" bIns="0" rtlCol="0" anchor="ctr"/>
          <a:lstStyle/>
          <a:p>
            <a:pPr marL="0" indent="0" algn="ctr">
              <a:lnSpc>
                <a:spcPct val="100000"/>
              </a:lnSpc>
              <a:buNone/>
            </a:pPr>
            <a:r>
              <a:rPr lang="en-US" sz="1200" b="1" dirty="0">
                <a:solidFill>
                  <a:srgbClr val="F3F7FA"/>
                </a:solidFill>
                <a:latin typeface="Calibri" pitchFamily="34" charset="0"/>
                <a:ea typeface="Calibri" pitchFamily="34" charset="-122"/>
                <a:cs typeface="Calibri" pitchFamily="34" charset="-120"/>
              </a:rPr>
              <a:t>Spark Structured Streaming</a:t>
            </a:r>
            <a:endParaRPr lang="en-US" sz="1200" dirty="0"/>
          </a:p>
        </p:txBody>
      </p:sp>
      <p:sp>
        <p:nvSpPr>
          <p:cNvPr id="25" name="Shape 23"/>
          <p:cNvSpPr/>
          <p:nvPr/>
        </p:nvSpPr>
        <p:spPr>
          <a:xfrm>
            <a:off x="5989320" y="5029200"/>
            <a:ext cx="5715000" cy="1097280"/>
          </a:xfrm>
          <a:prstGeom prst="roundRect">
            <a:avLst>
              <a:gd name="adj" fmla="val 6667"/>
            </a:avLst>
          </a:prstGeom>
          <a:solidFill>
            <a:srgbClr val="16324A"/>
          </a:solidFill>
          <a:ln w="12700">
            <a:solidFill>
              <a:srgbClr val="10263B"/>
            </a:solidFill>
            <a:prstDash val="solid"/>
          </a:ln>
        </p:spPr>
        <p:txBody>
          <a:bodyPr/>
          <a:lstStyle/>
          <a:p>
            <a:endParaRPr lang="en-US"/>
          </a:p>
        </p:txBody>
      </p:sp>
      <p:sp>
        <p:nvSpPr>
          <p:cNvPr id="26" name="Text 24"/>
          <p:cNvSpPr txBox="1"/>
          <p:nvPr/>
        </p:nvSpPr>
        <p:spPr>
          <a:xfrm>
            <a:off x="6172200" y="5138928"/>
            <a:ext cx="5349240" cy="914400"/>
          </a:xfrm>
          <a:prstGeom prst="rect">
            <a:avLst/>
          </a:prstGeom>
          <a:noFill/>
          <a:ln/>
        </p:spPr>
        <p:txBody>
          <a:bodyPr wrap="square" lIns="0" tIns="0" rIns="0" bIns="0" rtlCol="0" anchor="ctr"/>
          <a:lstStyle/>
          <a:p>
            <a:pPr marL="0" indent="0">
              <a:buNone/>
            </a:pPr>
            <a:r>
              <a:rPr lang="en-US" sz="1200" dirty="0">
                <a:solidFill>
                  <a:srgbClr val="93ABBE"/>
                </a:solidFill>
                <a:latin typeface="Calibri" pitchFamily="34" charset="0"/>
                <a:ea typeface="Calibri" pitchFamily="34" charset="-122"/>
                <a:cs typeface="Calibri" pitchFamily="34" charset="-120"/>
              </a:rPr>
              <a:t>Kafka is durable and replayable: on job restart, Spark resumes from the last committed checkpoint offset — no data is lost, no consumer is orphaned.</a:t>
            </a:r>
            <a:endParaRPr lang="en-US" sz="1200" dirty="0"/>
          </a:p>
        </p:txBody>
      </p:sp>
      <p:sp>
        <p:nvSpPr>
          <p:cNvPr id="27" name="Text 2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LAYER 2 — SPEED LAYER</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Spark Structured Streaming: The Three-Sink Fan-Out Pattern</a:t>
            </a:r>
            <a:endParaRPr lang="en-US" sz="3000" dirty="0"/>
          </a:p>
        </p:txBody>
      </p:sp>
      <p:sp>
        <p:nvSpPr>
          <p:cNvPr id="4" name="Shape 2"/>
          <p:cNvSpPr/>
          <p:nvPr/>
        </p:nvSpPr>
        <p:spPr>
          <a:xfrm>
            <a:off x="4631436" y="1417320"/>
            <a:ext cx="2926080" cy="502920"/>
          </a:xfrm>
          <a:prstGeom prst="roundRect">
            <a:avLst>
              <a:gd name="adj" fmla="val 12727"/>
            </a:avLst>
          </a:prstGeom>
          <a:solidFill>
            <a:srgbClr val="16324A"/>
          </a:solidFill>
          <a:ln w="15875">
            <a:solidFill>
              <a:srgbClr val="12A594"/>
            </a:solidFill>
            <a:prstDash val="solid"/>
          </a:ln>
        </p:spPr>
        <p:txBody>
          <a:bodyPr/>
          <a:lstStyle/>
          <a:p>
            <a:endParaRPr lang="en-US"/>
          </a:p>
        </p:txBody>
      </p:sp>
      <p:sp>
        <p:nvSpPr>
          <p:cNvPr id="5" name="Text 3"/>
          <p:cNvSpPr txBox="1"/>
          <p:nvPr/>
        </p:nvSpPr>
        <p:spPr>
          <a:xfrm>
            <a:off x="4677156" y="1417320"/>
            <a:ext cx="2834640" cy="502920"/>
          </a:xfrm>
          <a:prstGeom prst="rect">
            <a:avLst/>
          </a:prstGeom>
          <a:noFill/>
          <a:ln/>
        </p:spPr>
        <p:txBody>
          <a:bodyPr wrap="square" lIns="0" tIns="0" rIns="0" bIns="0" rtlCol="0" anchor="ctr"/>
          <a:lstStyle/>
          <a:p>
            <a:pPr marL="0" indent="0" algn="ctr">
              <a:lnSpc>
                <a:spcPct val="100000"/>
              </a:lnSpc>
              <a:buNone/>
            </a:pPr>
            <a:r>
              <a:rPr lang="en-US" sz="1200" b="1" dirty="0">
                <a:solidFill>
                  <a:srgbClr val="F3F7FA"/>
                </a:solidFill>
                <a:latin typeface="Calibri" pitchFamily="34" charset="0"/>
                <a:ea typeface="Calibri" pitchFamily="34" charset="-122"/>
                <a:cs typeface="Calibri" pitchFamily="34" charset="-120"/>
              </a:rPr>
              <a:t>Kafka: ais_raw_ingest</a:t>
            </a:r>
            <a:endParaRPr lang="en-US" sz="1200" dirty="0"/>
          </a:p>
        </p:txBody>
      </p:sp>
      <p:sp>
        <p:nvSpPr>
          <p:cNvPr id="6" name="Shape 4"/>
          <p:cNvSpPr/>
          <p:nvPr/>
        </p:nvSpPr>
        <p:spPr>
          <a:xfrm>
            <a:off x="6094476" y="1947672"/>
            <a:ext cx="0" cy="274320"/>
          </a:xfrm>
          <a:prstGeom prst="line">
            <a:avLst/>
          </a:prstGeom>
          <a:noFill/>
          <a:ln w="25400">
            <a:solidFill>
              <a:srgbClr val="12A594"/>
            </a:solidFill>
            <a:prstDash val="solid"/>
            <a:tailEnd type="triangle"/>
          </a:ln>
        </p:spPr>
        <p:txBody>
          <a:bodyPr/>
          <a:lstStyle/>
          <a:p>
            <a:endParaRPr lang="en-US"/>
          </a:p>
        </p:txBody>
      </p:sp>
      <p:sp>
        <p:nvSpPr>
          <p:cNvPr id="7" name="Shape 5"/>
          <p:cNvSpPr/>
          <p:nvPr/>
        </p:nvSpPr>
        <p:spPr>
          <a:xfrm>
            <a:off x="3991356" y="2249424"/>
            <a:ext cx="4206240" cy="502920"/>
          </a:xfrm>
          <a:prstGeom prst="roundRect">
            <a:avLst>
              <a:gd name="adj" fmla="val 12727"/>
            </a:avLst>
          </a:prstGeom>
          <a:solidFill>
            <a:srgbClr val="1B3A2C"/>
          </a:solidFill>
          <a:ln w="15875">
            <a:solidFill>
              <a:srgbClr val="F2A93B"/>
            </a:solidFill>
            <a:prstDash val="solid"/>
          </a:ln>
        </p:spPr>
        <p:txBody>
          <a:bodyPr/>
          <a:lstStyle/>
          <a:p>
            <a:endParaRPr lang="en-US"/>
          </a:p>
        </p:txBody>
      </p:sp>
      <p:sp>
        <p:nvSpPr>
          <p:cNvPr id="8" name="Text 6"/>
          <p:cNvSpPr txBox="1"/>
          <p:nvPr/>
        </p:nvSpPr>
        <p:spPr>
          <a:xfrm>
            <a:off x="4037076" y="2249424"/>
            <a:ext cx="4114800" cy="502920"/>
          </a:xfrm>
          <a:prstGeom prst="rect">
            <a:avLst/>
          </a:prstGeom>
          <a:noFill/>
          <a:ln/>
        </p:spPr>
        <p:txBody>
          <a:bodyPr wrap="square" lIns="0" tIns="0" rIns="0" bIns="0" rtlCol="0" anchor="ctr"/>
          <a:lstStyle/>
          <a:p>
            <a:pPr marL="0" indent="0" algn="ctr">
              <a:lnSpc>
                <a:spcPct val="100000"/>
              </a:lnSpc>
              <a:buNone/>
            </a:pPr>
            <a:r>
              <a:rPr lang="en-US" sz="1200" b="1" dirty="0">
                <a:solidFill>
                  <a:srgbClr val="F3F7FA"/>
                </a:solidFill>
                <a:latin typeface="Calibri" pitchFamily="34" charset="0"/>
                <a:ea typeface="Calibri" pitchFamily="34" charset="-122"/>
                <a:cs typeface="Calibri" pitchFamily="34" charset="-120"/>
              </a:rPr>
              <a:t>Validation + Enrichment  (watermark 2 min)</a:t>
            </a:r>
            <a:endParaRPr lang="en-US" sz="1200" dirty="0"/>
          </a:p>
        </p:txBody>
      </p:sp>
      <p:sp>
        <p:nvSpPr>
          <p:cNvPr id="9" name="Shape 7"/>
          <p:cNvSpPr/>
          <p:nvPr/>
        </p:nvSpPr>
        <p:spPr>
          <a:xfrm>
            <a:off x="6094476" y="2779776"/>
            <a:ext cx="0" cy="274320"/>
          </a:xfrm>
          <a:prstGeom prst="line">
            <a:avLst/>
          </a:prstGeom>
          <a:noFill/>
          <a:ln w="25400">
            <a:solidFill>
              <a:srgbClr val="F2A93B"/>
            </a:solidFill>
            <a:prstDash val="solid"/>
            <a:tailEnd type="triangle"/>
          </a:ln>
        </p:spPr>
        <p:txBody>
          <a:bodyPr/>
          <a:lstStyle/>
          <a:p>
            <a:endParaRPr lang="en-US"/>
          </a:p>
        </p:txBody>
      </p:sp>
      <p:sp>
        <p:nvSpPr>
          <p:cNvPr id="10" name="Shape 8"/>
          <p:cNvSpPr/>
          <p:nvPr/>
        </p:nvSpPr>
        <p:spPr>
          <a:xfrm>
            <a:off x="2020824" y="3054096"/>
            <a:ext cx="8147304" cy="0"/>
          </a:xfrm>
          <a:prstGeom prst="line">
            <a:avLst/>
          </a:prstGeom>
          <a:noFill/>
          <a:ln w="19050">
            <a:solidFill>
              <a:srgbClr val="6E8A9E"/>
            </a:solidFill>
            <a:prstDash val="solid"/>
          </a:ln>
        </p:spPr>
        <p:txBody>
          <a:bodyPr/>
          <a:lstStyle/>
          <a:p>
            <a:endParaRPr lang="en-US"/>
          </a:p>
        </p:txBody>
      </p:sp>
      <p:sp>
        <p:nvSpPr>
          <p:cNvPr id="11" name="Shape 9"/>
          <p:cNvSpPr/>
          <p:nvPr/>
        </p:nvSpPr>
        <p:spPr>
          <a:xfrm>
            <a:off x="2020824" y="3054096"/>
            <a:ext cx="0" cy="54864"/>
          </a:xfrm>
          <a:prstGeom prst="line">
            <a:avLst/>
          </a:prstGeom>
          <a:noFill/>
          <a:ln w="25400">
            <a:solidFill>
              <a:srgbClr val="12A594"/>
            </a:solidFill>
            <a:prstDash val="solid"/>
            <a:tailEnd type="triangle"/>
          </a:ln>
        </p:spPr>
        <p:txBody>
          <a:bodyPr/>
          <a:lstStyle/>
          <a:p>
            <a:endParaRPr lang="en-US"/>
          </a:p>
        </p:txBody>
      </p:sp>
      <p:sp>
        <p:nvSpPr>
          <p:cNvPr id="12" name="Shape 10"/>
          <p:cNvSpPr/>
          <p:nvPr/>
        </p:nvSpPr>
        <p:spPr>
          <a:xfrm>
            <a:off x="763524" y="3108960"/>
            <a:ext cx="2514600" cy="1371600"/>
          </a:xfrm>
          <a:prstGeom prst="roundRect">
            <a:avLst>
              <a:gd name="adj" fmla="val 4667"/>
            </a:avLst>
          </a:prstGeom>
          <a:solidFill>
            <a:srgbClr val="16324A"/>
          </a:solidFill>
          <a:ln w="15875">
            <a:solidFill>
              <a:srgbClr val="12A594"/>
            </a:solidFill>
            <a:prstDash val="solid"/>
          </a:ln>
        </p:spPr>
        <p:txBody>
          <a:bodyPr/>
          <a:lstStyle/>
          <a:p>
            <a:endParaRPr lang="en-US"/>
          </a:p>
        </p:txBody>
      </p:sp>
      <p:sp>
        <p:nvSpPr>
          <p:cNvPr id="13" name="Text 11"/>
          <p:cNvSpPr txBox="1"/>
          <p:nvPr/>
        </p:nvSpPr>
        <p:spPr>
          <a:xfrm>
            <a:off x="809244" y="3108960"/>
            <a:ext cx="2423160" cy="1371600"/>
          </a:xfrm>
          <a:prstGeom prst="rect">
            <a:avLst/>
          </a:prstGeom>
          <a:noFill/>
          <a:ln/>
        </p:spPr>
        <p:txBody>
          <a:bodyPr wrap="square" lIns="0" tIns="0" rIns="0" bIns="0" rtlCol="0" anchor="ctr"/>
          <a:lstStyle/>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Sink A — PostGIS</a:t>
            </a:r>
            <a:endParaRPr lang="en-US" sz="1100" dirty="0"/>
          </a:p>
          <a:p>
            <a:pPr marL="0" indent="0" algn="ctr">
              <a:lnSpc>
                <a:spcPct val="100000"/>
              </a:lnSpc>
              <a:buNone/>
            </a:pP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Upsert active_fleet_state</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(ON CONFLICT DO UPDATE,</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keyed on mmsi)</a:t>
            </a:r>
            <a:endParaRPr lang="en-US" sz="1100" dirty="0"/>
          </a:p>
        </p:txBody>
      </p:sp>
      <p:sp>
        <p:nvSpPr>
          <p:cNvPr id="14" name="Shape 12"/>
          <p:cNvSpPr/>
          <p:nvPr/>
        </p:nvSpPr>
        <p:spPr>
          <a:xfrm>
            <a:off x="4736592" y="3054096"/>
            <a:ext cx="0" cy="54864"/>
          </a:xfrm>
          <a:prstGeom prst="line">
            <a:avLst/>
          </a:prstGeom>
          <a:noFill/>
          <a:ln w="25400">
            <a:solidFill>
              <a:srgbClr val="F2A93B"/>
            </a:solidFill>
            <a:prstDash val="solid"/>
            <a:tailEnd type="triangle"/>
          </a:ln>
        </p:spPr>
        <p:txBody>
          <a:bodyPr/>
          <a:lstStyle/>
          <a:p>
            <a:endParaRPr lang="en-US"/>
          </a:p>
        </p:txBody>
      </p:sp>
      <p:sp>
        <p:nvSpPr>
          <p:cNvPr id="15" name="Shape 13"/>
          <p:cNvSpPr/>
          <p:nvPr/>
        </p:nvSpPr>
        <p:spPr>
          <a:xfrm>
            <a:off x="3479292" y="3108960"/>
            <a:ext cx="2514600" cy="1371600"/>
          </a:xfrm>
          <a:prstGeom prst="roundRect">
            <a:avLst>
              <a:gd name="adj" fmla="val 4667"/>
            </a:avLst>
          </a:prstGeom>
          <a:solidFill>
            <a:srgbClr val="16324A"/>
          </a:solidFill>
          <a:ln w="15875">
            <a:solidFill>
              <a:srgbClr val="F2A93B"/>
            </a:solidFill>
            <a:prstDash val="solid"/>
          </a:ln>
        </p:spPr>
        <p:txBody>
          <a:bodyPr/>
          <a:lstStyle/>
          <a:p>
            <a:endParaRPr lang="en-US"/>
          </a:p>
        </p:txBody>
      </p:sp>
      <p:sp>
        <p:nvSpPr>
          <p:cNvPr id="16" name="Text 14"/>
          <p:cNvSpPr txBox="1"/>
          <p:nvPr/>
        </p:nvSpPr>
        <p:spPr>
          <a:xfrm>
            <a:off x="3525012" y="3108960"/>
            <a:ext cx="2423160" cy="1371600"/>
          </a:xfrm>
          <a:prstGeom prst="rect">
            <a:avLst/>
          </a:prstGeom>
          <a:noFill/>
          <a:ln/>
        </p:spPr>
        <p:txBody>
          <a:bodyPr wrap="square" lIns="0" tIns="0" rIns="0" bIns="0" rtlCol="0" anchor="ctr"/>
          <a:lstStyle/>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Sink B — Kafka Alerts</a:t>
            </a:r>
            <a:endParaRPr lang="en-US" sz="1100" dirty="0"/>
          </a:p>
          <a:p>
            <a:pPr marL="0" indent="0" algn="ctr">
              <a:lnSpc>
                <a:spcPct val="100000"/>
              </a:lnSpc>
              <a:buNone/>
            </a:pP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vessel_speed_alerts</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filter: SOG &gt; 20.0 kts,</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decoupled from Sink A</a:t>
            </a:r>
            <a:endParaRPr lang="en-US" sz="1100" dirty="0"/>
          </a:p>
        </p:txBody>
      </p:sp>
      <p:sp>
        <p:nvSpPr>
          <p:cNvPr id="17" name="Shape 15"/>
          <p:cNvSpPr/>
          <p:nvPr/>
        </p:nvSpPr>
        <p:spPr>
          <a:xfrm>
            <a:off x="7452360" y="3054096"/>
            <a:ext cx="0" cy="54864"/>
          </a:xfrm>
          <a:prstGeom prst="line">
            <a:avLst/>
          </a:prstGeom>
          <a:noFill/>
          <a:ln w="25400">
            <a:solidFill>
              <a:srgbClr val="5FB8D9"/>
            </a:solidFill>
            <a:prstDash val="solid"/>
            <a:tailEnd type="triangle"/>
          </a:ln>
        </p:spPr>
        <p:txBody>
          <a:bodyPr/>
          <a:lstStyle/>
          <a:p>
            <a:endParaRPr lang="en-US"/>
          </a:p>
        </p:txBody>
      </p:sp>
      <p:sp>
        <p:nvSpPr>
          <p:cNvPr id="18" name="Shape 16"/>
          <p:cNvSpPr/>
          <p:nvPr/>
        </p:nvSpPr>
        <p:spPr>
          <a:xfrm>
            <a:off x="6195060" y="3108960"/>
            <a:ext cx="2514600" cy="1371600"/>
          </a:xfrm>
          <a:prstGeom prst="roundRect">
            <a:avLst>
              <a:gd name="adj" fmla="val 4667"/>
            </a:avLst>
          </a:prstGeom>
          <a:solidFill>
            <a:srgbClr val="16324A"/>
          </a:solidFill>
          <a:ln w="15875">
            <a:solidFill>
              <a:srgbClr val="5FB8D9"/>
            </a:solidFill>
            <a:prstDash val="solid"/>
          </a:ln>
        </p:spPr>
        <p:txBody>
          <a:bodyPr/>
          <a:lstStyle/>
          <a:p>
            <a:endParaRPr lang="en-US"/>
          </a:p>
        </p:txBody>
      </p:sp>
      <p:sp>
        <p:nvSpPr>
          <p:cNvPr id="19" name="Text 17"/>
          <p:cNvSpPr txBox="1"/>
          <p:nvPr/>
        </p:nvSpPr>
        <p:spPr>
          <a:xfrm>
            <a:off x="6240780" y="3108960"/>
            <a:ext cx="2423160" cy="1371600"/>
          </a:xfrm>
          <a:prstGeom prst="rect">
            <a:avLst/>
          </a:prstGeom>
          <a:noFill/>
          <a:ln/>
        </p:spPr>
        <p:txBody>
          <a:bodyPr wrap="square" lIns="0" tIns="0" rIns="0" bIns="0" rtlCol="0" anchor="ctr"/>
          <a:lstStyle/>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Sink C — HDFS Archive</a:t>
            </a:r>
            <a:endParaRPr lang="en-US" sz="1100" dirty="0"/>
          </a:p>
          <a:p>
            <a:pPr marL="0" indent="0" algn="ctr">
              <a:lnSpc>
                <a:spcPct val="100000"/>
              </a:lnSpc>
              <a:buNone/>
            </a:pP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Parquet + Snappy,</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partitioned by event date,</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immutable, append-only</a:t>
            </a:r>
            <a:endParaRPr lang="en-US" sz="1100" dirty="0"/>
          </a:p>
        </p:txBody>
      </p:sp>
      <p:sp>
        <p:nvSpPr>
          <p:cNvPr id="20" name="Shape 18"/>
          <p:cNvSpPr/>
          <p:nvPr/>
        </p:nvSpPr>
        <p:spPr>
          <a:xfrm>
            <a:off x="10168128" y="3054096"/>
            <a:ext cx="0" cy="54864"/>
          </a:xfrm>
          <a:prstGeom prst="line">
            <a:avLst/>
          </a:prstGeom>
          <a:noFill/>
          <a:ln w="25400">
            <a:solidFill>
              <a:srgbClr val="E85D4B"/>
            </a:solidFill>
            <a:prstDash val="solid"/>
            <a:tailEnd type="triangle"/>
          </a:ln>
        </p:spPr>
        <p:txBody>
          <a:bodyPr/>
          <a:lstStyle/>
          <a:p>
            <a:endParaRPr lang="en-US"/>
          </a:p>
        </p:txBody>
      </p:sp>
      <p:sp>
        <p:nvSpPr>
          <p:cNvPr id="21" name="Shape 19"/>
          <p:cNvSpPr/>
          <p:nvPr/>
        </p:nvSpPr>
        <p:spPr>
          <a:xfrm>
            <a:off x="8910828" y="3108960"/>
            <a:ext cx="2514600" cy="1371600"/>
          </a:xfrm>
          <a:prstGeom prst="roundRect">
            <a:avLst>
              <a:gd name="adj" fmla="val 4667"/>
            </a:avLst>
          </a:prstGeom>
          <a:solidFill>
            <a:srgbClr val="16324A"/>
          </a:solidFill>
          <a:ln w="15875">
            <a:solidFill>
              <a:srgbClr val="E85D4B"/>
            </a:solidFill>
            <a:prstDash val="solid"/>
          </a:ln>
        </p:spPr>
        <p:txBody>
          <a:bodyPr/>
          <a:lstStyle/>
          <a:p>
            <a:endParaRPr lang="en-US"/>
          </a:p>
        </p:txBody>
      </p:sp>
      <p:sp>
        <p:nvSpPr>
          <p:cNvPr id="22" name="Text 20"/>
          <p:cNvSpPr txBox="1"/>
          <p:nvPr/>
        </p:nvSpPr>
        <p:spPr>
          <a:xfrm>
            <a:off x="8956548" y="3108960"/>
            <a:ext cx="2423160" cy="1371600"/>
          </a:xfrm>
          <a:prstGeom prst="rect">
            <a:avLst/>
          </a:prstGeom>
          <a:noFill/>
          <a:ln/>
        </p:spPr>
        <p:txBody>
          <a:bodyPr wrap="square" lIns="0" tIns="0" rIns="0" bIns="0" rtlCol="0" anchor="ctr"/>
          <a:lstStyle/>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Rejects — Dead-Letter</a:t>
            </a:r>
            <a:endParaRPr lang="en-US" sz="1100" dirty="0"/>
          </a:p>
          <a:p>
            <a:pPr marL="0" indent="0" algn="ctr">
              <a:lnSpc>
                <a:spcPct val="100000"/>
              </a:lnSpc>
              <a:buNone/>
            </a:pP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/rejected/ais_streaming/</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rejection_reason +</a:t>
            </a:r>
            <a:endParaRPr lang="en-US" sz="1100" dirty="0"/>
          </a:p>
          <a:p>
            <a:pPr marL="0" indent="0" algn="ctr">
              <a:lnSpc>
                <a:spcPct val="100000"/>
              </a:lnSpc>
              <a:buNone/>
            </a:pPr>
            <a:r>
              <a:rPr lang="en-US" sz="1100" dirty="0">
                <a:solidFill>
                  <a:srgbClr val="F3F7FA"/>
                </a:solidFill>
                <a:latin typeface="Calibri" pitchFamily="34" charset="0"/>
                <a:ea typeface="Calibri" pitchFamily="34" charset="-122"/>
                <a:cs typeface="Calibri" pitchFamily="34" charset="-120"/>
              </a:rPr>
              <a:t>raw_payload preserved</a:t>
            </a:r>
            <a:endParaRPr lang="en-US" sz="1100" dirty="0"/>
          </a:p>
        </p:txBody>
      </p:sp>
      <p:sp>
        <p:nvSpPr>
          <p:cNvPr id="23" name="Shape 21"/>
          <p:cNvSpPr/>
          <p:nvPr/>
        </p:nvSpPr>
        <p:spPr>
          <a:xfrm>
            <a:off x="502920" y="4709160"/>
            <a:ext cx="11155680" cy="1463040"/>
          </a:xfrm>
          <a:prstGeom prst="roundRect">
            <a:avLst>
              <a:gd name="adj" fmla="val 5000"/>
            </a:avLst>
          </a:prstGeom>
          <a:solidFill>
            <a:srgbClr val="16324A"/>
          </a:solidFill>
          <a:ln w="12700">
            <a:solidFill>
              <a:srgbClr val="10263B"/>
            </a:solidFill>
            <a:prstDash val="solid"/>
          </a:ln>
        </p:spPr>
        <p:txBody>
          <a:bodyPr/>
          <a:lstStyle/>
          <a:p>
            <a:endParaRPr lang="en-US"/>
          </a:p>
        </p:txBody>
      </p:sp>
      <p:sp>
        <p:nvSpPr>
          <p:cNvPr id="24" name="Text 22"/>
          <p:cNvSpPr txBox="1"/>
          <p:nvPr/>
        </p:nvSpPr>
        <p:spPr>
          <a:xfrm>
            <a:off x="731520" y="4828032"/>
            <a:ext cx="10607040" cy="274320"/>
          </a:xfrm>
          <a:prstGeom prst="rect">
            <a:avLst/>
          </a:prstGeom>
          <a:noFill/>
          <a:ln/>
        </p:spPr>
        <p:txBody>
          <a:bodyPr wrap="square" lIns="0" tIns="0" rIns="0" bIns="0" rtlCol="0" anchor="ctr"/>
          <a:lstStyle/>
          <a:p>
            <a:pPr marL="0" indent="0">
              <a:buNone/>
            </a:pPr>
            <a:r>
              <a:rPr lang="en-US" sz="1300" b="1" dirty="0">
                <a:solidFill>
                  <a:srgbClr val="E85D4B"/>
                </a:solidFill>
                <a:latin typeface="Calibri" pitchFamily="34" charset="0"/>
                <a:ea typeface="Calibri" pitchFamily="34" charset="-122"/>
                <a:cs typeface="Calibri" pitchFamily="34" charset="-120"/>
              </a:rPr>
              <a:t>Rejected records are never silently discarded.</a:t>
            </a:r>
            <a:endParaRPr lang="en-US" sz="1300" dirty="0"/>
          </a:p>
        </p:txBody>
      </p:sp>
      <p:sp>
        <p:nvSpPr>
          <p:cNvPr id="25" name="Text 23"/>
          <p:cNvSpPr txBox="1"/>
          <p:nvPr/>
        </p:nvSpPr>
        <p:spPr>
          <a:xfrm>
            <a:off x="731520" y="5120640"/>
            <a:ext cx="10607040" cy="914400"/>
          </a:xfrm>
          <a:prstGeom prst="rect">
            <a:avLst/>
          </a:prstGeom>
          <a:noFill/>
          <a:ln/>
        </p:spPr>
        <p:txBody>
          <a:bodyPr wrap="square" lIns="0" tIns="0" rIns="0" bIns="0" rtlCol="0" anchor="ctr"/>
          <a:lstStyle/>
          <a:p>
            <a:pPr marL="0" indent="0">
              <a:buNone/>
            </a:pPr>
            <a:r>
              <a:rPr lang="en-US" sz="1250" dirty="0">
                <a:solidFill>
                  <a:srgbClr val="93ABBE"/>
                </a:solidFill>
                <a:latin typeface="Calibri" pitchFamily="34" charset="0"/>
                <a:ea typeface="Calibri" pitchFamily="34" charset="-122"/>
                <a:cs typeface="Calibri" pitchFamily="34" charset="-120"/>
              </a:rPr>
              <a:t>Malformed lat/lon, null MMSI, corrupted JSON, and checksum failures are routed to a dead-letter path with the reason and raw payload preserved — enabling offline root-cause triage instead of a silent data-quality gap.</a:t>
            </a:r>
            <a:endParaRPr lang="en-US" sz="1250" dirty="0"/>
          </a:p>
        </p:txBody>
      </p:sp>
      <p:sp>
        <p:nvSpPr>
          <p:cNvPr id="26" name="Text 24"/>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REAL ENGINEERING PROBLEM</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Diagnosing &amp; Fixing a PostgreSQL 40P01 Deadlock</a:t>
            </a:r>
            <a:endParaRPr lang="en-US" sz="3000" dirty="0"/>
          </a:p>
        </p:txBody>
      </p:sp>
      <p:sp>
        <p:nvSpPr>
          <p:cNvPr id="4" name="Shape 2"/>
          <p:cNvSpPr/>
          <p:nvPr/>
        </p:nvSpPr>
        <p:spPr>
          <a:xfrm>
            <a:off x="502920" y="1554480"/>
            <a:ext cx="5120640" cy="4480560"/>
          </a:xfrm>
          <a:prstGeom prst="roundRect">
            <a:avLst>
              <a:gd name="adj" fmla="val 1633"/>
            </a:avLst>
          </a:prstGeom>
          <a:solidFill>
            <a:srgbClr val="2E1414"/>
          </a:solidFill>
          <a:ln w="12700">
            <a:solidFill>
              <a:srgbClr val="10263B"/>
            </a:solidFill>
            <a:prstDash val="solid"/>
          </a:ln>
        </p:spPr>
        <p:txBody>
          <a:bodyPr/>
          <a:lstStyle/>
          <a:p>
            <a:endParaRPr lang="en-US"/>
          </a:p>
        </p:txBody>
      </p:sp>
      <p:sp>
        <p:nvSpPr>
          <p:cNvPr id="5" name="Text 3"/>
          <p:cNvSpPr txBox="1"/>
          <p:nvPr/>
        </p:nvSpPr>
        <p:spPr>
          <a:xfrm>
            <a:off x="731520" y="1691640"/>
            <a:ext cx="4663440" cy="365760"/>
          </a:xfrm>
          <a:prstGeom prst="rect">
            <a:avLst/>
          </a:prstGeom>
          <a:noFill/>
          <a:ln/>
        </p:spPr>
        <p:txBody>
          <a:bodyPr wrap="square" lIns="0" tIns="0" rIns="0" bIns="0" rtlCol="0" anchor="ctr"/>
          <a:lstStyle/>
          <a:p>
            <a:pPr marL="0" indent="0">
              <a:buNone/>
            </a:pPr>
            <a:r>
              <a:rPr lang="en-US" sz="1600" b="1" dirty="0">
                <a:solidFill>
                  <a:srgbClr val="E85D4B"/>
                </a:solidFill>
                <a:latin typeface="Calibri" pitchFamily="34" charset="0"/>
                <a:ea typeface="Calibri" pitchFamily="34" charset="-122"/>
                <a:cs typeface="Calibri" pitchFamily="34" charset="-120"/>
              </a:rPr>
              <a:t>BEFORE — Deadlock</a:t>
            </a:r>
            <a:endParaRPr lang="en-US" sz="1600" dirty="0"/>
          </a:p>
        </p:txBody>
      </p:sp>
      <p:sp>
        <p:nvSpPr>
          <p:cNvPr id="6" name="Shape 4"/>
          <p:cNvSpPr/>
          <p:nvPr/>
        </p:nvSpPr>
        <p:spPr>
          <a:xfrm>
            <a:off x="777240" y="2194560"/>
            <a:ext cx="2194560" cy="822960"/>
          </a:xfrm>
          <a:prstGeom prst="roundRect">
            <a:avLst>
              <a:gd name="adj" fmla="val 7778"/>
            </a:avLst>
          </a:prstGeom>
          <a:solidFill>
            <a:srgbClr val="3A1A1A"/>
          </a:solidFill>
          <a:ln w="15875">
            <a:solidFill>
              <a:srgbClr val="E85D4B"/>
            </a:solidFill>
            <a:prstDash val="solid"/>
          </a:ln>
        </p:spPr>
        <p:txBody>
          <a:bodyPr/>
          <a:lstStyle/>
          <a:p>
            <a:endParaRPr lang="en-US"/>
          </a:p>
        </p:txBody>
      </p:sp>
      <p:sp>
        <p:nvSpPr>
          <p:cNvPr id="7" name="Text 5"/>
          <p:cNvSpPr txBox="1"/>
          <p:nvPr/>
        </p:nvSpPr>
        <p:spPr>
          <a:xfrm>
            <a:off x="822960" y="2194560"/>
            <a:ext cx="2103120" cy="82296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Spark Executor A</a:t>
            </a:r>
            <a:endParaRPr lang="en-US" sz="1100" dirty="0"/>
          </a:p>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 MMSI X</a:t>
            </a:r>
            <a:endParaRPr lang="en-US" sz="1100" dirty="0"/>
          </a:p>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 MMSI Y</a:t>
            </a:r>
            <a:endParaRPr lang="en-US" sz="1100" dirty="0"/>
          </a:p>
        </p:txBody>
      </p:sp>
      <p:sp>
        <p:nvSpPr>
          <p:cNvPr id="8" name="Shape 6"/>
          <p:cNvSpPr/>
          <p:nvPr/>
        </p:nvSpPr>
        <p:spPr>
          <a:xfrm>
            <a:off x="3154680" y="2194560"/>
            <a:ext cx="2194560" cy="822960"/>
          </a:xfrm>
          <a:prstGeom prst="roundRect">
            <a:avLst>
              <a:gd name="adj" fmla="val 7778"/>
            </a:avLst>
          </a:prstGeom>
          <a:solidFill>
            <a:srgbClr val="3A1A1A"/>
          </a:solidFill>
          <a:ln w="15875">
            <a:solidFill>
              <a:srgbClr val="E85D4B"/>
            </a:solidFill>
            <a:prstDash val="solid"/>
          </a:ln>
        </p:spPr>
        <p:txBody>
          <a:bodyPr/>
          <a:lstStyle/>
          <a:p>
            <a:endParaRPr lang="en-US"/>
          </a:p>
        </p:txBody>
      </p:sp>
      <p:sp>
        <p:nvSpPr>
          <p:cNvPr id="9" name="Text 7"/>
          <p:cNvSpPr txBox="1"/>
          <p:nvPr/>
        </p:nvSpPr>
        <p:spPr>
          <a:xfrm>
            <a:off x="3200400" y="2194560"/>
            <a:ext cx="2103120" cy="82296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Spark Executor B</a:t>
            </a:r>
            <a:endParaRPr lang="en-US" sz="1100" dirty="0"/>
          </a:p>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 MMSI Y</a:t>
            </a:r>
            <a:endParaRPr lang="en-US" sz="1100" dirty="0"/>
          </a:p>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 MMSI X</a:t>
            </a:r>
            <a:endParaRPr lang="en-US" sz="1100" dirty="0"/>
          </a:p>
        </p:txBody>
      </p:sp>
      <p:sp>
        <p:nvSpPr>
          <p:cNvPr id="10" name="Shape 8"/>
          <p:cNvSpPr/>
          <p:nvPr/>
        </p:nvSpPr>
        <p:spPr>
          <a:xfrm>
            <a:off x="3063240" y="3063240"/>
            <a:ext cx="0" cy="320040"/>
          </a:xfrm>
          <a:prstGeom prst="line">
            <a:avLst/>
          </a:prstGeom>
          <a:noFill/>
          <a:ln w="25400">
            <a:solidFill>
              <a:srgbClr val="E85D4B"/>
            </a:solidFill>
            <a:prstDash val="solid"/>
            <a:tailEnd type="triangle"/>
          </a:ln>
        </p:spPr>
        <p:txBody>
          <a:bodyPr/>
          <a:lstStyle/>
          <a:p>
            <a:endParaRPr lang="en-US"/>
          </a:p>
        </p:txBody>
      </p:sp>
      <p:sp>
        <p:nvSpPr>
          <p:cNvPr id="11" name="Shape 9"/>
          <p:cNvSpPr/>
          <p:nvPr/>
        </p:nvSpPr>
        <p:spPr>
          <a:xfrm>
            <a:off x="777240" y="3520440"/>
            <a:ext cx="4572000" cy="548640"/>
          </a:xfrm>
          <a:prstGeom prst="roundRect">
            <a:avLst>
              <a:gd name="adj" fmla="val 11667"/>
            </a:avLst>
          </a:prstGeom>
          <a:solidFill>
            <a:srgbClr val="3A1A1A"/>
          </a:solidFill>
          <a:ln w="15875">
            <a:solidFill>
              <a:srgbClr val="E85D4B"/>
            </a:solidFill>
            <a:prstDash val="solid"/>
          </a:ln>
        </p:spPr>
        <p:txBody>
          <a:bodyPr/>
          <a:lstStyle/>
          <a:p>
            <a:endParaRPr lang="en-US"/>
          </a:p>
        </p:txBody>
      </p:sp>
      <p:sp>
        <p:nvSpPr>
          <p:cNvPr id="12" name="Text 10"/>
          <p:cNvSpPr txBox="1"/>
          <p:nvPr/>
        </p:nvSpPr>
        <p:spPr>
          <a:xfrm>
            <a:off x="822960" y="3520440"/>
            <a:ext cx="4480560" cy="54864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PostgreSQL row-level locks (conflicting order)</a:t>
            </a:r>
            <a:endParaRPr lang="en-US" sz="1150" dirty="0"/>
          </a:p>
        </p:txBody>
      </p:sp>
      <p:sp>
        <p:nvSpPr>
          <p:cNvPr id="13" name="Shape 11"/>
          <p:cNvSpPr/>
          <p:nvPr/>
        </p:nvSpPr>
        <p:spPr>
          <a:xfrm>
            <a:off x="3063240" y="4114800"/>
            <a:ext cx="0" cy="320040"/>
          </a:xfrm>
          <a:prstGeom prst="line">
            <a:avLst/>
          </a:prstGeom>
          <a:noFill/>
          <a:ln w="25400">
            <a:solidFill>
              <a:srgbClr val="E85D4B"/>
            </a:solidFill>
            <a:prstDash val="solid"/>
            <a:tailEnd type="triangle"/>
          </a:ln>
        </p:spPr>
        <p:txBody>
          <a:bodyPr/>
          <a:lstStyle/>
          <a:p>
            <a:endParaRPr lang="en-US"/>
          </a:p>
        </p:txBody>
      </p:sp>
      <p:sp>
        <p:nvSpPr>
          <p:cNvPr id="14" name="Shape 12"/>
          <p:cNvSpPr/>
          <p:nvPr/>
        </p:nvSpPr>
        <p:spPr>
          <a:xfrm>
            <a:off x="777240" y="4480560"/>
            <a:ext cx="4572000" cy="640080"/>
          </a:xfrm>
          <a:prstGeom prst="roundRect">
            <a:avLst>
              <a:gd name="adj" fmla="val 10000"/>
            </a:avLst>
          </a:prstGeom>
          <a:solidFill>
            <a:srgbClr val="521C1C"/>
          </a:solidFill>
          <a:ln w="15875">
            <a:solidFill>
              <a:srgbClr val="E85D4B"/>
            </a:solidFill>
            <a:prstDash val="solid"/>
          </a:ln>
        </p:spPr>
        <p:txBody>
          <a:bodyPr/>
          <a:lstStyle/>
          <a:p>
            <a:endParaRPr lang="en-US"/>
          </a:p>
        </p:txBody>
      </p:sp>
      <p:sp>
        <p:nvSpPr>
          <p:cNvPr id="15" name="Text 13"/>
          <p:cNvSpPr txBox="1"/>
          <p:nvPr/>
        </p:nvSpPr>
        <p:spPr>
          <a:xfrm>
            <a:off x="822960" y="4480560"/>
            <a:ext cx="4480560" cy="640080"/>
          </a:xfrm>
          <a:prstGeom prst="rect">
            <a:avLst/>
          </a:prstGeom>
          <a:noFill/>
          <a:ln/>
        </p:spPr>
        <p:txBody>
          <a:bodyPr wrap="square" lIns="0" tIns="0" rIns="0" bIns="0" rtlCol="0" anchor="ctr"/>
          <a:lstStyle/>
          <a:p>
            <a:pPr marL="0" indent="0" algn="ctr">
              <a:lnSpc>
                <a:spcPct val="100000"/>
              </a:lnSpc>
              <a:buNone/>
            </a:pPr>
            <a:r>
              <a:rPr lang="en-US" sz="1500" b="1" dirty="0">
                <a:solidFill>
                  <a:srgbClr val="FFD5CC"/>
                </a:solidFill>
                <a:latin typeface="Calibri" pitchFamily="34" charset="0"/>
                <a:ea typeface="Calibri" pitchFamily="34" charset="-122"/>
                <a:cs typeface="Calibri" pitchFamily="34" charset="-120"/>
              </a:rPr>
              <a:t>40P01  DEADLOCK DETECTED</a:t>
            </a:r>
            <a:endParaRPr lang="en-US" sz="1500" dirty="0"/>
          </a:p>
        </p:txBody>
      </p:sp>
      <p:sp>
        <p:nvSpPr>
          <p:cNvPr id="16" name="Text 14"/>
          <p:cNvSpPr txBox="1"/>
          <p:nvPr/>
        </p:nvSpPr>
        <p:spPr>
          <a:xfrm>
            <a:off x="731520" y="5257800"/>
            <a:ext cx="4663440" cy="685800"/>
          </a:xfrm>
          <a:prstGeom prst="rect">
            <a:avLst/>
          </a:prstGeom>
          <a:noFill/>
          <a:ln/>
        </p:spPr>
        <p:txBody>
          <a:bodyPr wrap="square" lIns="0" tIns="0" rIns="0" bIns="0" rtlCol="0" anchor="ctr"/>
          <a:lstStyle/>
          <a:p>
            <a:pPr marL="0" indent="0">
              <a:buNone/>
            </a:pPr>
            <a:r>
              <a:rPr lang="en-US" sz="1050" dirty="0">
                <a:solidFill>
                  <a:srgbClr val="E8B9B0"/>
                </a:solidFill>
                <a:latin typeface="Calibri" pitchFamily="34" charset="0"/>
                <a:ea typeface="Calibri" pitchFamily="34" charset="-122"/>
                <a:cs typeface="Calibri" pitchFamily="34" charset="-120"/>
              </a:rPr>
              <a:t>Root cause: foreachBatch writes run in parallel across executors. Two transactions with overlapping MMSIs, locked in different row order, wait on each other forever.</a:t>
            </a:r>
            <a:endParaRPr lang="en-US" sz="1050" dirty="0"/>
          </a:p>
        </p:txBody>
      </p:sp>
      <p:sp>
        <p:nvSpPr>
          <p:cNvPr id="17" name="Shape 15"/>
          <p:cNvSpPr/>
          <p:nvPr/>
        </p:nvSpPr>
        <p:spPr>
          <a:xfrm>
            <a:off x="6080760" y="1554480"/>
            <a:ext cx="5120640" cy="4480560"/>
          </a:xfrm>
          <a:prstGeom prst="roundRect">
            <a:avLst>
              <a:gd name="adj" fmla="val 1633"/>
            </a:avLst>
          </a:prstGeom>
          <a:solidFill>
            <a:srgbClr val="0F2A22"/>
          </a:solidFill>
          <a:ln w="12700">
            <a:solidFill>
              <a:srgbClr val="10263B"/>
            </a:solidFill>
            <a:prstDash val="solid"/>
          </a:ln>
        </p:spPr>
        <p:txBody>
          <a:bodyPr/>
          <a:lstStyle/>
          <a:p>
            <a:endParaRPr lang="en-US"/>
          </a:p>
        </p:txBody>
      </p:sp>
      <p:sp>
        <p:nvSpPr>
          <p:cNvPr id="18" name="Text 16"/>
          <p:cNvSpPr txBox="1"/>
          <p:nvPr/>
        </p:nvSpPr>
        <p:spPr>
          <a:xfrm>
            <a:off x="6309360" y="1691640"/>
            <a:ext cx="4663440" cy="365760"/>
          </a:xfrm>
          <a:prstGeom prst="rect">
            <a:avLst/>
          </a:prstGeom>
          <a:noFill/>
          <a:ln/>
        </p:spPr>
        <p:txBody>
          <a:bodyPr wrap="square" lIns="0" tIns="0" rIns="0" bIns="0" rtlCol="0" anchor="ctr"/>
          <a:lstStyle/>
          <a:p>
            <a:pPr marL="0" indent="0">
              <a:buNone/>
            </a:pPr>
            <a:r>
              <a:rPr lang="en-US" sz="1600" b="1" dirty="0">
                <a:solidFill>
                  <a:srgbClr val="12A594"/>
                </a:solidFill>
                <a:latin typeface="Calibri" pitchFamily="34" charset="0"/>
                <a:ea typeface="Calibri" pitchFamily="34" charset="-122"/>
                <a:cs typeface="Calibri" pitchFamily="34" charset="-120"/>
              </a:rPr>
              <a:t>AFTER — Fixed</a:t>
            </a:r>
            <a:endParaRPr lang="en-US" sz="1600" dirty="0"/>
          </a:p>
        </p:txBody>
      </p:sp>
      <p:sp>
        <p:nvSpPr>
          <p:cNvPr id="19" name="Shape 17"/>
          <p:cNvSpPr/>
          <p:nvPr/>
        </p:nvSpPr>
        <p:spPr>
          <a:xfrm>
            <a:off x="6355080" y="2194560"/>
            <a:ext cx="4572000" cy="594360"/>
          </a:xfrm>
          <a:prstGeom prst="roundRect">
            <a:avLst>
              <a:gd name="adj" fmla="val 10769"/>
            </a:avLst>
          </a:prstGeom>
          <a:solidFill>
            <a:srgbClr val="16382E"/>
          </a:solidFill>
          <a:ln w="15875">
            <a:solidFill>
              <a:srgbClr val="12A594"/>
            </a:solidFill>
            <a:prstDash val="solid"/>
          </a:ln>
        </p:spPr>
        <p:txBody>
          <a:bodyPr/>
          <a:lstStyle/>
          <a:p>
            <a:endParaRPr lang="en-US"/>
          </a:p>
        </p:txBody>
      </p:sp>
      <p:sp>
        <p:nvSpPr>
          <p:cNvPr id="20" name="Text 18"/>
          <p:cNvSpPr txBox="1"/>
          <p:nvPr/>
        </p:nvSpPr>
        <p:spPr>
          <a:xfrm>
            <a:off x="6400800" y="2194560"/>
            <a:ext cx="4480560" cy="59436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Kafka partitioning by MMSI (existing)</a:t>
            </a:r>
            <a:endParaRPr lang="en-US" sz="1150" dirty="0"/>
          </a:p>
        </p:txBody>
      </p:sp>
      <p:sp>
        <p:nvSpPr>
          <p:cNvPr id="21" name="Shape 19"/>
          <p:cNvSpPr/>
          <p:nvPr/>
        </p:nvSpPr>
        <p:spPr>
          <a:xfrm>
            <a:off x="8641080" y="2788920"/>
            <a:ext cx="0" cy="256032"/>
          </a:xfrm>
          <a:prstGeom prst="line">
            <a:avLst/>
          </a:prstGeom>
          <a:noFill/>
          <a:ln w="25400">
            <a:solidFill>
              <a:srgbClr val="12A594"/>
            </a:solidFill>
            <a:prstDash val="solid"/>
            <a:tailEnd type="triangle"/>
          </a:ln>
        </p:spPr>
        <p:txBody>
          <a:bodyPr/>
          <a:lstStyle/>
          <a:p>
            <a:endParaRPr lang="en-US"/>
          </a:p>
        </p:txBody>
      </p:sp>
      <p:sp>
        <p:nvSpPr>
          <p:cNvPr id="22" name="Shape 20"/>
          <p:cNvSpPr/>
          <p:nvPr/>
        </p:nvSpPr>
        <p:spPr>
          <a:xfrm>
            <a:off x="6355080" y="3044952"/>
            <a:ext cx="4572000" cy="594360"/>
          </a:xfrm>
          <a:prstGeom prst="roundRect">
            <a:avLst>
              <a:gd name="adj" fmla="val 10769"/>
            </a:avLst>
          </a:prstGeom>
          <a:solidFill>
            <a:srgbClr val="16382E"/>
          </a:solidFill>
          <a:ln w="15875">
            <a:solidFill>
              <a:srgbClr val="12A594"/>
            </a:solidFill>
            <a:prstDash val="solid"/>
          </a:ln>
        </p:spPr>
        <p:txBody>
          <a:bodyPr/>
          <a:lstStyle/>
          <a:p>
            <a:endParaRPr lang="en-US"/>
          </a:p>
        </p:txBody>
      </p:sp>
      <p:sp>
        <p:nvSpPr>
          <p:cNvPr id="23" name="Text 21"/>
          <p:cNvSpPr txBox="1"/>
          <p:nvPr/>
        </p:nvSpPr>
        <p:spPr>
          <a:xfrm>
            <a:off x="6400800" y="3044952"/>
            <a:ext cx="4480560" cy="59436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Spark repartition(N, col("mmsi"))</a:t>
            </a:r>
            <a:endParaRPr lang="en-US" sz="1150" dirty="0"/>
          </a:p>
        </p:txBody>
      </p:sp>
      <p:sp>
        <p:nvSpPr>
          <p:cNvPr id="24" name="Shape 22"/>
          <p:cNvSpPr/>
          <p:nvPr/>
        </p:nvSpPr>
        <p:spPr>
          <a:xfrm>
            <a:off x="8641080" y="3639312"/>
            <a:ext cx="0" cy="256032"/>
          </a:xfrm>
          <a:prstGeom prst="line">
            <a:avLst/>
          </a:prstGeom>
          <a:noFill/>
          <a:ln w="25400">
            <a:solidFill>
              <a:srgbClr val="12A594"/>
            </a:solidFill>
            <a:prstDash val="solid"/>
            <a:tailEnd type="triangle"/>
          </a:ln>
        </p:spPr>
        <p:txBody>
          <a:bodyPr/>
          <a:lstStyle/>
          <a:p>
            <a:endParaRPr lang="en-US"/>
          </a:p>
        </p:txBody>
      </p:sp>
      <p:sp>
        <p:nvSpPr>
          <p:cNvPr id="25" name="Shape 23"/>
          <p:cNvSpPr/>
          <p:nvPr/>
        </p:nvSpPr>
        <p:spPr>
          <a:xfrm>
            <a:off x="6355080" y="3895344"/>
            <a:ext cx="4572000" cy="594360"/>
          </a:xfrm>
          <a:prstGeom prst="roundRect">
            <a:avLst>
              <a:gd name="adj" fmla="val 10769"/>
            </a:avLst>
          </a:prstGeom>
          <a:solidFill>
            <a:srgbClr val="16382E"/>
          </a:solidFill>
          <a:ln w="15875">
            <a:solidFill>
              <a:srgbClr val="12A594"/>
            </a:solidFill>
            <a:prstDash val="solid"/>
          </a:ln>
        </p:spPr>
        <p:txBody>
          <a:bodyPr/>
          <a:lstStyle/>
          <a:p>
            <a:endParaRPr lang="en-US"/>
          </a:p>
        </p:txBody>
      </p:sp>
      <p:sp>
        <p:nvSpPr>
          <p:cNvPr id="26" name="Text 24"/>
          <p:cNvSpPr txBox="1"/>
          <p:nvPr/>
        </p:nvSpPr>
        <p:spPr>
          <a:xfrm>
            <a:off x="6400800" y="3895344"/>
            <a:ext cx="4480560" cy="594360"/>
          </a:xfrm>
          <a:prstGeom prst="rect">
            <a:avLst/>
          </a:prstGeom>
          <a:noFill/>
          <a:ln/>
        </p:spPr>
        <p:txBody>
          <a:bodyPr wrap="square" lIns="0" tIns="0" rIns="0" bIns="0" rtlCol="0" anchor="ctr"/>
          <a:lstStyle/>
          <a:p>
            <a:pPr marL="0" indent="0" algn="ctr">
              <a:lnSpc>
                <a:spcPct val="100000"/>
              </a:lnSpc>
              <a:buNone/>
            </a:pPr>
            <a:r>
              <a:rPr lang="en-US" sz="1150" b="1" dirty="0">
                <a:solidFill>
                  <a:srgbClr val="F3F7FA"/>
                </a:solidFill>
                <a:latin typeface="Calibri" pitchFamily="34" charset="0"/>
                <a:ea typeface="Calibri" pitchFamily="34" charset="-122"/>
                <a:cs typeface="Calibri" pitchFamily="34" charset="-120"/>
              </a:rPr>
              <a:t>Intra-batch dropDuplicates(["mmsi"])</a:t>
            </a:r>
            <a:endParaRPr lang="en-US" sz="1150" dirty="0"/>
          </a:p>
        </p:txBody>
      </p:sp>
      <p:sp>
        <p:nvSpPr>
          <p:cNvPr id="27" name="Shape 25"/>
          <p:cNvSpPr/>
          <p:nvPr/>
        </p:nvSpPr>
        <p:spPr>
          <a:xfrm>
            <a:off x="8641080" y="4489704"/>
            <a:ext cx="0" cy="256032"/>
          </a:xfrm>
          <a:prstGeom prst="line">
            <a:avLst/>
          </a:prstGeom>
          <a:noFill/>
          <a:ln w="25400">
            <a:solidFill>
              <a:srgbClr val="12A594"/>
            </a:solidFill>
            <a:prstDash val="solid"/>
            <a:tailEnd type="triangle"/>
          </a:ln>
        </p:spPr>
        <p:txBody>
          <a:bodyPr/>
          <a:lstStyle/>
          <a:p>
            <a:endParaRPr lang="en-US"/>
          </a:p>
        </p:txBody>
      </p:sp>
      <p:sp>
        <p:nvSpPr>
          <p:cNvPr id="28" name="Shape 26"/>
          <p:cNvSpPr/>
          <p:nvPr/>
        </p:nvSpPr>
        <p:spPr>
          <a:xfrm>
            <a:off x="6355080" y="4745736"/>
            <a:ext cx="4572000" cy="640080"/>
          </a:xfrm>
          <a:prstGeom prst="roundRect">
            <a:avLst>
              <a:gd name="adj" fmla="val 10000"/>
            </a:avLst>
          </a:prstGeom>
          <a:solidFill>
            <a:srgbClr val="123A2E"/>
          </a:solidFill>
          <a:ln w="15875">
            <a:solidFill>
              <a:srgbClr val="12A594"/>
            </a:solidFill>
            <a:prstDash val="solid"/>
          </a:ln>
        </p:spPr>
        <p:txBody>
          <a:bodyPr/>
          <a:lstStyle/>
          <a:p>
            <a:endParaRPr lang="en-US"/>
          </a:p>
        </p:txBody>
      </p:sp>
      <p:sp>
        <p:nvSpPr>
          <p:cNvPr id="29" name="Text 27"/>
          <p:cNvSpPr txBox="1"/>
          <p:nvPr/>
        </p:nvSpPr>
        <p:spPr>
          <a:xfrm>
            <a:off x="6400800" y="4745736"/>
            <a:ext cx="4480560" cy="640080"/>
          </a:xfrm>
          <a:prstGeom prst="rect">
            <a:avLst/>
          </a:prstGeom>
          <a:noFill/>
          <a:ln/>
        </p:spPr>
        <p:txBody>
          <a:bodyPr wrap="square" lIns="0" tIns="0" rIns="0" bIns="0" rtlCol="0" anchor="ctr"/>
          <a:lstStyle/>
          <a:p>
            <a:pPr marL="0" indent="0" algn="ctr">
              <a:lnSpc>
                <a:spcPct val="100000"/>
              </a:lnSpc>
              <a:buNone/>
            </a:pPr>
            <a:r>
              <a:rPr lang="en-US" sz="1250" b="1" dirty="0">
                <a:solidFill>
                  <a:srgbClr val="D9F5E9"/>
                </a:solidFill>
                <a:latin typeface="Calibri" pitchFamily="34" charset="0"/>
                <a:ea typeface="Calibri" pitchFamily="34" charset="-122"/>
                <a:cs typeface="Calibri" pitchFamily="34" charset="-120"/>
              </a:rPr>
              <a:t>One MMSI → one writer</a:t>
            </a:r>
            <a:endParaRPr lang="en-US" sz="1250" dirty="0"/>
          </a:p>
          <a:p>
            <a:pPr marL="0" indent="0" algn="ctr">
              <a:lnSpc>
                <a:spcPct val="100000"/>
              </a:lnSpc>
              <a:buNone/>
            </a:pPr>
            <a:r>
              <a:rPr lang="en-US" sz="1250" b="1" dirty="0">
                <a:solidFill>
                  <a:srgbClr val="D9F5E9"/>
                </a:solidFill>
                <a:latin typeface="Calibri" pitchFamily="34" charset="0"/>
                <a:ea typeface="Calibri" pitchFamily="34" charset="-122"/>
                <a:cs typeface="Calibri" pitchFamily="34" charset="-120"/>
              </a:rPr>
              <a:t>No cross-transaction lock conflict</a:t>
            </a:r>
            <a:endParaRPr lang="en-US" sz="1250" dirty="0"/>
          </a:p>
        </p:txBody>
      </p:sp>
      <p:sp>
        <p:nvSpPr>
          <p:cNvPr id="30" name="Text 28"/>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LAYER 3 — BATCH STORAGE</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HDFS Data Lake: The Immutable Historical Layer</a:t>
            </a:r>
            <a:endParaRPr lang="en-US" sz="3000" dirty="0"/>
          </a:p>
        </p:txBody>
      </p:sp>
      <p:sp>
        <p:nvSpPr>
          <p:cNvPr id="4" name="Shape 2"/>
          <p:cNvSpPr/>
          <p:nvPr/>
        </p:nvSpPr>
        <p:spPr>
          <a:xfrm>
            <a:off x="502920" y="1600200"/>
            <a:ext cx="5120640" cy="4480560"/>
          </a:xfrm>
          <a:prstGeom prst="roundRect">
            <a:avLst>
              <a:gd name="adj" fmla="val 1633"/>
            </a:avLst>
          </a:prstGeom>
          <a:solidFill>
            <a:srgbClr val="132E42"/>
          </a:solidFill>
          <a:ln w="12700">
            <a:solidFill>
              <a:srgbClr val="10263B"/>
            </a:solidFill>
            <a:prstDash val="solid"/>
          </a:ln>
        </p:spPr>
        <p:txBody>
          <a:bodyPr/>
          <a:lstStyle/>
          <a:p>
            <a:endParaRPr lang="en-US"/>
          </a:p>
        </p:txBody>
      </p:sp>
      <p:sp>
        <p:nvSpPr>
          <p:cNvPr id="5" name="Text 3"/>
          <p:cNvSpPr txBox="1"/>
          <p:nvPr/>
        </p:nvSpPr>
        <p:spPr>
          <a:xfrm>
            <a:off x="731520" y="1737360"/>
            <a:ext cx="4572000" cy="274320"/>
          </a:xfrm>
          <a:prstGeom prst="rect">
            <a:avLst/>
          </a:prstGeom>
          <a:noFill/>
          <a:ln/>
        </p:spPr>
        <p:txBody>
          <a:bodyPr wrap="square" lIns="0" tIns="0" rIns="0" bIns="0" rtlCol="0" anchor="ctr"/>
          <a:lstStyle/>
          <a:p>
            <a:pPr marL="0" indent="0">
              <a:buNone/>
            </a:pPr>
            <a:r>
              <a:rPr lang="en-US" sz="1300" b="1" dirty="0">
                <a:solidFill>
                  <a:srgbClr val="5FB8D9"/>
                </a:solidFill>
                <a:latin typeface="Consolas" pitchFamily="34" charset="0"/>
                <a:ea typeface="Consolas" pitchFamily="34" charset="-122"/>
                <a:cs typeface="Consolas" pitchFamily="34" charset="-120"/>
              </a:rPr>
              <a:t>hdfs:///</a:t>
            </a:r>
            <a:endParaRPr lang="en-US" sz="1300" dirty="0"/>
          </a:p>
        </p:txBody>
      </p:sp>
      <p:sp>
        <p:nvSpPr>
          <p:cNvPr id="6" name="Text 4"/>
          <p:cNvSpPr txBox="1"/>
          <p:nvPr/>
        </p:nvSpPr>
        <p:spPr>
          <a:xfrm>
            <a:off x="731520" y="2103120"/>
            <a:ext cx="4663440" cy="2286000"/>
          </a:xfrm>
          <a:prstGeom prst="rect">
            <a:avLst/>
          </a:prstGeom>
          <a:noFill/>
          <a:ln/>
        </p:spPr>
        <p:txBody>
          <a:bodyPr wrap="square" lIns="0" tIns="0" rIns="0" bIns="0" rtlCol="0" anchor="ctr"/>
          <a:lstStyle/>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raw/ais_historical/date=YYYY-MM-DD/</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(Parquet, Snappy, partitioned)</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checkpoints/</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streaming offsets + operator state</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rejected/ais_streaming/</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dead-letter archive</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models/vessel_clustering/</a:t>
            </a:r>
            <a:endParaRPr lang="en-US" sz="1200" dirty="0"/>
          </a:p>
          <a:p>
            <a:pPr marL="0" indent="0">
              <a:lnSpc>
                <a:spcPct val="115000"/>
              </a:lnSpc>
              <a:buNone/>
            </a:pPr>
            <a:r>
              <a:rPr lang="en-US" sz="1200" dirty="0">
                <a:solidFill>
                  <a:srgbClr val="93ABBE"/>
                </a:solidFill>
                <a:latin typeface="Consolas" pitchFamily="34" charset="0"/>
                <a:ea typeface="Consolas" pitchFamily="34" charset="-122"/>
                <a:cs typeface="Consolas" pitchFamily="34" charset="-120"/>
              </a:rPr>
              <a:t>     serialized K-Means PipelineModel</a:t>
            </a:r>
            <a:endParaRPr lang="en-US" sz="1200" dirty="0"/>
          </a:p>
        </p:txBody>
      </p:sp>
      <p:sp>
        <p:nvSpPr>
          <p:cNvPr id="7" name="Shape 5"/>
          <p:cNvSpPr/>
          <p:nvPr/>
        </p:nvSpPr>
        <p:spPr>
          <a:xfrm>
            <a:off x="731520" y="4526280"/>
            <a:ext cx="4663440" cy="0"/>
          </a:xfrm>
          <a:prstGeom prst="line">
            <a:avLst/>
          </a:prstGeom>
          <a:noFill/>
          <a:ln w="12700">
            <a:solidFill>
              <a:srgbClr val="234B63"/>
            </a:solidFill>
            <a:prstDash val="solid"/>
          </a:ln>
        </p:spPr>
        <p:txBody>
          <a:bodyPr/>
          <a:lstStyle/>
          <a:p>
            <a:endParaRPr lang="en-US"/>
          </a:p>
        </p:txBody>
      </p:sp>
      <p:sp>
        <p:nvSpPr>
          <p:cNvPr id="8" name="Text 6"/>
          <p:cNvSpPr txBox="1"/>
          <p:nvPr/>
        </p:nvSpPr>
        <p:spPr>
          <a:xfrm>
            <a:off x="731520" y="4663440"/>
            <a:ext cx="4663440"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HDFS Safe Mode incident:</a:t>
            </a:r>
            <a:endParaRPr lang="en-US" sz="1200" dirty="0"/>
          </a:p>
        </p:txBody>
      </p:sp>
      <p:sp>
        <p:nvSpPr>
          <p:cNvPr id="9" name="Text 7"/>
          <p:cNvSpPr txBox="1"/>
          <p:nvPr/>
        </p:nvSpPr>
        <p:spPr>
          <a:xfrm>
            <a:off x="731520" y="4937760"/>
            <a:ext cx="4663440" cy="1051560"/>
          </a:xfrm>
          <a:prstGeom prst="rect">
            <a:avLst/>
          </a:prstGeom>
          <a:noFill/>
          <a:ln/>
        </p:spPr>
        <p:txBody>
          <a:bodyPr wrap="square" lIns="0" tIns="0" rIns="0" bIns="0" rtlCol="0" anchor="ctr"/>
          <a:lstStyle/>
          <a:p>
            <a:pPr marL="0" indent="0">
              <a:buNone/>
            </a:pPr>
            <a:r>
              <a:rPr lang="en-US" sz="1100" dirty="0">
                <a:solidFill>
                  <a:srgbClr val="93ABBE"/>
                </a:solidFill>
                <a:latin typeface="Calibri" pitchFamily="34" charset="0"/>
                <a:ea typeface="Calibri" pitchFamily="34" charset="-122"/>
                <a:cs typeface="Calibri" pitchFamily="34" charset="-120"/>
              </a:rPr>
              <a:t>On containerized boot, DataNodes could start behind the NameNode, so writes were briefly rejected. Fixed with a startup healthcheck gating first writes on the NameNode's Safe-Mode status.</a:t>
            </a:r>
            <a:endParaRPr lang="en-US" sz="1100" dirty="0"/>
          </a:p>
        </p:txBody>
      </p:sp>
      <p:sp>
        <p:nvSpPr>
          <p:cNvPr id="10" name="Shape 8"/>
          <p:cNvSpPr/>
          <p:nvPr/>
        </p:nvSpPr>
        <p:spPr>
          <a:xfrm>
            <a:off x="5989320" y="1600200"/>
            <a:ext cx="5715000" cy="1051560"/>
          </a:xfrm>
          <a:prstGeom prst="roundRect">
            <a:avLst>
              <a:gd name="adj" fmla="val 6957"/>
            </a:avLst>
          </a:prstGeom>
          <a:solidFill>
            <a:srgbClr val="16324A"/>
          </a:solidFill>
          <a:ln w="12700">
            <a:solidFill>
              <a:srgbClr val="10263B"/>
            </a:solidFill>
            <a:prstDash val="solid"/>
          </a:ln>
        </p:spPr>
        <p:txBody>
          <a:bodyPr/>
          <a:lstStyle/>
          <a:p>
            <a:endParaRPr lang="en-US"/>
          </a:p>
        </p:txBody>
      </p:sp>
      <p:sp>
        <p:nvSpPr>
          <p:cNvPr id="11" name="Text 9"/>
          <p:cNvSpPr txBox="1"/>
          <p:nvPr/>
        </p:nvSpPr>
        <p:spPr>
          <a:xfrm>
            <a:off x="6172200" y="1691640"/>
            <a:ext cx="5349240" cy="274320"/>
          </a:xfrm>
          <a:prstGeom prst="rect">
            <a:avLst/>
          </a:prstGeom>
          <a:noFill/>
          <a:ln/>
        </p:spPr>
        <p:txBody>
          <a:bodyPr wrap="square" lIns="0" tIns="0" rIns="0" bIns="0" rtlCol="0" anchor="ctr"/>
          <a:lstStyle/>
          <a:p>
            <a:pPr marL="0" indent="0">
              <a:buNone/>
            </a:pPr>
            <a:r>
              <a:rPr lang="en-US" sz="1300" b="1" dirty="0">
                <a:solidFill>
                  <a:srgbClr val="12A594"/>
                </a:solidFill>
                <a:latin typeface="Calibri" pitchFamily="34" charset="0"/>
                <a:ea typeface="Calibri" pitchFamily="34" charset="-122"/>
                <a:cs typeface="Calibri" pitchFamily="34" charset="-120"/>
              </a:rPr>
              <a:t>Parquet (columnar)</a:t>
            </a:r>
            <a:endParaRPr lang="en-US" sz="1300" dirty="0"/>
          </a:p>
        </p:txBody>
      </p:sp>
      <p:sp>
        <p:nvSpPr>
          <p:cNvPr id="12" name="Text 10"/>
          <p:cNvSpPr txBox="1"/>
          <p:nvPr/>
        </p:nvSpPr>
        <p:spPr>
          <a:xfrm>
            <a:off x="6172200" y="1984248"/>
            <a:ext cx="5349240" cy="594360"/>
          </a:xfrm>
          <a:prstGeom prst="rect">
            <a:avLst/>
          </a:prstGeom>
          <a:noFill/>
          <a:ln/>
        </p:spPr>
        <p:txBody>
          <a:bodyPr wrap="square" lIns="0" tIns="0" rIns="0" bIns="0" rtlCol="0" anchor="ctr"/>
          <a:lstStyle/>
          <a:p>
            <a:pPr marL="0" indent="0">
              <a:buNone/>
            </a:pPr>
            <a:r>
              <a:rPr lang="en-US" sz="1150" dirty="0">
                <a:solidFill>
                  <a:srgbClr val="93ABBE"/>
                </a:solidFill>
                <a:latin typeface="Calibri" pitchFamily="34" charset="0"/>
                <a:ea typeface="Calibri" pitchFamily="34" charset="-122"/>
                <a:cs typeface="Calibri" pitchFamily="34" charset="-120"/>
              </a:rPr>
              <a:t>KPI queries only touch a few columns (e.g. sog, mmsi) — columnar layout + pushdown minimizes I/O</a:t>
            </a:r>
            <a:endParaRPr lang="en-US" sz="1150" dirty="0"/>
          </a:p>
        </p:txBody>
      </p:sp>
      <p:sp>
        <p:nvSpPr>
          <p:cNvPr id="13" name="Shape 11"/>
          <p:cNvSpPr/>
          <p:nvPr/>
        </p:nvSpPr>
        <p:spPr>
          <a:xfrm>
            <a:off x="5989320" y="2788920"/>
            <a:ext cx="5715000" cy="1051560"/>
          </a:xfrm>
          <a:prstGeom prst="roundRect">
            <a:avLst>
              <a:gd name="adj" fmla="val 6957"/>
            </a:avLst>
          </a:prstGeom>
          <a:solidFill>
            <a:srgbClr val="16324A"/>
          </a:solidFill>
          <a:ln w="12700">
            <a:solidFill>
              <a:srgbClr val="10263B"/>
            </a:solidFill>
            <a:prstDash val="solid"/>
          </a:ln>
        </p:spPr>
        <p:txBody>
          <a:bodyPr/>
          <a:lstStyle/>
          <a:p>
            <a:endParaRPr lang="en-US"/>
          </a:p>
        </p:txBody>
      </p:sp>
      <p:sp>
        <p:nvSpPr>
          <p:cNvPr id="14" name="Text 12"/>
          <p:cNvSpPr txBox="1"/>
          <p:nvPr/>
        </p:nvSpPr>
        <p:spPr>
          <a:xfrm>
            <a:off x="6172200" y="2880360"/>
            <a:ext cx="5349240" cy="274320"/>
          </a:xfrm>
          <a:prstGeom prst="rect">
            <a:avLst/>
          </a:prstGeom>
          <a:noFill/>
          <a:ln/>
        </p:spPr>
        <p:txBody>
          <a:bodyPr wrap="square" lIns="0" tIns="0" rIns="0" bIns="0" rtlCol="0" anchor="ctr"/>
          <a:lstStyle/>
          <a:p>
            <a:pPr marL="0" indent="0">
              <a:buNone/>
            </a:pPr>
            <a:r>
              <a:rPr lang="en-US" sz="1300" b="1" dirty="0">
                <a:solidFill>
                  <a:srgbClr val="12A594"/>
                </a:solidFill>
                <a:latin typeface="Calibri" pitchFamily="34" charset="0"/>
                <a:ea typeface="Calibri" pitchFamily="34" charset="-122"/>
                <a:cs typeface="Calibri" pitchFamily="34" charset="-120"/>
              </a:rPr>
              <a:t>Snappy compression</a:t>
            </a:r>
            <a:endParaRPr lang="en-US" sz="1300" dirty="0"/>
          </a:p>
        </p:txBody>
      </p:sp>
      <p:sp>
        <p:nvSpPr>
          <p:cNvPr id="15" name="Text 13"/>
          <p:cNvSpPr txBox="1"/>
          <p:nvPr/>
        </p:nvSpPr>
        <p:spPr>
          <a:xfrm>
            <a:off x="6172200" y="3172968"/>
            <a:ext cx="5349240" cy="594360"/>
          </a:xfrm>
          <a:prstGeom prst="rect">
            <a:avLst/>
          </a:prstGeom>
          <a:noFill/>
          <a:ln/>
        </p:spPr>
        <p:txBody>
          <a:bodyPr wrap="square" lIns="0" tIns="0" rIns="0" bIns="0" rtlCol="0" anchor="ctr"/>
          <a:lstStyle/>
          <a:p>
            <a:pPr marL="0" indent="0">
              <a:buNone/>
            </a:pPr>
            <a:r>
              <a:rPr lang="en-US" sz="1150" dirty="0">
                <a:solidFill>
                  <a:srgbClr val="93ABBE"/>
                </a:solidFill>
                <a:latin typeface="Calibri" pitchFamily="34" charset="0"/>
                <a:ea typeface="Calibri" pitchFamily="34" charset="-122"/>
                <a:cs typeface="Calibri" pitchFamily="34" charset="-120"/>
              </a:rPr>
              <a:t>Optimized for decompression speed — data is read far more (daily jobs, Zeppelin) than written</a:t>
            </a:r>
            <a:endParaRPr lang="en-US" sz="1150" dirty="0"/>
          </a:p>
        </p:txBody>
      </p:sp>
      <p:sp>
        <p:nvSpPr>
          <p:cNvPr id="16" name="Shape 14"/>
          <p:cNvSpPr/>
          <p:nvPr/>
        </p:nvSpPr>
        <p:spPr>
          <a:xfrm>
            <a:off x="5989320" y="3977640"/>
            <a:ext cx="5715000" cy="1051560"/>
          </a:xfrm>
          <a:prstGeom prst="roundRect">
            <a:avLst>
              <a:gd name="adj" fmla="val 6957"/>
            </a:avLst>
          </a:prstGeom>
          <a:solidFill>
            <a:srgbClr val="16324A"/>
          </a:solidFill>
          <a:ln w="12700">
            <a:solidFill>
              <a:srgbClr val="10263B"/>
            </a:solidFill>
            <a:prstDash val="solid"/>
          </a:ln>
        </p:spPr>
        <p:txBody>
          <a:bodyPr/>
          <a:lstStyle/>
          <a:p>
            <a:endParaRPr lang="en-US"/>
          </a:p>
        </p:txBody>
      </p:sp>
      <p:sp>
        <p:nvSpPr>
          <p:cNvPr id="17" name="Text 15"/>
          <p:cNvSpPr txBox="1"/>
          <p:nvPr/>
        </p:nvSpPr>
        <p:spPr>
          <a:xfrm>
            <a:off x="6172200" y="4069080"/>
            <a:ext cx="5349240" cy="274320"/>
          </a:xfrm>
          <a:prstGeom prst="rect">
            <a:avLst/>
          </a:prstGeom>
          <a:noFill/>
          <a:ln/>
        </p:spPr>
        <p:txBody>
          <a:bodyPr wrap="square" lIns="0" tIns="0" rIns="0" bIns="0" rtlCol="0" anchor="ctr"/>
          <a:lstStyle/>
          <a:p>
            <a:pPr marL="0" indent="0">
              <a:buNone/>
            </a:pPr>
            <a:r>
              <a:rPr lang="en-US" sz="1300" b="1" dirty="0">
                <a:solidFill>
                  <a:srgbClr val="12A594"/>
                </a:solidFill>
                <a:latin typeface="Calibri" pitchFamily="34" charset="0"/>
                <a:ea typeface="Calibri" pitchFamily="34" charset="-122"/>
                <a:cs typeface="Calibri" pitchFamily="34" charset="-120"/>
              </a:rPr>
              <a:t>Date partitioning</a:t>
            </a:r>
            <a:endParaRPr lang="en-US" sz="1300" dirty="0"/>
          </a:p>
        </p:txBody>
      </p:sp>
      <p:sp>
        <p:nvSpPr>
          <p:cNvPr id="18" name="Text 16"/>
          <p:cNvSpPr txBox="1"/>
          <p:nvPr/>
        </p:nvSpPr>
        <p:spPr>
          <a:xfrm>
            <a:off x="6172200" y="4361688"/>
            <a:ext cx="5349240" cy="594360"/>
          </a:xfrm>
          <a:prstGeom prst="rect">
            <a:avLst/>
          </a:prstGeom>
          <a:noFill/>
          <a:ln/>
        </p:spPr>
        <p:txBody>
          <a:bodyPr wrap="square" lIns="0" tIns="0" rIns="0" bIns="0" rtlCol="0" anchor="ctr"/>
          <a:lstStyle/>
          <a:p>
            <a:pPr marL="0" indent="0">
              <a:buNone/>
            </a:pPr>
            <a:r>
              <a:rPr lang="en-US" sz="1150" dirty="0">
                <a:solidFill>
                  <a:srgbClr val="93ABBE"/>
                </a:solidFill>
                <a:latin typeface="Calibri" pitchFamily="34" charset="0"/>
                <a:ea typeface="Calibri" pitchFamily="34" charset="-122"/>
                <a:cs typeface="Calibri" pitchFamily="34" charset="-120"/>
              </a:rPr>
              <a:t>Hive-style date=YYYY-MM-DD pruning keeps daily batch runtime roughly constant regardless of history size</a:t>
            </a:r>
            <a:endParaRPr lang="en-US" sz="1150" dirty="0"/>
          </a:p>
        </p:txBody>
      </p:sp>
      <p:sp>
        <p:nvSpPr>
          <p:cNvPr id="19" name="Shape 17"/>
          <p:cNvSpPr/>
          <p:nvPr/>
        </p:nvSpPr>
        <p:spPr>
          <a:xfrm>
            <a:off x="5989320" y="5212080"/>
            <a:ext cx="5715000" cy="960120"/>
          </a:xfrm>
          <a:prstGeom prst="roundRect">
            <a:avLst>
              <a:gd name="adj" fmla="val 7619"/>
            </a:avLst>
          </a:prstGeom>
          <a:solidFill>
            <a:srgbClr val="0F2739"/>
          </a:solidFill>
          <a:ln w="12700">
            <a:solidFill>
              <a:srgbClr val="10263B"/>
            </a:solidFill>
            <a:prstDash val="solid"/>
          </a:ln>
        </p:spPr>
        <p:txBody>
          <a:bodyPr/>
          <a:lstStyle/>
          <a:p>
            <a:endParaRPr lang="en-US"/>
          </a:p>
        </p:txBody>
      </p:sp>
      <p:sp>
        <p:nvSpPr>
          <p:cNvPr id="20" name="Text 18"/>
          <p:cNvSpPr txBox="1"/>
          <p:nvPr/>
        </p:nvSpPr>
        <p:spPr>
          <a:xfrm>
            <a:off x="6172200" y="5349240"/>
            <a:ext cx="5349240" cy="685800"/>
          </a:xfrm>
          <a:prstGeom prst="rect">
            <a:avLst/>
          </a:prstGeom>
          <a:noFill/>
          <a:ln/>
        </p:spPr>
        <p:txBody>
          <a:bodyPr wrap="square" lIns="0" tIns="0" rIns="0" bIns="0" rtlCol="0" anchor="ctr"/>
          <a:lstStyle/>
          <a:p>
            <a:pPr marL="0" indent="0">
              <a:buNone/>
            </a:pPr>
            <a:r>
              <a:rPr lang="en-US" sz="1300" b="1" dirty="0">
                <a:solidFill>
                  <a:srgbClr val="F3F7FA"/>
                </a:solidFill>
                <a:latin typeface="Calibri" pitchFamily="34" charset="0"/>
                <a:ea typeface="Calibri" pitchFamily="34" charset="-122"/>
                <a:cs typeface="Calibri" pitchFamily="34" charset="-120"/>
              </a:rPr>
              <a:t>HDFS = historical, scalable storage.  PostgreSQL/PostGIS = fast serving/query layer.</a:t>
            </a:r>
            <a:endParaRPr lang="en-US" sz="1300" dirty="0"/>
          </a:p>
        </p:txBody>
      </p:sp>
      <p:sp>
        <p:nvSpPr>
          <p:cNvPr id="21" name="Text 19"/>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LAYER 4 — ORCHESTRATION</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Apache Airflow: Orchestrating the Batch Workflow</a:t>
            </a:r>
            <a:endParaRPr lang="en-US" sz="3000" dirty="0"/>
          </a:p>
        </p:txBody>
      </p:sp>
      <p:sp>
        <p:nvSpPr>
          <p:cNvPr id="4" name="Shape 2"/>
          <p:cNvSpPr/>
          <p:nvPr/>
        </p:nvSpPr>
        <p:spPr>
          <a:xfrm>
            <a:off x="502920" y="1508760"/>
            <a:ext cx="11155680" cy="512064"/>
          </a:xfrm>
          <a:prstGeom prst="roundRect">
            <a:avLst>
              <a:gd name="adj" fmla="val 12500"/>
            </a:avLst>
          </a:prstGeom>
          <a:solidFill>
            <a:srgbClr val="16324A"/>
          </a:solidFill>
          <a:ln w="15875">
            <a:solidFill>
              <a:srgbClr val="12A594"/>
            </a:solidFill>
            <a:prstDash val="solid"/>
          </a:ln>
        </p:spPr>
        <p:txBody>
          <a:bodyPr/>
          <a:lstStyle/>
          <a:p>
            <a:endParaRPr lang="en-US"/>
          </a:p>
        </p:txBody>
      </p:sp>
      <p:sp>
        <p:nvSpPr>
          <p:cNvPr id="5" name="Text 3"/>
          <p:cNvSpPr txBox="1"/>
          <p:nvPr/>
        </p:nvSpPr>
        <p:spPr>
          <a:xfrm>
            <a:off x="548640" y="1508760"/>
            <a:ext cx="11064240" cy="512064"/>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check_hdfs_partition_exists</a:t>
            </a:r>
            <a:endParaRPr lang="en-US" sz="1300" dirty="0"/>
          </a:p>
        </p:txBody>
      </p:sp>
      <p:sp>
        <p:nvSpPr>
          <p:cNvPr id="6" name="Shape 4"/>
          <p:cNvSpPr/>
          <p:nvPr/>
        </p:nvSpPr>
        <p:spPr>
          <a:xfrm>
            <a:off x="6080760" y="2020824"/>
            <a:ext cx="0" cy="164592"/>
          </a:xfrm>
          <a:prstGeom prst="line">
            <a:avLst/>
          </a:prstGeom>
          <a:noFill/>
          <a:ln w="25400">
            <a:solidFill>
              <a:srgbClr val="12A594"/>
            </a:solidFill>
            <a:prstDash val="solid"/>
            <a:tailEnd type="triangle"/>
          </a:ln>
        </p:spPr>
        <p:txBody>
          <a:bodyPr/>
          <a:lstStyle/>
          <a:p>
            <a:endParaRPr lang="en-US"/>
          </a:p>
        </p:txBody>
      </p:sp>
      <p:sp>
        <p:nvSpPr>
          <p:cNvPr id="7" name="Shape 5"/>
          <p:cNvSpPr/>
          <p:nvPr/>
        </p:nvSpPr>
        <p:spPr>
          <a:xfrm>
            <a:off x="502920" y="2203704"/>
            <a:ext cx="11155680" cy="512064"/>
          </a:xfrm>
          <a:prstGeom prst="roundRect">
            <a:avLst>
              <a:gd name="adj" fmla="val 12500"/>
            </a:avLst>
          </a:prstGeom>
          <a:solidFill>
            <a:srgbClr val="16324A"/>
          </a:solidFill>
          <a:ln w="15875">
            <a:solidFill>
              <a:srgbClr val="12A594"/>
            </a:solidFill>
            <a:prstDash val="solid"/>
          </a:ln>
        </p:spPr>
        <p:txBody>
          <a:bodyPr/>
          <a:lstStyle/>
          <a:p>
            <a:endParaRPr lang="en-US"/>
          </a:p>
        </p:txBody>
      </p:sp>
      <p:sp>
        <p:nvSpPr>
          <p:cNvPr id="8" name="Text 6"/>
          <p:cNvSpPr txBox="1"/>
          <p:nvPr/>
        </p:nvSpPr>
        <p:spPr>
          <a:xfrm>
            <a:off x="548640" y="2203704"/>
            <a:ext cx="11064240" cy="512064"/>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run_batch_kpi_job</a:t>
            </a:r>
            <a:endParaRPr lang="en-US" sz="1300" dirty="0"/>
          </a:p>
        </p:txBody>
      </p:sp>
      <p:sp>
        <p:nvSpPr>
          <p:cNvPr id="9" name="Shape 7"/>
          <p:cNvSpPr/>
          <p:nvPr/>
        </p:nvSpPr>
        <p:spPr>
          <a:xfrm>
            <a:off x="6080760" y="2715768"/>
            <a:ext cx="0" cy="164592"/>
          </a:xfrm>
          <a:prstGeom prst="line">
            <a:avLst/>
          </a:prstGeom>
          <a:noFill/>
          <a:ln w="25400">
            <a:solidFill>
              <a:srgbClr val="12A594"/>
            </a:solidFill>
            <a:prstDash val="solid"/>
            <a:tailEnd type="triangle"/>
          </a:ln>
        </p:spPr>
        <p:txBody>
          <a:bodyPr/>
          <a:lstStyle/>
          <a:p>
            <a:endParaRPr lang="en-US"/>
          </a:p>
        </p:txBody>
      </p:sp>
      <p:sp>
        <p:nvSpPr>
          <p:cNvPr id="10" name="Shape 8"/>
          <p:cNvSpPr/>
          <p:nvPr/>
        </p:nvSpPr>
        <p:spPr>
          <a:xfrm>
            <a:off x="502920" y="2898648"/>
            <a:ext cx="11155680" cy="512064"/>
          </a:xfrm>
          <a:prstGeom prst="roundRect">
            <a:avLst>
              <a:gd name="adj" fmla="val 12500"/>
            </a:avLst>
          </a:prstGeom>
          <a:solidFill>
            <a:srgbClr val="1B3A2C"/>
          </a:solidFill>
          <a:ln w="15875">
            <a:solidFill>
              <a:srgbClr val="F2A93B"/>
            </a:solidFill>
            <a:prstDash val="solid"/>
          </a:ln>
        </p:spPr>
        <p:txBody>
          <a:bodyPr/>
          <a:lstStyle/>
          <a:p>
            <a:endParaRPr lang="en-US"/>
          </a:p>
        </p:txBody>
      </p:sp>
      <p:sp>
        <p:nvSpPr>
          <p:cNvPr id="11" name="Text 9"/>
          <p:cNvSpPr txBox="1"/>
          <p:nvPr/>
        </p:nvSpPr>
        <p:spPr>
          <a:xfrm>
            <a:off x="548640" y="2898648"/>
            <a:ext cx="11064240" cy="512064"/>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run_mahout_clustering_job</a:t>
            </a:r>
            <a:endParaRPr lang="en-US" sz="1300" dirty="0"/>
          </a:p>
        </p:txBody>
      </p:sp>
      <p:sp>
        <p:nvSpPr>
          <p:cNvPr id="12" name="Shape 10"/>
          <p:cNvSpPr/>
          <p:nvPr/>
        </p:nvSpPr>
        <p:spPr>
          <a:xfrm>
            <a:off x="6080760" y="3410712"/>
            <a:ext cx="0" cy="164592"/>
          </a:xfrm>
          <a:prstGeom prst="line">
            <a:avLst/>
          </a:prstGeom>
          <a:noFill/>
          <a:ln w="25400">
            <a:solidFill>
              <a:srgbClr val="12A594"/>
            </a:solidFill>
            <a:prstDash val="solid"/>
            <a:tailEnd type="triangle"/>
          </a:ln>
        </p:spPr>
        <p:txBody>
          <a:bodyPr/>
          <a:lstStyle/>
          <a:p>
            <a:endParaRPr lang="en-US"/>
          </a:p>
        </p:txBody>
      </p:sp>
      <p:sp>
        <p:nvSpPr>
          <p:cNvPr id="13" name="Shape 11"/>
          <p:cNvSpPr/>
          <p:nvPr/>
        </p:nvSpPr>
        <p:spPr>
          <a:xfrm>
            <a:off x="502920" y="3593592"/>
            <a:ext cx="11155680" cy="512064"/>
          </a:xfrm>
          <a:prstGeom prst="roundRect">
            <a:avLst>
              <a:gd name="adj" fmla="val 12500"/>
            </a:avLst>
          </a:prstGeom>
          <a:solidFill>
            <a:srgbClr val="16324A"/>
          </a:solidFill>
          <a:ln w="15875">
            <a:solidFill>
              <a:srgbClr val="12A594"/>
            </a:solidFill>
            <a:prstDash val="solid"/>
          </a:ln>
        </p:spPr>
        <p:txBody>
          <a:bodyPr/>
          <a:lstStyle/>
          <a:p>
            <a:endParaRPr lang="en-US"/>
          </a:p>
        </p:txBody>
      </p:sp>
      <p:sp>
        <p:nvSpPr>
          <p:cNvPr id="14" name="Text 12"/>
          <p:cNvSpPr txBox="1"/>
          <p:nvPr/>
        </p:nvSpPr>
        <p:spPr>
          <a:xfrm>
            <a:off x="548640" y="3593592"/>
            <a:ext cx="11064240" cy="512064"/>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verify_postgres_rows_written</a:t>
            </a:r>
            <a:endParaRPr lang="en-US" sz="1300" dirty="0"/>
          </a:p>
        </p:txBody>
      </p:sp>
      <p:sp>
        <p:nvSpPr>
          <p:cNvPr id="15" name="Shape 13"/>
          <p:cNvSpPr/>
          <p:nvPr/>
        </p:nvSpPr>
        <p:spPr>
          <a:xfrm>
            <a:off x="6080760" y="4105656"/>
            <a:ext cx="0" cy="164592"/>
          </a:xfrm>
          <a:prstGeom prst="line">
            <a:avLst/>
          </a:prstGeom>
          <a:noFill/>
          <a:ln w="25400">
            <a:solidFill>
              <a:srgbClr val="12A594"/>
            </a:solidFill>
            <a:prstDash val="solid"/>
            <a:tailEnd type="triangle"/>
          </a:ln>
        </p:spPr>
        <p:txBody>
          <a:bodyPr/>
          <a:lstStyle/>
          <a:p>
            <a:endParaRPr lang="en-US"/>
          </a:p>
        </p:txBody>
      </p:sp>
      <p:sp>
        <p:nvSpPr>
          <p:cNvPr id="16" name="Shape 14"/>
          <p:cNvSpPr/>
          <p:nvPr/>
        </p:nvSpPr>
        <p:spPr>
          <a:xfrm>
            <a:off x="502920" y="4288536"/>
            <a:ext cx="11155680" cy="512064"/>
          </a:xfrm>
          <a:prstGeom prst="roundRect">
            <a:avLst>
              <a:gd name="adj" fmla="val 12500"/>
            </a:avLst>
          </a:prstGeom>
          <a:solidFill>
            <a:srgbClr val="16324A"/>
          </a:solidFill>
          <a:ln w="15875">
            <a:solidFill>
              <a:srgbClr val="12A594"/>
            </a:solidFill>
            <a:prstDash val="solid"/>
          </a:ln>
        </p:spPr>
        <p:txBody>
          <a:bodyPr/>
          <a:lstStyle/>
          <a:p>
            <a:endParaRPr lang="en-US"/>
          </a:p>
        </p:txBody>
      </p:sp>
      <p:sp>
        <p:nvSpPr>
          <p:cNvPr id="17" name="Text 15"/>
          <p:cNvSpPr txBox="1"/>
          <p:nvPr/>
        </p:nvSpPr>
        <p:spPr>
          <a:xfrm>
            <a:off x="548640" y="4288536"/>
            <a:ext cx="11064240" cy="512064"/>
          </a:xfrm>
          <a:prstGeom prst="rect">
            <a:avLst/>
          </a:prstGeom>
          <a:noFill/>
          <a:ln/>
        </p:spPr>
        <p:txBody>
          <a:bodyPr wrap="square" lIns="0" tIns="0" rIns="0" bIns="0" rtlCol="0" anchor="ctr"/>
          <a:lstStyle/>
          <a:p>
            <a:pPr marL="0" indent="0" algn="ctr">
              <a:lnSpc>
                <a:spcPct val="100000"/>
              </a:lnSpc>
              <a:buNone/>
            </a:pPr>
            <a:r>
              <a:rPr lang="en-US" sz="1300" b="1" dirty="0">
                <a:solidFill>
                  <a:srgbClr val="F3F7FA"/>
                </a:solidFill>
                <a:latin typeface="Calibri" pitchFamily="34" charset="0"/>
                <a:ea typeface="Calibri" pitchFamily="34" charset="-122"/>
                <a:cs typeface="Calibri" pitchFamily="34" charset="-120"/>
              </a:rPr>
              <a:t>pipeline_health_check</a:t>
            </a:r>
            <a:endParaRPr lang="en-US" sz="1300" dirty="0"/>
          </a:p>
        </p:txBody>
      </p:sp>
      <p:sp>
        <p:nvSpPr>
          <p:cNvPr id="18" name="Text 16"/>
          <p:cNvSpPr txBox="1"/>
          <p:nvPr/>
        </p:nvSpPr>
        <p:spPr>
          <a:xfrm>
            <a:off x="502920" y="5120640"/>
            <a:ext cx="11155680" cy="1280160"/>
          </a:xfrm>
          <a:prstGeom prst="rect">
            <a:avLst/>
          </a:prstGeom>
          <a:noFill/>
          <a:ln/>
        </p:spPr>
        <p:txBody>
          <a:bodyPr wrap="square" lIns="0" tIns="0" rIns="0" bIns="0" rtlCol="0" anchor="t"/>
          <a:lstStyle/>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DAG maritime_batch_kpi_pipeline runs @daily over the prior day's HDFS partition</a:t>
            </a:r>
            <a:endParaRPr lang="en-US" sz="1200" dirty="0"/>
          </a:p>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Idempotent: delete-before-insert per kpi_date, atomic model artifact overwrite — safely re-runnable</a:t>
            </a:r>
            <a:endParaRPr lang="en-US" sz="1200" dirty="0"/>
          </a:p>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Backfill-capable via airflow dags backfill — no cross-run mutable shared state</a:t>
            </a:r>
            <a:endParaRPr lang="en-US" sz="1200" dirty="0"/>
          </a:p>
        </p:txBody>
      </p:sp>
      <p:sp>
        <p:nvSpPr>
          <p:cNvPr id="19" name="Text 1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LAYER 5 — MACHINE LEARNING</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2700" b="1" dirty="0">
                <a:solidFill>
                  <a:srgbClr val="F3F7FA"/>
                </a:solidFill>
                <a:latin typeface="Calibri" pitchFamily="34" charset="0"/>
                <a:ea typeface="Calibri" pitchFamily="34" charset="-122"/>
                <a:cs typeface="Calibri" pitchFamily="34" charset="-120"/>
              </a:rPr>
              <a:t>Behavioral Analytics: Feature-Based K-Means Clustering</a:t>
            </a:r>
            <a:endParaRPr lang="en-US" sz="2700" dirty="0"/>
          </a:p>
        </p:txBody>
      </p:sp>
      <p:sp>
        <p:nvSpPr>
          <p:cNvPr id="4" name="Shape 2"/>
          <p:cNvSpPr/>
          <p:nvPr/>
        </p:nvSpPr>
        <p:spPr>
          <a:xfrm>
            <a:off x="608076" y="1600200"/>
            <a:ext cx="1691640" cy="777240"/>
          </a:xfrm>
          <a:prstGeom prst="roundRect">
            <a:avLst>
              <a:gd name="adj" fmla="val 8235"/>
            </a:avLst>
          </a:prstGeom>
          <a:solidFill>
            <a:srgbClr val="16324A"/>
          </a:solidFill>
          <a:ln w="15875">
            <a:solidFill>
              <a:srgbClr val="12A594"/>
            </a:solidFill>
            <a:prstDash val="solid"/>
          </a:ln>
        </p:spPr>
        <p:txBody>
          <a:bodyPr/>
          <a:lstStyle/>
          <a:p>
            <a:endParaRPr lang="en-US"/>
          </a:p>
        </p:txBody>
      </p:sp>
      <p:sp>
        <p:nvSpPr>
          <p:cNvPr id="5" name="Text 3"/>
          <p:cNvSpPr txBox="1"/>
          <p:nvPr/>
        </p:nvSpPr>
        <p:spPr>
          <a:xfrm>
            <a:off x="653796" y="1600200"/>
            <a:ext cx="1600200" cy="77724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AIS Data</a:t>
            </a:r>
            <a:endParaRPr lang="en-US" sz="1100" dirty="0"/>
          </a:p>
        </p:txBody>
      </p:sp>
      <p:sp>
        <p:nvSpPr>
          <p:cNvPr id="6" name="Shape 4"/>
          <p:cNvSpPr/>
          <p:nvPr/>
        </p:nvSpPr>
        <p:spPr>
          <a:xfrm>
            <a:off x="2318004" y="1988820"/>
            <a:ext cx="128016" cy="0"/>
          </a:xfrm>
          <a:prstGeom prst="line">
            <a:avLst/>
          </a:prstGeom>
          <a:noFill/>
          <a:ln w="25400">
            <a:solidFill>
              <a:srgbClr val="12A594"/>
            </a:solidFill>
            <a:prstDash val="solid"/>
            <a:tailEnd type="triangle"/>
          </a:ln>
        </p:spPr>
        <p:txBody>
          <a:bodyPr/>
          <a:lstStyle/>
          <a:p>
            <a:endParaRPr lang="en-US"/>
          </a:p>
        </p:txBody>
      </p:sp>
      <p:sp>
        <p:nvSpPr>
          <p:cNvPr id="7" name="Shape 5"/>
          <p:cNvSpPr/>
          <p:nvPr/>
        </p:nvSpPr>
        <p:spPr>
          <a:xfrm>
            <a:off x="2464308" y="1600200"/>
            <a:ext cx="1691640" cy="777240"/>
          </a:xfrm>
          <a:prstGeom prst="roundRect">
            <a:avLst>
              <a:gd name="adj" fmla="val 8235"/>
            </a:avLst>
          </a:prstGeom>
          <a:solidFill>
            <a:srgbClr val="16324A"/>
          </a:solidFill>
          <a:ln w="15875">
            <a:solidFill>
              <a:srgbClr val="12A594"/>
            </a:solidFill>
            <a:prstDash val="solid"/>
          </a:ln>
        </p:spPr>
        <p:txBody>
          <a:bodyPr/>
          <a:lstStyle/>
          <a:p>
            <a:endParaRPr lang="en-US"/>
          </a:p>
        </p:txBody>
      </p:sp>
      <p:sp>
        <p:nvSpPr>
          <p:cNvPr id="8" name="Text 6"/>
          <p:cNvSpPr txBox="1"/>
          <p:nvPr/>
        </p:nvSpPr>
        <p:spPr>
          <a:xfrm>
            <a:off x="2510028" y="1600200"/>
            <a:ext cx="1600200" cy="77724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Feature</a:t>
            </a:r>
            <a:endParaRPr lang="en-US" sz="1100" dirty="0"/>
          </a:p>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Engineering</a:t>
            </a:r>
            <a:endParaRPr lang="en-US" sz="1100" dirty="0"/>
          </a:p>
        </p:txBody>
      </p:sp>
      <p:sp>
        <p:nvSpPr>
          <p:cNvPr id="9" name="Shape 7"/>
          <p:cNvSpPr/>
          <p:nvPr/>
        </p:nvSpPr>
        <p:spPr>
          <a:xfrm>
            <a:off x="4174236" y="1988820"/>
            <a:ext cx="128016" cy="0"/>
          </a:xfrm>
          <a:prstGeom prst="line">
            <a:avLst/>
          </a:prstGeom>
          <a:noFill/>
          <a:ln w="25400">
            <a:solidFill>
              <a:srgbClr val="12A594"/>
            </a:solidFill>
            <a:prstDash val="solid"/>
            <a:tailEnd type="triangle"/>
          </a:ln>
        </p:spPr>
        <p:txBody>
          <a:bodyPr/>
          <a:lstStyle/>
          <a:p>
            <a:endParaRPr lang="en-US"/>
          </a:p>
        </p:txBody>
      </p:sp>
      <p:sp>
        <p:nvSpPr>
          <p:cNvPr id="10" name="Shape 8"/>
          <p:cNvSpPr/>
          <p:nvPr/>
        </p:nvSpPr>
        <p:spPr>
          <a:xfrm>
            <a:off x="4320540" y="1600200"/>
            <a:ext cx="1691640" cy="777240"/>
          </a:xfrm>
          <a:prstGeom prst="roundRect">
            <a:avLst>
              <a:gd name="adj" fmla="val 8235"/>
            </a:avLst>
          </a:prstGeom>
          <a:solidFill>
            <a:srgbClr val="16324A"/>
          </a:solidFill>
          <a:ln w="15875">
            <a:solidFill>
              <a:srgbClr val="12A594"/>
            </a:solidFill>
            <a:prstDash val="solid"/>
          </a:ln>
        </p:spPr>
        <p:txBody>
          <a:bodyPr/>
          <a:lstStyle/>
          <a:p>
            <a:endParaRPr lang="en-US"/>
          </a:p>
        </p:txBody>
      </p:sp>
      <p:sp>
        <p:nvSpPr>
          <p:cNvPr id="11" name="Text 9"/>
          <p:cNvSpPr txBox="1"/>
          <p:nvPr/>
        </p:nvSpPr>
        <p:spPr>
          <a:xfrm>
            <a:off x="4366260" y="1600200"/>
            <a:ext cx="1600200" cy="77724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5 Features</a:t>
            </a:r>
            <a:endParaRPr lang="en-US" sz="1100" dirty="0"/>
          </a:p>
        </p:txBody>
      </p:sp>
      <p:sp>
        <p:nvSpPr>
          <p:cNvPr id="12" name="Shape 10"/>
          <p:cNvSpPr/>
          <p:nvPr/>
        </p:nvSpPr>
        <p:spPr>
          <a:xfrm>
            <a:off x="6030468" y="1988820"/>
            <a:ext cx="128016" cy="0"/>
          </a:xfrm>
          <a:prstGeom prst="line">
            <a:avLst/>
          </a:prstGeom>
          <a:noFill/>
          <a:ln w="25400">
            <a:solidFill>
              <a:srgbClr val="12A594"/>
            </a:solidFill>
            <a:prstDash val="solid"/>
            <a:tailEnd type="triangle"/>
          </a:ln>
        </p:spPr>
        <p:txBody>
          <a:bodyPr/>
          <a:lstStyle/>
          <a:p>
            <a:endParaRPr lang="en-US"/>
          </a:p>
        </p:txBody>
      </p:sp>
      <p:sp>
        <p:nvSpPr>
          <p:cNvPr id="13" name="Shape 11"/>
          <p:cNvSpPr/>
          <p:nvPr/>
        </p:nvSpPr>
        <p:spPr>
          <a:xfrm>
            <a:off x="6176772" y="1600200"/>
            <a:ext cx="1691640" cy="777240"/>
          </a:xfrm>
          <a:prstGeom prst="roundRect">
            <a:avLst>
              <a:gd name="adj" fmla="val 8235"/>
            </a:avLst>
          </a:prstGeom>
          <a:solidFill>
            <a:srgbClr val="1B3A2C"/>
          </a:solidFill>
          <a:ln w="15875">
            <a:solidFill>
              <a:srgbClr val="F2A93B"/>
            </a:solidFill>
            <a:prstDash val="solid"/>
          </a:ln>
        </p:spPr>
        <p:txBody>
          <a:bodyPr/>
          <a:lstStyle/>
          <a:p>
            <a:endParaRPr lang="en-US"/>
          </a:p>
        </p:txBody>
      </p:sp>
      <p:sp>
        <p:nvSpPr>
          <p:cNvPr id="14" name="Text 12"/>
          <p:cNvSpPr txBox="1"/>
          <p:nvPr/>
        </p:nvSpPr>
        <p:spPr>
          <a:xfrm>
            <a:off x="6222492" y="1600200"/>
            <a:ext cx="1600200" cy="77724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StandardScaler</a:t>
            </a:r>
            <a:endParaRPr lang="en-US" sz="1100" dirty="0"/>
          </a:p>
        </p:txBody>
      </p:sp>
      <p:sp>
        <p:nvSpPr>
          <p:cNvPr id="15" name="Shape 13"/>
          <p:cNvSpPr/>
          <p:nvPr/>
        </p:nvSpPr>
        <p:spPr>
          <a:xfrm>
            <a:off x="7886700" y="1988820"/>
            <a:ext cx="128016" cy="0"/>
          </a:xfrm>
          <a:prstGeom prst="line">
            <a:avLst/>
          </a:prstGeom>
          <a:noFill/>
          <a:ln w="25400">
            <a:solidFill>
              <a:srgbClr val="12A594"/>
            </a:solidFill>
            <a:prstDash val="solid"/>
            <a:tailEnd type="triangle"/>
          </a:ln>
        </p:spPr>
        <p:txBody>
          <a:bodyPr/>
          <a:lstStyle/>
          <a:p>
            <a:endParaRPr lang="en-US"/>
          </a:p>
        </p:txBody>
      </p:sp>
      <p:sp>
        <p:nvSpPr>
          <p:cNvPr id="16" name="Shape 14"/>
          <p:cNvSpPr/>
          <p:nvPr/>
        </p:nvSpPr>
        <p:spPr>
          <a:xfrm>
            <a:off x="8033004" y="1600200"/>
            <a:ext cx="1691640" cy="777240"/>
          </a:xfrm>
          <a:prstGeom prst="roundRect">
            <a:avLst>
              <a:gd name="adj" fmla="val 8235"/>
            </a:avLst>
          </a:prstGeom>
          <a:solidFill>
            <a:srgbClr val="16324A"/>
          </a:solidFill>
          <a:ln w="15875">
            <a:solidFill>
              <a:srgbClr val="12A594"/>
            </a:solidFill>
            <a:prstDash val="solid"/>
          </a:ln>
        </p:spPr>
        <p:txBody>
          <a:bodyPr/>
          <a:lstStyle/>
          <a:p>
            <a:endParaRPr lang="en-US"/>
          </a:p>
        </p:txBody>
      </p:sp>
      <p:sp>
        <p:nvSpPr>
          <p:cNvPr id="17" name="Text 15"/>
          <p:cNvSpPr txBox="1"/>
          <p:nvPr/>
        </p:nvSpPr>
        <p:spPr>
          <a:xfrm>
            <a:off x="8078724" y="1600200"/>
            <a:ext cx="1600200" cy="77724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K-Means</a:t>
            </a:r>
            <a:endParaRPr lang="en-US" sz="1100" dirty="0"/>
          </a:p>
        </p:txBody>
      </p:sp>
      <p:sp>
        <p:nvSpPr>
          <p:cNvPr id="18" name="Shape 16"/>
          <p:cNvSpPr/>
          <p:nvPr/>
        </p:nvSpPr>
        <p:spPr>
          <a:xfrm>
            <a:off x="9742932" y="1988820"/>
            <a:ext cx="128016" cy="0"/>
          </a:xfrm>
          <a:prstGeom prst="line">
            <a:avLst/>
          </a:prstGeom>
          <a:noFill/>
          <a:ln w="25400">
            <a:solidFill>
              <a:srgbClr val="12A594"/>
            </a:solidFill>
            <a:prstDash val="solid"/>
            <a:tailEnd type="triangle"/>
          </a:ln>
        </p:spPr>
        <p:txBody>
          <a:bodyPr/>
          <a:lstStyle/>
          <a:p>
            <a:endParaRPr lang="en-US"/>
          </a:p>
        </p:txBody>
      </p:sp>
      <p:sp>
        <p:nvSpPr>
          <p:cNvPr id="19" name="Shape 17"/>
          <p:cNvSpPr/>
          <p:nvPr/>
        </p:nvSpPr>
        <p:spPr>
          <a:xfrm>
            <a:off x="9889236" y="1600200"/>
            <a:ext cx="1691640" cy="777240"/>
          </a:xfrm>
          <a:prstGeom prst="roundRect">
            <a:avLst>
              <a:gd name="adj" fmla="val 8235"/>
            </a:avLst>
          </a:prstGeom>
          <a:solidFill>
            <a:srgbClr val="16324A"/>
          </a:solidFill>
          <a:ln w="15875">
            <a:solidFill>
              <a:srgbClr val="12A594"/>
            </a:solidFill>
            <a:prstDash val="solid"/>
          </a:ln>
        </p:spPr>
        <p:txBody>
          <a:bodyPr/>
          <a:lstStyle/>
          <a:p>
            <a:endParaRPr lang="en-US"/>
          </a:p>
        </p:txBody>
      </p:sp>
      <p:sp>
        <p:nvSpPr>
          <p:cNvPr id="20" name="Text 18"/>
          <p:cNvSpPr txBox="1"/>
          <p:nvPr/>
        </p:nvSpPr>
        <p:spPr>
          <a:xfrm>
            <a:off x="9934956" y="1600200"/>
            <a:ext cx="1600200" cy="777240"/>
          </a:xfrm>
          <a:prstGeom prst="rect">
            <a:avLst/>
          </a:prstGeom>
          <a:noFill/>
          <a:ln/>
        </p:spPr>
        <p:txBody>
          <a:bodyPr wrap="square" lIns="0" tIns="0" rIns="0" bIns="0" rtlCol="0" anchor="ctr"/>
          <a:lstStyle/>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Clusters +</a:t>
            </a:r>
            <a:endParaRPr lang="en-US" sz="1100" dirty="0"/>
          </a:p>
          <a:p>
            <a:pPr marL="0" indent="0" algn="ctr">
              <a:lnSpc>
                <a:spcPct val="100000"/>
              </a:lnSpc>
              <a:buNone/>
            </a:pPr>
            <a:r>
              <a:rPr lang="en-US" sz="1100" b="1" dirty="0">
                <a:solidFill>
                  <a:srgbClr val="F3F7FA"/>
                </a:solidFill>
                <a:latin typeface="Calibri" pitchFamily="34" charset="0"/>
                <a:ea typeface="Calibri" pitchFamily="34" charset="-122"/>
                <a:cs typeface="Calibri" pitchFamily="34" charset="-120"/>
              </a:rPr>
              <a:t>Anomaly Score</a:t>
            </a:r>
            <a:endParaRPr lang="en-US" sz="1100" dirty="0"/>
          </a:p>
        </p:txBody>
      </p:sp>
      <p:sp>
        <p:nvSpPr>
          <p:cNvPr id="21" name="Shape 19"/>
          <p:cNvSpPr/>
          <p:nvPr/>
        </p:nvSpPr>
        <p:spPr>
          <a:xfrm>
            <a:off x="502920" y="2697480"/>
            <a:ext cx="5394960" cy="1691640"/>
          </a:xfrm>
          <a:prstGeom prst="roundRect">
            <a:avLst>
              <a:gd name="adj" fmla="val 4324"/>
            </a:avLst>
          </a:prstGeom>
          <a:solidFill>
            <a:srgbClr val="16324A"/>
          </a:solidFill>
          <a:ln w="12700">
            <a:solidFill>
              <a:srgbClr val="10263B"/>
            </a:solidFill>
            <a:prstDash val="solid"/>
          </a:ln>
        </p:spPr>
        <p:txBody>
          <a:bodyPr/>
          <a:lstStyle/>
          <a:p>
            <a:endParaRPr lang="en-US"/>
          </a:p>
        </p:txBody>
      </p:sp>
      <p:sp>
        <p:nvSpPr>
          <p:cNvPr id="22" name="Text 20"/>
          <p:cNvSpPr txBox="1"/>
          <p:nvPr/>
        </p:nvSpPr>
        <p:spPr>
          <a:xfrm>
            <a:off x="685800" y="2788920"/>
            <a:ext cx="5029200" cy="274320"/>
          </a:xfrm>
          <a:prstGeom prst="rect">
            <a:avLst/>
          </a:prstGeom>
          <a:noFill/>
          <a:ln/>
        </p:spPr>
        <p:txBody>
          <a:bodyPr wrap="square" lIns="0" tIns="0" rIns="0" bIns="0" rtlCol="0" anchor="ctr"/>
          <a:lstStyle/>
          <a:p>
            <a:pPr marL="0" indent="0">
              <a:buNone/>
            </a:pPr>
            <a:r>
              <a:rPr lang="en-US" sz="1250" b="1" dirty="0">
                <a:solidFill>
                  <a:srgbClr val="12A594"/>
                </a:solidFill>
                <a:latin typeface="Calibri" pitchFamily="34" charset="0"/>
                <a:ea typeface="Calibri" pitchFamily="34" charset="-122"/>
                <a:cs typeface="Calibri" pitchFamily="34" charset="-120"/>
              </a:rPr>
              <a:t>Five engineered features</a:t>
            </a:r>
            <a:endParaRPr lang="en-US" sz="1250" dirty="0"/>
          </a:p>
        </p:txBody>
      </p:sp>
      <p:sp>
        <p:nvSpPr>
          <p:cNvPr id="23" name="Text 21"/>
          <p:cNvSpPr txBox="1"/>
          <p:nvPr/>
        </p:nvSpPr>
        <p:spPr>
          <a:xfrm>
            <a:off x="685800" y="3090672"/>
            <a:ext cx="5029200" cy="1234440"/>
          </a:xfrm>
          <a:prstGeom prst="rect">
            <a:avLst/>
          </a:prstGeom>
          <a:noFill/>
          <a:ln/>
        </p:spPr>
        <p:txBody>
          <a:bodyPr wrap="square" lIns="0" tIns="0" rIns="0" bIns="0" rtlCol="0" anchor="t"/>
          <a:lstStyle/>
          <a:p>
            <a:pPr marL="228600" indent="-228600">
              <a:spcAft>
                <a:spcPts val="300"/>
              </a:spcAft>
              <a:buSzPct val="100000"/>
              <a:buChar char="•"/>
            </a:pPr>
            <a:r>
              <a:rPr lang="en-US" sz="1100" dirty="0">
                <a:solidFill>
                  <a:srgbClr val="F3F7FA"/>
                </a:solidFill>
                <a:latin typeface="Calibri" pitchFamily="34" charset="0"/>
                <a:ea typeface="Calibri" pitchFamily="34" charset="-122"/>
                <a:cs typeface="Calibri" pitchFamily="34" charset="-120"/>
              </a:rPr>
              <a:t>avg_sog — baseline transit speed</a:t>
            </a:r>
            <a:endParaRPr lang="en-US" sz="1100" dirty="0"/>
          </a:p>
          <a:p>
            <a:pPr marL="228600" indent="-228600">
              <a:spcAft>
                <a:spcPts val="300"/>
              </a:spcAft>
              <a:buSzPct val="100000"/>
              <a:buChar char="•"/>
            </a:pPr>
            <a:r>
              <a:rPr lang="en-US" sz="1100" dirty="0">
                <a:solidFill>
                  <a:srgbClr val="F3F7FA"/>
                </a:solidFill>
                <a:latin typeface="Calibri" pitchFamily="34" charset="0"/>
                <a:ea typeface="Calibri" pitchFamily="34" charset="-122"/>
                <a:cs typeface="Calibri" pitchFamily="34" charset="-120"/>
              </a:rPr>
              <a:t>sog_variance — erratic vs. steady behavior</a:t>
            </a:r>
            <a:endParaRPr lang="en-US" sz="1100" dirty="0"/>
          </a:p>
          <a:p>
            <a:pPr marL="228600" indent="-228600">
              <a:spcAft>
                <a:spcPts val="300"/>
              </a:spcAft>
              <a:buSzPct val="100000"/>
              <a:buChar char="•"/>
            </a:pPr>
            <a:r>
              <a:rPr lang="en-US" sz="1100" dirty="0">
                <a:solidFill>
                  <a:srgbClr val="F3F7FA"/>
                </a:solidFill>
                <a:latin typeface="Calibri" pitchFamily="34" charset="0"/>
                <a:ea typeface="Calibri" pitchFamily="34" charset="-122"/>
                <a:cs typeface="Calibri" pitchFamily="34" charset="-120"/>
              </a:rPr>
              <a:t>max_sog — peak-speed outliers</a:t>
            </a:r>
            <a:endParaRPr lang="en-US" sz="1100" dirty="0"/>
          </a:p>
          <a:p>
            <a:pPr marL="228600" indent="-228600">
              <a:spcAft>
                <a:spcPts val="300"/>
              </a:spcAft>
              <a:buSzPct val="100000"/>
              <a:buChar char="•"/>
            </a:pPr>
            <a:r>
              <a:rPr lang="en-US" sz="1100" dirty="0">
                <a:solidFill>
                  <a:srgbClr val="F3F7FA"/>
                </a:solidFill>
                <a:latin typeface="Calibri" pitchFamily="34" charset="0"/>
                <a:ea typeface="Calibri" pitchFamily="34" charset="-122"/>
                <a:cs typeface="Calibri" pitchFamily="34" charset="-120"/>
              </a:rPr>
              <a:t>course_change_rate — maneuvering intensity</a:t>
            </a:r>
            <a:endParaRPr lang="en-US" sz="1100" dirty="0"/>
          </a:p>
          <a:p>
            <a:pPr marL="228600" indent="-228600">
              <a:spcAft>
                <a:spcPts val="300"/>
              </a:spcAft>
              <a:buSzPct val="100000"/>
              <a:buChar char="•"/>
            </a:pPr>
            <a:r>
              <a:rPr lang="en-US" sz="1100" dirty="0">
                <a:solidFill>
                  <a:srgbClr val="F3F7FA"/>
                </a:solidFill>
                <a:latin typeface="Calibri" pitchFamily="34" charset="0"/>
                <a:ea typeface="Calibri" pitchFamily="34" charset="-122"/>
                <a:cs typeface="Calibri" pitchFamily="34" charset="-120"/>
              </a:rPr>
              <a:t>total_distance_covered — mobile vs. stationary</a:t>
            </a:r>
            <a:endParaRPr lang="en-US" sz="1100" dirty="0"/>
          </a:p>
        </p:txBody>
      </p:sp>
      <p:sp>
        <p:nvSpPr>
          <p:cNvPr id="24" name="Shape 22"/>
          <p:cNvSpPr/>
          <p:nvPr/>
        </p:nvSpPr>
        <p:spPr>
          <a:xfrm>
            <a:off x="502920" y="4526280"/>
            <a:ext cx="5394960" cy="1508760"/>
          </a:xfrm>
          <a:prstGeom prst="roundRect">
            <a:avLst>
              <a:gd name="adj" fmla="val 4848"/>
            </a:avLst>
          </a:prstGeom>
          <a:solidFill>
            <a:srgbClr val="1B3A2C"/>
          </a:solidFill>
          <a:ln w="12700">
            <a:solidFill>
              <a:srgbClr val="10263B"/>
            </a:solidFill>
            <a:prstDash val="solid"/>
          </a:ln>
        </p:spPr>
        <p:txBody>
          <a:bodyPr/>
          <a:lstStyle/>
          <a:p>
            <a:endParaRPr lang="en-US"/>
          </a:p>
        </p:txBody>
      </p:sp>
      <p:sp>
        <p:nvSpPr>
          <p:cNvPr id="25" name="Text 23"/>
          <p:cNvSpPr txBox="1"/>
          <p:nvPr/>
        </p:nvSpPr>
        <p:spPr>
          <a:xfrm>
            <a:off x="685800" y="4617720"/>
            <a:ext cx="5029200"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Why StandardScaler is mandatory:</a:t>
            </a:r>
            <a:endParaRPr lang="en-US" sz="1200" dirty="0"/>
          </a:p>
        </p:txBody>
      </p:sp>
      <p:sp>
        <p:nvSpPr>
          <p:cNvPr id="26" name="Text 24"/>
          <p:cNvSpPr txBox="1"/>
          <p:nvPr/>
        </p:nvSpPr>
        <p:spPr>
          <a:xfrm>
            <a:off x="685800" y="4919472"/>
            <a:ext cx="5029200" cy="1051560"/>
          </a:xfrm>
          <a:prstGeom prst="rect">
            <a:avLst/>
          </a:prstGeom>
          <a:noFill/>
          <a:ln/>
        </p:spPr>
        <p:txBody>
          <a:bodyPr wrap="square" lIns="0" tIns="0" rIns="0" bIns="0" rtlCol="0" anchor="ctr"/>
          <a:lstStyle/>
          <a:p>
            <a:pPr marL="0" indent="0">
              <a:buNone/>
            </a:pPr>
            <a:r>
              <a:rPr lang="en-US" sz="1150" dirty="0">
                <a:solidFill>
                  <a:srgbClr val="DCEFE2"/>
                </a:solidFill>
                <a:latin typeface="Calibri" pitchFamily="34" charset="0"/>
                <a:ea typeface="Calibri" pitchFamily="34" charset="-122"/>
                <a:cs typeface="Calibri" pitchFamily="34" charset="-120"/>
              </a:rPr>
              <a:t>K-Means uses Euclidean distance. Without scaling, total_distance_covered (O(100s)) would dominate course_change_rate (O(0.1–10)) and silence the other features.</a:t>
            </a:r>
            <a:endParaRPr lang="en-US" sz="1150" dirty="0"/>
          </a:p>
        </p:txBody>
      </p:sp>
      <p:sp>
        <p:nvSpPr>
          <p:cNvPr id="27" name="Shape 25"/>
          <p:cNvSpPr/>
          <p:nvPr/>
        </p:nvSpPr>
        <p:spPr>
          <a:xfrm>
            <a:off x="6263640" y="2697480"/>
            <a:ext cx="5422392" cy="1691640"/>
          </a:xfrm>
          <a:prstGeom prst="roundRect">
            <a:avLst>
              <a:gd name="adj" fmla="val 4324"/>
            </a:avLst>
          </a:prstGeom>
          <a:solidFill>
            <a:srgbClr val="132E42"/>
          </a:solidFill>
          <a:ln w="12700">
            <a:solidFill>
              <a:srgbClr val="10263B"/>
            </a:solidFill>
            <a:prstDash val="solid"/>
          </a:ln>
        </p:spPr>
        <p:txBody>
          <a:bodyPr/>
          <a:lstStyle/>
          <a:p>
            <a:endParaRPr lang="en-US"/>
          </a:p>
        </p:txBody>
      </p:sp>
      <p:sp>
        <p:nvSpPr>
          <p:cNvPr id="28" name="Text 26"/>
          <p:cNvSpPr txBox="1"/>
          <p:nvPr/>
        </p:nvSpPr>
        <p:spPr>
          <a:xfrm>
            <a:off x="6446520" y="2788920"/>
            <a:ext cx="5056632" cy="274320"/>
          </a:xfrm>
          <a:prstGeom prst="rect">
            <a:avLst/>
          </a:prstGeom>
          <a:noFill/>
          <a:ln/>
        </p:spPr>
        <p:txBody>
          <a:bodyPr wrap="square" lIns="0" tIns="0" rIns="0" bIns="0" rtlCol="0" anchor="ctr"/>
          <a:lstStyle/>
          <a:p>
            <a:pPr marL="0" indent="0">
              <a:buNone/>
            </a:pPr>
            <a:r>
              <a:rPr lang="en-US" sz="1250" b="1" dirty="0">
                <a:solidFill>
                  <a:srgbClr val="5FB8D9"/>
                </a:solidFill>
                <a:latin typeface="Calibri" pitchFamily="34" charset="0"/>
                <a:ea typeface="Calibri" pitchFamily="34" charset="-122"/>
                <a:cs typeface="Calibri" pitchFamily="34" charset="-120"/>
              </a:rPr>
              <a:t>Model selection &amp; scoring</a:t>
            </a:r>
            <a:endParaRPr lang="en-US" sz="1250" dirty="0"/>
          </a:p>
        </p:txBody>
      </p:sp>
      <p:sp>
        <p:nvSpPr>
          <p:cNvPr id="29" name="Text 27"/>
          <p:cNvSpPr txBox="1"/>
          <p:nvPr/>
        </p:nvSpPr>
        <p:spPr>
          <a:xfrm>
            <a:off x="6446520" y="3108960"/>
            <a:ext cx="5056632" cy="1234440"/>
          </a:xfrm>
          <a:prstGeom prst="rect">
            <a:avLst/>
          </a:prstGeom>
          <a:noFill/>
          <a:ln/>
        </p:spPr>
        <p:txBody>
          <a:bodyPr wrap="square" lIns="0" tIns="0" rIns="0" bIns="0" rtlCol="0" anchor="ctr"/>
          <a:lstStyle/>
          <a:p>
            <a:pPr marL="0" indent="0">
              <a:buNone/>
            </a:pPr>
            <a:r>
              <a:rPr lang="en-US" sz="1250" i="1" dirty="0">
                <a:solidFill>
                  <a:srgbClr val="F3F7FA"/>
                </a:solidFill>
                <a:latin typeface="Cambria" pitchFamily="34" charset="0"/>
                <a:ea typeface="Cambria" pitchFamily="34" charset="-122"/>
                <a:cs typeface="Cambria" pitchFamily="34" charset="-120"/>
              </a:rPr>
              <a:t>Optimal K via elbow method on WSSSE (K = 2–10)</a:t>
            </a:r>
            <a:endParaRPr lang="en-US" sz="1250" dirty="0"/>
          </a:p>
          <a:p>
            <a:pPr marL="0" indent="0">
              <a:buNone/>
            </a:pPr>
            <a:endParaRPr lang="en-US" sz="1250" dirty="0"/>
          </a:p>
          <a:p>
            <a:pPr marL="0" indent="0">
              <a:buNone/>
            </a:pPr>
            <a:r>
              <a:rPr lang="en-US" sz="1250" i="1" dirty="0">
                <a:solidFill>
                  <a:srgbClr val="F3F7FA"/>
                </a:solidFill>
                <a:latin typeface="Cambria" pitchFamily="34" charset="0"/>
                <a:ea typeface="Cambria" pitchFamily="34" charset="-122"/>
                <a:cs typeface="Cambria" pitchFamily="34" charset="-120"/>
              </a:rPr>
              <a:t>anomaly_score(x) = ( d(x,cⱼ) − μⱼ ) / σⱼ</a:t>
            </a:r>
            <a:endParaRPr lang="en-US" sz="1250" dirty="0"/>
          </a:p>
        </p:txBody>
      </p:sp>
      <p:sp>
        <p:nvSpPr>
          <p:cNvPr id="30" name="Shape 28"/>
          <p:cNvSpPr/>
          <p:nvPr/>
        </p:nvSpPr>
        <p:spPr>
          <a:xfrm>
            <a:off x="6263640" y="4526280"/>
            <a:ext cx="5422392" cy="1508760"/>
          </a:xfrm>
          <a:prstGeom prst="roundRect">
            <a:avLst>
              <a:gd name="adj" fmla="val 4848"/>
            </a:avLst>
          </a:prstGeom>
          <a:solidFill>
            <a:srgbClr val="16324A"/>
          </a:solidFill>
          <a:ln w="12700">
            <a:solidFill>
              <a:srgbClr val="10263B"/>
            </a:solidFill>
            <a:prstDash val="solid"/>
          </a:ln>
        </p:spPr>
        <p:txBody>
          <a:bodyPr/>
          <a:lstStyle/>
          <a:p>
            <a:endParaRPr lang="en-US"/>
          </a:p>
        </p:txBody>
      </p:sp>
      <p:sp>
        <p:nvSpPr>
          <p:cNvPr id="31" name="Text 29"/>
          <p:cNvSpPr txBox="1"/>
          <p:nvPr/>
        </p:nvSpPr>
        <p:spPr>
          <a:xfrm>
            <a:off x="6446520" y="4617720"/>
            <a:ext cx="5056632" cy="274320"/>
          </a:xfrm>
          <a:prstGeom prst="rect">
            <a:avLst/>
          </a:prstGeom>
          <a:noFill/>
          <a:ln/>
        </p:spPr>
        <p:txBody>
          <a:bodyPr wrap="square" lIns="0" tIns="0" rIns="0" bIns="0" rtlCol="0" anchor="ctr"/>
          <a:lstStyle/>
          <a:p>
            <a:pPr marL="0" indent="0">
              <a:buNone/>
            </a:pPr>
            <a:r>
              <a:rPr lang="en-US" sz="1200" b="1" dirty="0">
                <a:solidFill>
                  <a:srgbClr val="12A594"/>
                </a:solidFill>
                <a:latin typeface="Calibri" pitchFamily="34" charset="0"/>
                <a:ea typeface="Calibri" pitchFamily="34" charset="-122"/>
                <a:cs typeface="Calibri" pitchFamily="34" charset="-120"/>
              </a:rPr>
              <a:t>Anomaly thresholds</a:t>
            </a:r>
            <a:endParaRPr lang="en-US" sz="1200" dirty="0"/>
          </a:p>
        </p:txBody>
      </p:sp>
      <p:sp>
        <p:nvSpPr>
          <p:cNvPr id="32" name="Shape 30"/>
          <p:cNvSpPr/>
          <p:nvPr/>
        </p:nvSpPr>
        <p:spPr>
          <a:xfrm>
            <a:off x="6446520" y="4956048"/>
            <a:ext cx="2629814" cy="292608"/>
          </a:xfrm>
          <a:prstGeom prst="roundRect">
            <a:avLst>
              <a:gd name="adj" fmla="val 50000"/>
            </a:avLst>
          </a:prstGeom>
          <a:solidFill>
            <a:srgbClr val="12A594"/>
          </a:solidFill>
          <a:ln w="12700">
            <a:solidFill>
              <a:srgbClr val="12A594"/>
            </a:solidFill>
            <a:prstDash val="solid"/>
          </a:ln>
        </p:spPr>
        <p:txBody>
          <a:bodyPr/>
          <a:lstStyle/>
          <a:p>
            <a:endParaRPr lang="en-US"/>
          </a:p>
        </p:txBody>
      </p:sp>
      <p:sp>
        <p:nvSpPr>
          <p:cNvPr id="33" name="Text 31"/>
          <p:cNvSpPr txBox="1"/>
          <p:nvPr/>
        </p:nvSpPr>
        <p:spPr>
          <a:xfrm>
            <a:off x="6446520" y="4946904"/>
            <a:ext cx="2629814" cy="310896"/>
          </a:xfrm>
          <a:prstGeom prst="rect">
            <a:avLst/>
          </a:prstGeom>
          <a:noFill/>
          <a:ln/>
        </p:spPr>
        <p:txBody>
          <a:bodyPr wrap="square" lIns="0" tIns="0" rIns="0" bIns="0" rtlCol="0" anchor="ctr"/>
          <a:lstStyle/>
          <a:p>
            <a:pPr marL="0" indent="0" algn="ctr">
              <a:buNone/>
            </a:pPr>
            <a:r>
              <a:rPr lang="en-US" sz="1050" b="1" dirty="0">
                <a:solidFill>
                  <a:srgbClr val="0A1826"/>
                </a:solidFill>
                <a:latin typeface="Calibri" pitchFamily="34" charset="0"/>
                <a:ea typeface="Calibri" pitchFamily="34" charset="-122"/>
                <a:cs typeface="Calibri" pitchFamily="34" charset="-120"/>
              </a:rPr>
              <a:t>2.5σ — moderate (analyst review)</a:t>
            </a:r>
            <a:endParaRPr lang="en-US" sz="1050" dirty="0"/>
          </a:p>
        </p:txBody>
      </p:sp>
      <p:sp>
        <p:nvSpPr>
          <p:cNvPr id="34" name="Shape 32"/>
          <p:cNvSpPr/>
          <p:nvPr/>
        </p:nvSpPr>
        <p:spPr>
          <a:xfrm>
            <a:off x="6446520" y="5349240"/>
            <a:ext cx="2629814" cy="292608"/>
          </a:xfrm>
          <a:prstGeom prst="roundRect">
            <a:avLst>
              <a:gd name="adj" fmla="val 50000"/>
            </a:avLst>
          </a:prstGeom>
          <a:solidFill>
            <a:srgbClr val="F2A93B"/>
          </a:solidFill>
          <a:ln w="12700">
            <a:solidFill>
              <a:srgbClr val="F2A93B"/>
            </a:solidFill>
            <a:prstDash val="solid"/>
          </a:ln>
        </p:spPr>
        <p:txBody>
          <a:bodyPr/>
          <a:lstStyle/>
          <a:p>
            <a:endParaRPr lang="en-US"/>
          </a:p>
        </p:txBody>
      </p:sp>
      <p:sp>
        <p:nvSpPr>
          <p:cNvPr id="35" name="Text 33"/>
          <p:cNvSpPr txBox="1"/>
          <p:nvPr/>
        </p:nvSpPr>
        <p:spPr>
          <a:xfrm>
            <a:off x="6446520" y="5340096"/>
            <a:ext cx="2629814" cy="310896"/>
          </a:xfrm>
          <a:prstGeom prst="rect">
            <a:avLst/>
          </a:prstGeom>
          <a:noFill/>
          <a:ln/>
        </p:spPr>
        <p:txBody>
          <a:bodyPr wrap="square" lIns="0" tIns="0" rIns="0" bIns="0" rtlCol="0" anchor="ctr"/>
          <a:lstStyle/>
          <a:p>
            <a:pPr marL="0" indent="0" algn="ctr">
              <a:buNone/>
            </a:pPr>
            <a:r>
              <a:rPr lang="en-US" sz="1050" b="1" dirty="0">
                <a:solidFill>
                  <a:srgbClr val="0A1826"/>
                </a:solidFill>
                <a:latin typeface="Calibri" pitchFamily="34" charset="0"/>
                <a:ea typeface="Calibri" pitchFamily="34" charset="-122"/>
                <a:cs typeface="Calibri" pitchFamily="34" charset="-120"/>
              </a:rPr>
              <a:t>3.0σ — conservative (auto alert)</a:t>
            </a:r>
            <a:endParaRPr lang="en-US" sz="1050" dirty="0"/>
          </a:p>
        </p:txBody>
      </p:sp>
      <p:sp>
        <p:nvSpPr>
          <p:cNvPr id="36" name="Text 34"/>
          <p:cNvSpPr txBox="1"/>
          <p:nvPr/>
        </p:nvSpPr>
        <p:spPr>
          <a:xfrm>
            <a:off x="6446520" y="5760720"/>
            <a:ext cx="5056632" cy="274320"/>
          </a:xfrm>
          <a:prstGeom prst="rect">
            <a:avLst/>
          </a:prstGeom>
          <a:noFill/>
          <a:ln/>
        </p:spPr>
        <p:txBody>
          <a:bodyPr wrap="square" lIns="0" tIns="0" rIns="0" bIns="0" rtlCol="0" anchor="ctr"/>
          <a:lstStyle/>
          <a:p>
            <a:pPr marL="0" indent="0">
              <a:buNone/>
            </a:pPr>
            <a:r>
              <a:rPr lang="en-US" sz="1050" i="1" dirty="0">
                <a:solidFill>
                  <a:srgbClr val="93ABBE"/>
                </a:solidFill>
                <a:latin typeface="Calibri" pitchFamily="34" charset="0"/>
                <a:ea typeface="Calibri" pitchFamily="34" charset="-122"/>
                <a:cs typeface="Calibri" pitchFamily="34" charset="-120"/>
              </a:rPr>
              <a:t>Precision/recall trade-off, configurable per deployment</a:t>
            </a:r>
            <a:endParaRPr lang="en-US" sz="1050" dirty="0"/>
          </a:p>
        </p:txBody>
      </p:sp>
      <p:sp>
        <p:nvSpPr>
          <p:cNvPr id="37" name="Text 3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SERVING LAYER</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PostgreSQL + PostGIS: The Unified Serving Surface</a:t>
            </a:r>
            <a:endParaRPr lang="en-US" sz="3000" dirty="0"/>
          </a:p>
        </p:txBody>
      </p:sp>
      <p:sp>
        <p:nvSpPr>
          <p:cNvPr id="4" name="Shape 2"/>
          <p:cNvSpPr/>
          <p:nvPr/>
        </p:nvSpPr>
        <p:spPr>
          <a:xfrm>
            <a:off x="502920" y="1600200"/>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5" name="Text 3"/>
          <p:cNvSpPr txBox="1"/>
          <p:nvPr/>
        </p:nvSpPr>
        <p:spPr>
          <a:xfrm>
            <a:off x="640080" y="1600200"/>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active_fleet_state</a:t>
            </a:r>
            <a:endParaRPr lang="en-US" sz="1150" dirty="0"/>
          </a:p>
        </p:txBody>
      </p:sp>
      <p:sp>
        <p:nvSpPr>
          <p:cNvPr id="6" name="Text 4"/>
          <p:cNvSpPr txBox="1"/>
          <p:nvPr/>
        </p:nvSpPr>
        <p:spPr>
          <a:xfrm>
            <a:off x="2880360" y="1600200"/>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Current position per vessel, PK: mmsi, GiST-indexed geom</a:t>
            </a:r>
            <a:endParaRPr lang="en-US" sz="1050" dirty="0"/>
          </a:p>
        </p:txBody>
      </p:sp>
      <p:sp>
        <p:nvSpPr>
          <p:cNvPr id="7" name="Shape 5"/>
          <p:cNvSpPr/>
          <p:nvPr/>
        </p:nvSpPr>
        <p:spPr>
          <a:xfrm>
            <a:off x="502920" y="2221992"/>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8" name="Text 6"/>
          <p:cNvSpPr txBox="1"/>
          <p:nvPr/>
        </p:nvSpPr>
        <p:spPr>
          <a:xfrm>
            <a:off x="640080" y="2221992"/>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vessel_speed_alerts</a:t>
            </a:r>
            <a:endParaRPr lang="en-US" sz="1150" dirty="0"/>
          </a:p>
        </p:txBody>
      </p:sp>
      <p:sp>
        <p:nvSpPr>
          <p:cNvPr id="9" name="Text 7"/>
          <p:cNvSpPr txBox="1"/>
          <p:nvPr/>
        </p:nvSpPr>
        <p:spPr>
          <a:xfrm>
            <a:off x="2880360" y="2221992"/>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Append-only alert log, FK → active_fleet_state</a:t>
            </a:r>
            <a:endParaRPr lang="en-US" sz="1050" dirty="0"/>
          </a:p>
        </p:txBody>
      </p:sp>
      <p:sp>
        <p:nvSpPr>
          <p:cNvPr id="10" name="Shape 8"/>
          <p:cNvSpPr/>
          <p:nvPr/>
        </p:nvSpPr>
        <p:spPr>
          <a:xfrm>
            <a:off x="502920" y="2843784"/>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11" name="Text 9"/>
          <p:cNvSpPr txBox="1"/>
          <p:nvPr/>
        </p:nvSpPr>
        <p:spPr>
          <a:xfrm>
            <a:off x="640080" y="2843784"/>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port_reference</a:t>
            </a:r>
            <a:endParaRPr lang="en-US" sz="1150" dirty="0"/>
          </a:p>
        </p:txBody>
      </p:sp>
      <p:sp>
        <p:nvSpPr>
          <p:cNvPr id="12" name="Text 10"/>
          <p:cNvSpPr txBox="1"/>
          <p:nvPr/>
        </p:nvSpPr>
        <p:spPr>
          <a:xfrm>
            <a:off x="2880360" y="2843784"/>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Static port polygon geofences</a:t>
            </a:r>
            <a:endParaRPr lang="en-US" sz="1050" dirty="0"/>
          </a:p>
        </p:txBody>
      </p:sp>
      <p:sp>
        <p:nvSpPr>
          <p:cNvPr id="13" name="Shape 11"/>
          <p:cNvSpPr/>
          <p:nvPr/>
        </p:nvSpPr>
        <p:spPr>
          <a:xfrm>
            <a:off x="502920" y="3465576"/>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14" name="Text 12"/>
          <p:cNvSpPr txBox="1"/>
          <p:nvPr/>
        </p:nvSpPr>
        <p:spPr>
          <a:xfrm>
            <a:off x="640080" y="3465576"/>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port_dwell_times</a:t>
            </a:r>
            <a:endParaRPr lang="en-US" sz="1150" dirty="0"/>
          </a:p>
        </p:txBody>
      </p:sp>
      <p:sp>
        <p:nvSpPr>
          <p:cNvPr id="15" name="Text 13"/>
          <p:cNvSpPr txBox="1"/>
          <p:nvPr/>
        </p:nvSpPr>
        <p:spPr>
          <a:xfrm>
            <a:off x="2880360" y="3465576"/>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Computed dwell duration per port call</a:t>
            </a:r>
            <a:endParaRPr lang="en-US" sz="1050" dirty="0"/>
          </a:p>
        </p:txBody>
      </p:sp>
      <p:sp>
        <p:nvSpPr>
          <p:cNvPr id="16" name="Shape 14"/>
          <p:cNvSpPr/>
          <p:nvPr/>
        </p:nvSpPr>
        <p:spPr>
          <a:xfrm>
            <a:off x="502920" y="4087368"/>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17" name="Text 15"/>
          <p:cNvSpPr txBox="1"/>
          <p:nvPr/>
        </p:nvSpPr>
        <p:spPr>
          <a:xfrm>
            <a:off x="640080" y="4087368"/>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fleet_daily_kpis</a:t>
            </a:r>
            <a:endParaRPr lang="en-US" sz="1150" dirty="0"/>
          </a:p>
        </p:txBody>
      </p:sp>
      <p:sp>
        <p:nvSpPr>
          <p:cNvPr id="18" name="Text 16"/>
          <p:cNvSpPr txBox="1"/>
          <p:nvPr/>
        </p:nvSpPr>
        <p:spPr>
          <a:xfrm>
            <a:off x="2880360" y="4087368"/>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Daily fleet-wide aggregates, PK: kpi_date</a:t>
            </a:r>
            <a:endParaRPr lang="en-US" sz="1050" dirty="0"/>
          </a:p>
        </p:txBody>
      </p:sp>
      <p:sp>
        <p:nvSpPr>
          <p:cNvPr id="19" name="Shape 17"/>
          <p:cNvSpPr/>
          <p:nvPr/>
        </p:nvSpPr>
        <p:spPr>
          <a:xfrm>
            <a:off x="502920" y="4709160"/>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20" name="Text 18"/>
          <p:cNvSpPr txBox="1"/>
          <p:nvPr/>
        </p:nvSpPr>
        <p:spPr>
          <a:xfrm>
            <a:off x="640080" y="4709160"/>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route_density_grid</a:t>
            </a:r>
            <a:endParaRPr lang="en-US" sz="1150" dirty="0"/>
          </a:p>
        </p:txBody>
      </p:sp>
      <p:sp>
        <p:nvSpPr>
          <p:cNvPr id="21" name="Text 19"/>
          <p:cNvSpPr txBox="1"/>
          <p:nvPr/>
        </p:nvSpPr>
        <p:spPr>
          <a:xfrm>
            <a:off x="2880360" y="4709160"/>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Spatial grid for congestion heatmaps</a:t>
            </a:r>
            <a:endParaRPr lang="en-US" sz="1050" dirty="0"/>
          </a:p>
        </p:txBody>
      </p:sp>
      <p:sp>
        <p:nvSpPr>
          <p:cNvPr id="22" name="Shape 20"/>
          <p:cNvSpPr/>
          <p:nvPr/>
        </p:nvSpPr>
        <p:spPr>
          <a:xfrm>
            <a:off x="502920" y="5330952"/>
            <a:ext cx="6400800" cy="548640"/>
          </a:xfrm>
          <a:prstGeom prst="roundRect">
            <a:avLst>
              <a:gd name="adj" fmla="val 13333"/>
            </a:avLst>
          </a:prstGeom>
          <a:solidFill>
            <a:srgbClr val="16324A"/>
          </a:solidFill>
          <a:ln w="12700">
            <a:solidFill>
              <a:srgbClr val="10263B"/>
            </a:solidFill>
            <a:prstDash val="solid"/>
          </a:ln>
        </p:spPr>
        <p:txBody>
          <a:bodyPr/>
          <a:lstStyle/>
          <a:p>
            <a:endParaRPr lang="en-US"/>
          </a:p>
        </p:txBody>
      </p:sp>
      <p:sp>
        <p:nvSpPr>
          <p:cNvPr id="23" name="Text 21"/>
          <p:cNvSpPr txBox="1"/>
          <p:nvPr/>
        </p:nvSpPr>
        <p:spPr>
          <a:xfrm>
            <a:off x="640080" y="5330952"/>
            <a:ext cx="2194560" cy="548640"/>
          </a:xfrm>
          <a:prstGeom prst="rect">
            <a:avLst/>
          </a:prstGeom>
          <a:noFill/>
          <a:ln/>
        </p:spPr>
        <p:txBody>
          <a:bodyPr wrap="square" lIns="0" tIns="0" rIns="0" bIns="0" rtlCol="0" anchor="ctr"/>
          <a:lstStyle/>
          <a:p>
            <a:pPr marL="0" indent="0">
              <a:buNone/>
            </a:pPr>
            <a:r>
              <a:rPr lang="en-US" sz="1150" b="1" dirty="0">
                <a:solidFill>
                  <a:srgbClr val="12A594"/>
                </a:solidFill>
                <a:latin typeface="Consolas" pitchFamily="34" charset="0"/>
                <a:ea typeface="Consolas" pitchFamily="34" charset="-122"/>
                <a:cs typeface="Consolas" pitchFamily="34" charset="-120"/>
              </a:rPr>
              <a:t>vessel_behavior_clusters</a:t>
            </a:r>
            <a:endParaRPr lang="en-US" sz="1150" dirty="0"/>
          </a:p>
        </p:txBody>
      </p:sp>
      <p:sp>
        <p:nvSpPr>
          <p:cNvPr id="24" name="Text 22"/>
          <p:cNvSpPr txBox="1"/>
          <p:nvPr/>
        </p:nvSpPr>
        <p:spPr>
          <a:xfrm>
            <a:off x="2880360" y="5330952"/>
            <a:ext cx="3886200" cy="548640"/>
          </a:xfrm>
          <a:prstGeom prst="rect">
            <a:avLst/>
          </a:prstGeom>
          <a:noFill/>
          <a:ln/>
        </p:spPr>
        <p:txBody>
          <a:bodyPr wrap="square" lIns="0" tIns="0" rIns="0" bIns="0" rtlCol="0" anchor="ctr"/>
          <a:lstStyle/>
          <a:p>
            <a:pPr marL="0" indent="0">
              <a:buNone/>
            </a:pPr>
            <a:r>
              <a:rPr lang="en-US" sz="1050" dirty="0">
                <a:solidFill>
                  <a:srgbClr val="93ABBE"/>
                </a:solidFill>
                <a:latin typeface="Calibri" pitchFamily="34" charset="0"/>
                <a:ea typeface="Calibri" pitchFamily="34" charset="-122"/>
                <a:cs typeface="Calibri" pitchFamily="34" charset="-120"/>
              </a:rPr>
              <a:t>K-Means cluster_id + anomaly_score, PK: (mmsi, cluster_date)</a:t>
            </a:r>
            <a:endParaRPr lang="en-US" sz="1050" dirty="0"/>
          </a:p>
        </p:txBody>
      </p:sp>
      <p:sp>
        <p:nvSpPr>
          <p:cNvPr id="25" name="Text 23"/>
          <p:cNvSpPr txBox="1"/>
          <p:nvPr/>
        </p:nvSpPr>
        <p:spPr>
          <a:xfrm>
            <a:off x="502920" y="5998464"/>
            <a:ext cx="6400800" cy="320040"/>
          </a:xfrm>
          <a:prstGeom prst="rect">
            <a:avLst/>
          </a:prstGeom>
          <a:noFill/>
          <a:ln/>
        </p:spPr>
        <p:txBody>
          <a:bodyPr wrap="square" lIns="0" tIns="0" rIns="0" bIns="0" rtlCol="0" anchor="ctr"/>
          <a:lstStyle/>
          <a:p>
            <a:pPr marL="0" indent="0">
              <a:buNone/>
            </a:pPr>
            <a:r>
              <a:rPr lang="en-US" sz="1050" i="1" dirty="0">
                <a:solidFill>
                  <a:srgbClr val="6E8A9E"/>
                </a:solidFill>
                <a:latin typeface="Calibri" pitchFamily="34" charset="0"/>
                <a:ea typeface="Calibri" pitchFamily="34" charset="-122"/>
                <a:cs typeface="Calibri" pitchFamily="34" charset="-120"/>
              </a:rPr>
              <a:t>+ 7 supporting tables (vessels_static, pipeline_run_log, model_registry …) — 14 total</a:t>
            </a:r>
            <a:endParaRPr lang="en-US" sz="1050" dirty="0"/>
          </a:p>
        </p:txBody>
      </p:sp>
      <p:sp>
        <p:nvSpPr>
          <p:cNvPr id="26" name="Shape 24"/>
          <p:cNvSpPr/>
          <p:nvPr/>
        </p:nvSpPr>
        <p:spPr>
          <a:xfrm>
            <a:off x="7315200" y="1600200"/>
            <a:ext cx="4370832" cy="2743200"/>
          </a:xfrm>
          <a:prstGeom prst="roundRect">
            <a:avLst>
              <a:gd name="adj" fmla="val 2667"/>
            </a:avLst>
          </a:prstGeom>
          <a:solidFill>
            <a:srgbClr val="132E42"/>
          </a:solidFill>
          <a:ln w="12700">
            <a:solidFill>
              <a:srgbClr val="10263B"/>
            </a:solidFill>
            <a:prstDash val="solid"/>
          </a:ln>
        </p:spPr>
        <p:txBody>
          <a:bodyPr/>
          <a:lstStyle/>
          <a:p>
            <a:endParaRPr lang="en-US"/>
          </a:p>
        </p:txBody>
      </p:sp>
      <p:sp>
        <p:nvSpPr>
          <p:cNvPr id="27" name="Text 25"/>
          <p:cNvSpPr txBox="1"/>
          <p:nvPr/>
        </p:nvSpPr>
        <p:spPr>
          <a:xfrm>
            <a:off x="7498080" y="1719072"/>
            <a:ext cx="4005072" cy="274320"/>
          </a:xfrm>
          <a:prstGeom prst="rect">
            <a:avLst/>
          </a:prstGeom>
          <a:noFill/>
          <a:ln/>
        </p:spPr>
        <p:txBody>
          <a:bodyPr wrap="square" lIns="0" tIns="0" rIns="0" bIns="0" rtlCol="0" anchor="ctr"/>
          <a:lstStyle/>
          <a:p>
            <a:pPr marL="0" indent="0">
              <a:buNone/>
            </a:pPr>
            <a:r>
              <a:rPr lang="en-US" sz="1350" b="1" dirty="0">
                <a:solidFill>
                  <a:srgbClr val="5FB8D9"/>
                </a:solidFill>
                <a:latin typeface="Calibri" pitchFamily="34" charset="0"/>
                <a:ea typeface="Calibri" pitchFamily="34" charset="-122"/>
                <a:cs typeface="Calibri" pitchFamily="34" charset="-120"/>
              </a:rPr>
              <a:t>Why PostGIS?</a:t>
            </a:r>
            <a:endParaRPr lang="en-US" sz="1350" dirty="0"/>
          </a:p>
        </p:txBody>
      </p:sp>
      <p:sp>
        <p:nvSpPr>
          <p:cNvPr id="28" name="Text 26"/>
          <p:cNvSpPr txBox="1"/>
          <p:nvPr/>
        </p:nvSpPr>
        <p:spPr>
          <a:xfrm>
            <a:off x="7498080" y="2057400"/>
            <a:ext cx="4005072" cy="2194560"/>
          </a:xfrm>
          <a:prstGeom prst="rect">
            <a:avLst/>
          </a:prstGeom>
          <a:noFill/>
          <a:ln/>
        </p:spPr>
        <p:txBody>
          <a:bodyPr wrap="square" lIns="0" tIns="0" rIns="0" bIns="0" rtlCol="0" anchor="t"/>
          <a:lstStyle/>
          <a:p>
            <a:pPr marL="228600" indent="-228600">
              <a:spcAft>
                <a:spcPts val="800"/>
              </a:spcAft>
              <a:buSzPct val="100000"/>
              <a:buChar char="•"/>
            </a:pPr>
            <a:r>
              <a:rPr lang="en-US" sz="1200" dirty="0">
                <a:solidFill>
                  <a:srgbClr val="F3F7FA"/>
                </a:solidFill>
                <a:latin typeface="Calibri" pitchFamily="34" charset="0"/>
                <a:ea typeface="Calibri" pitchFamily="34" charset="-122"/>
                <a:cs typeface="Calibri" pitchFamily="34" charset="-120"/>
              </a:rPr>
              <a:t>Geometry(Point, 4326) &amp; Geometry(Polygon, 4326)</a:t>
            </a:r>
            <a:endParaRPr lang="en-US" sz="1200" dirty="0"/>
          </a:p>
          <a:p>
            <a:pPr marL="228600" indent="-228600">
              <a:spcAft>
                <a:spcPts val="800"/>
              </a:spcAft>
              <a:buSzPct val="100000"/>
              <a:buChar char="•"/>
            </a:pPr>
            <a:r>
              <a:rPr lang="en-US" sz="1200" dirty="0">
                <a:solidFill>
                  <a:srgbClr val="F3F7FA"/>
                </a:solidFill>
                <a:latin typeface="Calibri" pitchFamily="34" charset="0"/>
                <a:ea typeface="Calibri" pitchFamily="34" charset="-122"/>
                <a:cs typeface="Calibri" pitchFamily="34" charset="-120"/>
              </a:rPr>
              <a:t>GiST spatial indexes — efficient on upserts, not just reads</a:t>
            </a:r>
            <a:endParaRPr lang="en-US" sz="1200" dirty="0"/>
          </a:p>
          <a:p>
            <a:pPr marL="228600" indent="-228600">
              <a:spcAft>
                <a:spcPts val="800"/>
              </a:spcAft>
              <a:buSzPct val="100000"/>
              <a:buChar char="•"/>
            </a:pPr>
            <a:r>
              <a:rPr lang="en-US" sz="1200" dirty="0">
                <a:solidFill>
                  <a:srgbClr val="F3F7FA"/>
                </a:solidFill>
                <a:latin typeface="Calibri" pitchFamily="34" charset="0"/>
                <a:ea typeface="Calibri" pitchFamily="34" charset="-122"/>
                <a:cs typeface="Calibri" pitchFamily="34" charset="-120"/>
              </a:rPr>
              <a:t>Native ST_Contains / ST_DWithin for geofencing</a:t>
            </a:r>
            <a:endParaRPr lang="en-US" sz="1200" dirty="0"/>
          </a:p>
          <a:p>
            <a:pPr marL="228600" indent="-228600">
              <a:spcAft>
                <a:spcPts val="800"/>
              </a:spcAft>
              <a:buSzPct val="100000"/>
              <a:buChar char="•"/>
            </a:pPr>
            <a:r>
              <a:rPr lang="en-US" sz="1200" dirty="0">
                <a:solidFill>
                  <a:srgbClr val="F3F7FA"/>
                </a:solidFill>
                <a:latin typeface="Calibri" pitchFamily="34" charset="0"/>
                <a:ea typeface="Calibri" pitchFamily="34" charset="-122"/>
                <a:cs typeface="Calibri" pitchFamily="34" charset="-120"/>
              </a:rPr>
              <a:t>ACID-compliant concurrent upserts — the property that let us solve the deadlock deterministically</a:t>
            </a:r>
            <a:endParaRPr lang="en-US" sz="1200" dirty="0"/>
          </a:p>
        </p:txBody>
      </p:sp>
      <p:sp>
        <p:nvSpPr>
          <p:cNvPr id="29" name="Shape 27"/>
          <p:cNvSpPr/>
          <p:nvPr/>
        </p:nvSpPr>
        <p:spPr>
          <a:xfrm>
            <a:off x="7315200" y="4480560"/>
            <a:ext cx="4370832" cy="1554480"/>
          </a:xfrm>
          <a:prstGeom prst="roundRect">
            <a:avLst>
              <a:gd name="adj" fmla="val 4706"/>
            </a:avLst>
          </a:prstGeom>
          <a:solidFill>
            <a:srgbClr val="16324A"/>
          </a:solidFill>
          <a:ln w="12700">
            <a:solidFill>
              <a:srgbClr val="10263B"/>
            </a:solidFill>
            <a:prstDash val="solid"/>
          </a:ln>
        </p:spPr>
        <p:txBody>
          <a:bodyPr/>
          <a:lstStyle/>
          <a:p>
            <a:endParaRPr lang="en-US"/>
          </a:p>
        </p:txBody>
      </p:sp>
      <p:sp>
        <p:nvSpPr>
          <p:cNvPr id="30" name="Text 28"/>
          <p:cNvSpPr txBox="1"/>
          <p:nvPr/>
        </p:nvSpPr>
        <p:spPr>
          <a:xfrm>
            <a:off x="7498080" y="4572000"/>
            <a:ext cx="4005072" cy="274320"/>
          </a:xfrm>
          <a:prstGeom prst="rect">
            <a:avLst/>
          </a:prstGeom>
          <a:noFill/>
          <a:ln/>
        </p:spPr>
        <p:txBody>
          <a:bodyPr wrap="square" lIns="0" tIns="0" rIns="0" bIns="0" rtlCol="0" anchor="ctr"/>
          <a:lstStyle/>
          <a:p>
            <a:pPr marL="0" indent="0">
              <a:buNone/>
            </a:pPr>
            <a:r>
              <a:rPr lang="en-US" sz="1250" b="1" dirty="0">
                <a:solidFill>
                  <a:srgbClr val="12A594"/>
                </a:solidFill>
                <a:latin typeface="Calibri" pitchFamily="34" charset="0"/>
                <a:ea typeface="Calibri" pitchFamily="34" charset="-122"/>
                <a:cs typeface="Calibri" pitchFamily="34" charset="-120"/>
              </a:rPr>
              <a:t>Why not a NoSQL geo store?</a:t>
            </a:r>
            <a:endParaRPr lang="en-US" sz="1250" dirty="0"/>
          </a:p>
        </p:txBody>
      </p:sp>
      <p:sp>
        <p:nvSpPr>
          <p:cNvPr id="31" name="Text 29"/>
          <p:cNvSpPr txBox="1"/>
          <p:nvPr/>
        </p:nvSpPr>
        <p:spPr>
          <a:xfrm>
            <a:off x="7498080" y="4864608"/>
            <a:ext cx="4005072" cy="1097280"/>
          </a:xfrm>
          <a:prstGeom prst="rect">
            <a:avLst/>
          </a:prstGeom>
          <a:noFill/>
          <a:ln/>
        </p:spPr>
        <p:txBody>
          <a:bodyPr wrap="square" lIns="0" tIns="0" rIns="0" bIns="0" rtlCol="0" anchor="ctr"/>
          <a:lstStyle/>
          <a:p>
            <a:pPr marL="0" indent="0">
              <a:buNone/>
            </a:pPr>
            <a:r>
              <a:rPr lang="en-US" sz="1150" dirty="0">
                <a:solidFill>
                  <a:srgbClr val="93ABBE"/>
                </a:solidFill>
                <a:latin typeface="Calibri" pitchFamily="34" charset="0"/>
                <a:ea typeface="Calibri" pitchFamily="34" charset="-122"/>
                <a:cs typeface="Calibri" pitchFamily="34" charset="-120"/>
              </a:rPr>
              <a:t>Document stores approximate geospatial indexing, but don't guarantee ACID correctness under concurrent conflict-resolution writes — exactly the property active_fleet_state depends on.</a:t>
            </a:r>
            <a:endParaRPr lang="en-US" sz="1150" dirty="0"/>
          </a:p>
        </p:txBody>
      </p:sp>
      <p:sp>
        <p:nvSpPr>
          <p:cNvPr id="32" name="Text 30"/>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826"/>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ANALYTICS &amp; VISUALIZATION</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3000" b="1" dirty="0">
                <a:solidFill>
                  <a:srgbClr val="F3F7FA"/>
                </a:solidFill>
                <a:latin typeface="Calibri" pitchFamily="34" charset="0"/>
                <a:ea typeface="Calibri" pitchFamily="34" charset="-122"/>
                <a:cs typeface="Calibri" pitchFamily="34" charset="-120"/>
              </a:rPr>
              <a:t>Zeppelin + Superset: Two Audiences, Two Tools</a:t>
            </a:r>
            <a:endParaRPr lang="en-US" sz="3000" dirty="0"/>
          </a:p>
        </p:txBody>
      </p:sp>
      <p:sp>
        <p:nvSpPr>
          <p:cNvPr id="4" name="Shape 2"/>
          <p:cNvSpPr/>
          <p:nvPr/>
        </p:nvSpPr>
        <p:spPr>
          <a:xfrm>
            <a:off x="502920" y="1600200"/>
            <a:ext cx="5120640" cy="4160520"/>
          </a:xfrm>
          <a:prstGeom prst="roundRect">
            <a:avLst>
              <a:gd name="adj" fmla="val 1758"/>
            </a:avLst>
          </a:prstGeom>
          <a:solidFill>
            <a:srgbClr val="132E42"/>
          </a:solidFill>
          <a:ln w="12700">
            <a:solidFill>
              <a:srgbClr val="10263B"/>
            </a:solidFill>
            <a:prstDash val="solid"/>
          </a:ln>
        </p:spPr>
        <p:txBody>
          <a:bodyPr/>
          <a:lstStyle/>
          <a:p>
            <a:endParaRPr lang="en-US"/>
          </a:p>
        </p:txBody>
      </p:sp>
      <p:sp>
        <p:nvSpPr>
          <p:cNvPr id="5" name="Text 3"/>
          <p:cNvSpPr txBox="1"/>
          <p:nvPr/>
        </p:nvSpPr>
        <p:spPr>
          <a:xfrm>
            <a:off x="731520" y="1737360"/>
            <a:ext cx="4663440" cy="365760"/>
          </a:xfrm>
          <a:prstGeom prst="rect">
            <a:avLst/>
          </a:prstGeom>
          <a:noFill/>
          <a:ln/>
        </p:spPr>
        <p:txBody>
          <a:bodyPr wrap="square" lIns="0" tIns="0" rIns="0" bIns="0" rtlCol="0" anchor="ctr"/>
          <a:lstStyle/>
          <a:p>
            <a:pPr marL="0" indent="0">
              <a:buNone/>
            </a:pPr>
            <a:r>
              <a:rPr lang="en-US" sz="1700" b="1" dirty="0">
                <a:solidFill>
                  <a:srgbClr val="5FB8D9"/>
                </a:solidFill>
                <a:latin typeface="Calibri" pitchFamily="34" charset="0"/>
                <a:ea typeface="Calibri" pitchFamily="34" charset="-122"/>
                <a:cs typeface="Calibri" pitchFamily="34" charset="-120"/>
              </a:rPr>
              <a:t>ZEPPELIN</a:t>
            </a:r>
            <a:endParaRPr lang="en-US" sz="1700" dirty="0"/>
          </a:p>
        </p:txBody>
      </p:sp>
      <p:sp>
        <p:nvSpPr>
          <p:cNvPr id="6" name="Text 4"/>
          <p:cNvSpPr txBox="1"/>
          <p:nvPr/>
        </p:nvSpPr>
        <p:spPr>
          <a:xfrm>
            <a:off x="731520" y="2121408"/>
            <a:ext cx="4663440" cy="320040"/>
          </a:xfrm>
          <a:prstGeom prst="rect">
            <a:avLst/>
          </a:prstGeom>
          <a:noFill/>
          <a:ln/>
        </p:spPr>
        <p:txBody>
          <a:bodyPr wrap="square" lIns="0" tIns="0" rIns="0" bIns="0" rtlCol="0" anchor="ctr"/>
          <a:lstStyle/>
          <a:p>
            <a:pPr marL="0" indent="0">
              <a:buNone/>
            </a:pPr>
            <a:r>
              <a:rPr lang="en-US" sz="1200" i="1" dirty="0">
                <a:solidFill>
                  <a:srgbClr val="93ABBE"/>
                </a:solidFill>
                <a:latin typeface="Calibri" pitchFamily="34" charset="0"/>
                <a:ea typeface="Calibri" pitchFamily="34" charset="-122"/>
                <a:cs typeface="Calibri" pitchFamily="34" charset="-120"/>
              </a:rPr>
              <a:t>Engineering / Spark-native / ML exploration</a:t>
            </a:r>
            <a:endParaRPr lang="en-US" sz="1200" dirty="0"/>
          </a:p>
        </p:txBody>
      </p:sp>
      <p:sp>
        <p:nvSpPr>
          <p:cNvPr id="7" name="Text 5"/>
          <p:cNvSpPr txBox="1"/>
          <p:nvPr/>
        </p:nvSpPr>
        <p:spPr>
          <a:xfrm>
            <a:off x="731520" y="2560320"/>
            <a:ext cx="4663440" cy="3017520"/>
          </a:xfrm>
          <a:prstGeom prst="rect">
            <a:avLst/>
          </a:prstGeom>
          <a:noFill/>
          <a:ln/>
        </p:spPr>
        <p:txBody>
          <a:bodyPr wrap="square" lIns="0" tIns="0" rIns="0" bIns="0" rtlCol="0" anchor="t"/>
          <a:lstStyle/>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11 visualizations across 4 themes</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Fleet status &amp; SOG distribution</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WSSSE elbow plot &amp; cluster centroid radar</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Anomaly score histogram (2.5σ/3.0σ overlaid)</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Spatial scatter colored by cluster_id</a:t>
            </a:r>
            <a:endParaRPr lang="en-US" sz="1250" dirty="0"/>
          </a:p>
        </p:txBody>
      </p:sp>
      <p:sp>
        <p:nvSpPr>
          <p:cNvPr id="8" name="Shape 6"/>
          <p:cNvSpPr/>
          <p:nvPr/>
        </p:nvSpPr>
        <p:spPr>
          <a:xfrm>
            <a:off x="6080760" y="1600200"/>
            <a:ext cx="5120640" cy="4160520"/>
          </a:xfrm>
          <a:prstGeom prst="roundRect">
            <a:avLst>
              <a:gd name="adj" fmla="val 1758"/>
            </a:avLst>
          </a:prstGeom>
          <a:solidFill>
            <a:srgbClr val="16324A"/>
          </a:solidFill>
          <a:ln w="12700">
            <a:solidFill>
              <a:srgbClr val="10263B"/>
            </a:solidFill>
            <a:prstDash val="solid"/>
          </a:ln>
        </p:spPr>
        <p:txBody>
          <a:bodyPr/>
          <a:lstStyle/>
          <a:p>
            <a:endParaRPr lang="en-US"/>
          </a:p>
        </p:txBody>
      </p:sp>
      <p:sp>
        <p:nvSpPr>
          <p:cNvPr id="9" name="Text 7"/>
          <p:cNvSpPr txBox="1"/>
          <p:nvPr/>
        </p:nvSpPr>
        <p:spPr>
          <a:xfrm>
            <a:off x="6309360" y="1737360"/>
            <a:ext cx="4663440" cy="365760"/>
          </a:xfrm>
          <a:prstGeom prst="rect">
            <a:avLst/>
          </a:prstGeom>
          <a:noFill/>
          <a:ln/>
        </p:spPr>
        <p:txBody>
          <a:bodyPr wrap="square" lIns="0" tIns="0" rIns="0" bIns="0" rtlCol="0" anchor="ctr"/>
          <a:lstStyle/>
          <a:p>
            <a:pPr marL="0" indent="0">
              <a:buNone/>
            </a:pPr>
            <a:r>
              <a:rPr lang="en-US" sz="1700" b="1" dirty="0">
                <a:solidFill>
                  <a:srgbClr val="12A594"/>
                </a:solidFill>
                <a:latin typeface="Calibri" pitchFamily="34" charset="0"/>
                <a:ea typeface="Calibri" pitchFamily="34" charset="-122"/>
                <a:cs typeface="Calibri" pitchFamily="34" charset="-120"/>
              </a:rPr>
              <a:t>SUPERSET</a:t>
            </a:r>
            <a:endParaRPr lang="en-US" sz="1700" dirty="0"/>
          </a:p>
        </p:txBody>
      </p:sp>
      <p:sp>
        <p:nvSpPr>
          <p:cNvPr id="10" name="Text 8"/>
          <p:cNvSpPr txBox="1"/>
          <p:nvPr/>
        </p:nvSpPr>
        <p:spPr>
          <a:xfrm>
            <a:off x="6309360" y="2121408"/>
            <a:ext cx="4663440" cy="320040"/>
          </a:xfrm>
          <a:prstGeom prst="rect">
            <a:avLst/>
          </a:prstGeom>
          <a:noFill/>
          <a:ln/>
        </p:spPr>
        <p:txBody>
          <a:bodyPr wrap="square" lIns="0" tIns="0" rIns="0" bIns="0" rtlCol="0" anchor="ctr"/>
          <a:lstStyle/>
          <a:p>
            <a:pPr marL="0" indent="0">
              <a:buNone/>
            </a:pPr>
            <a:r>
              <a:rPr lang="en-US" sz="1200" i="1" dirty="0">
                <a:solidFill>
                  <a:srgbClr val="93ABBE"/>
                </a:solidFill>
                <a:latin typeface="Calibri" pitchFamily="34" charset="0"/>
                <a:ea typeface="Calibri" pitchFamily="34" charset="-122"/>
                <a:cs typeface="Calibri" pitchFamily="34" charset="-120"/>
              </a:rPr>
              <a:t>Operational / SQL-based / stakeholder dashboard</a:t>
            </a:r>
            <a:endParaRPr lang="en-US" sz="1200" dirty="0"/>
          </a:p>
        </p:txBody>
      </p:sp>
      <p:sp>
        <p:nvSpPr>
          <p:cNvPr id="11" name="Text 9"/>
          <p:cNvSpPr txBox="1"/>
          <p:nvPr/>
        </p:nvSpPr>
        <p:spPr>
          <a:xfrm>
            <a:off x="6309360" y="2560320"/>
            <a:ext cx="4663440" cy="3017520"/>
          </a:xfrm>
          <a:prstGeom prst="rect">
            <a:avLst/>
          </a:prstGeom>
          <a:noFill/>
          <a:ln/>
        </p:spPr>
        <p:txBody>
          <a:bodyPr wrap="square" lIns="0" tIns="0" rIns="0" bIns="0" rtlCol="0" anchor="t"/>
          <a:lstStyle/>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Deck.gl geospatial scatter of live fleet</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Deck.gl speed heatmap layer</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Port congestion dashboards</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Real-time KPI “big number” panels</a:t>
            </a:r>
            <a:endParaRPr lang="en-US" sz="1250" dirty="0"/>
          </a:p>
          <a:p>
            <a:pPr marL="228600" indent="-228600">
              <a:spcAft>
                <a:spcPts val="1000"/>
              </a:spcAft>
              <a:buSzPct val="100000"/>
              <a:buChar char="•"/>
            </a:pPr>
            <a:r>
              <a:rPr lang="en-US" sz="1250" dirty="0">
                <a:solidFill>
                  <a:srgbClr val="F3F7FA"/>
                </a:solidFill>
                <a:latin typeface="Calibri" pitchFamily="34" charset="0"/>
                <a:ea typeface="Calibri" pitchFamily="34" charset="-122"/>
                <a:cs typeface="Calibri" pitchFamily="34" charset="-120"/>
              </a:rPr>
              <a:t>[Insert Superset dashboard screenshot here]</a:t>
            </a:r>
            <a:endParaRPr lang="en-US" sz="1250" dirty="0"/>
          </a:p>
        </p:txBody>
      </p:sp>
      <p:sp>
        <p:nvSpPr>
          <p:cNvPr id="12" name="Shape 10"/>
          <p:cNvSpPr/>
          <p:nvPr/>
        </p:nvSpPr>
        <p:spPr>
          <a:xfrm>
            <a:off x="502920" y="5897880"/>
            <a:ext cx="11155680" cy="594360"/>
          </a:xfrm>
          <a:prstGeom prst="roundRect">
            <a:avLst>
              <a:gd name="adj" fmla="val 12308"/>
            </a:avLst>
          </a:prstGeom>
          <a:solidFill>
            <a:srgbClr val="1B3A2C"/>
          </a:solidFill>
          <a:ln w="12700">
            <a:solidFill>
              <a:srgbClr val="10263B"/>
            </a:solidFill>
            <a:prstDash val="solid"/>
          </a:ln>
        </p:spPr>
        <p:txBody>
          <a:bodyPr/>
          <a:lstStyle/>
          <a:p>
            <a:endParaRPr lang="en-US"/>
          </a:p>
        </p:txBody>
      </p:sp>
      <p:sp>
        <p:nvSpPr>
          <p:cNvPr id="13" name="Text 11"/>
          <p:cNvSpPr txBox="1"/>
          <p:nvPr/>
        </p:nvSpPr>
        <p:spPr>
          <a:xfrm>
            <a:off x="731520" y="5897880"/>
            <a:ext cx="10698480" cy="594360"/>
          </a:xfrm>
          <a:prstGeom prst="rect">
            <a:avLst/>
          </a:prstGeom>
          <a:noFill/>
          <a:ln/>
        </p:spPr>
        <p:txBody>
          <a:bodyPr wrap="square" lIns="0" tIns="0" rIns="0" bIns="0" rtlCol="0" anchor="ctr"/>
          <a:lstStyle/>
          <a:p>
            <a:pPr marL="0" indent="0">
              <a:buNone/>
            </a:pPr>
            <a:r>
              <a:rPr lang="en-US" sz="1500" b="1" dirty="0">
                <a:solidFill>
                  <a:srgbClr val="F2A93B"/>
                </a:solidFill>
                <a:latin typeface="Calibri" pitchFamily="34" charset="0"/>
                <a:ea typeface="Calibri" pitchFamily="34" charset="-122"/>
                <a:cs typeface="Calibri" pitchFamily="34" charset="-120"/>
              </a:rPr>
              <a:t>Live Demo Next →</a:t>
            </a:r>
            <a:endParaRPr lang="en-US" sz="1500" dirty="0"/>
          </a:p>
        </p:txBody>
      </p:sp>
      <p:sp>
        <p:nvSpPr>
          <p:cNvPr id="14" name="Text 12"/>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1620"/>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320040"/>
          </a:xfrm>
          <a:prstGeom prst="rect">
            <a:avLst/>
          </a:prstGeom>
          <a:noFill/>
          <a:ln/>
        </p:spPr>
        <p:txBody>
          <a:bodyPr wrap="square" lIns="0" tIns="0" rIns="0" bIns="0" rtlCol="0" anchor="ctr"/>
          <a:lstStyle/>
          <a:p>
            <a:pPr marL="0" indent="0">
              <a:buNone/>
            </a:pPr>
            <a:r>
              <a:rPr lang="en-US" sz="1200" b="1" kern="0" spc="200" dirty="0">
                <a:solidFill>
                  <a:srgbClr val="12A594"/>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02920" y="621792"/>
            <a:ext cx="10789920" cy="685800"/>
          </a:xfrm>
          <a:prstGeom prst="rect">
            <a:avLst/>
          </a:prstGeom>
          <a:noFill/>
          <a:ln/>
        </p:spPr>
        <p:txBody>
          <a:bodyPr wrap="square" lIns="0" tIns="0" rIns="0" bIns="0" rtlCol="0" anchor="ctr"/>
          <a:lstStyle/>
          <a:p>
            <a:pPr marL="0" indent="0">
              <a:buNone/>
            </a:pPr>
            <a:r>
              <a:rPr lang="en-US" sz="2800" b="1" dirty="0">
                <a:solidFill>
                  <a:srgbClr val="F3F7FA"/>
                </a:solidFill>
                <a:latin typeface="Calibri" pitchFamily="34" charset="0"/>
                <a:ea typeface="Calibri" pitchFamily="34" charset="-122"/>
                <a:cs typeface="Calibri" pitchFamily="34" charset="-120"/>
              </a:rPr>
              <a:t>Four Objectives Delivered. A Scalable Path Forward.</a:t>
            </a:r>
            <a:endParaRPr lang="en-US" sz="2800" dirty="0"/>
          </a:p>
        </p:txBody>
      </p:sp>
      <p:sp>
        <p:nvSpPr>
          <p:cNvPr id="4" name="Shape 2"/>
          <p:cNvSpPr/>
          <p:nvPr/>
        </p:nvSpPr>
        <p:spPr>
          <a:xfrm>
            <a:off x="72237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5" name="Text 3"/>
          <p:cNvSpPr txBox="1"/>
          <p:nvPr/>
        </p:nvSpPr>
        <p:spPr>
          <a:xfrm>
            <a:off x="76809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AIS</a:t>
            </a:r>
            <a:endParaRPr lang="en-US" sz="1050" dirty="0"/>
          </a:p>
        </p:txBody>
      </p:sp>
      <p:sp>
        <p:nvSpPr>
          <p:cNvPr id="6" name="Shape 4"/>
          <p:cNvSpPr/>
          <p:nvPr/>
        </p:nvSpPr>
        <p:spPr>
          <a:xfrm>
            <a:off x="2148840" y="2011680"/>
            <a:ext cx="118872" cy="0"/>
          </a:xfrm>
          <a:prstGeom prst="line">
            <a:avLst/>
          </a:prstGeom>
          <a:noFill/>
          <a:ln w="25400">
            <a:solidFill>
              <a:srgbClr val="12A594"/>
            </a:solidFill>
            <a:prstDash val="solid"/>
            <a:tailEnd type="triangle"/>
          </a:ln>
        </p:spPr>
        <p:txBody>
          <a:bodyPr/>
          <a:lstStyle/>
          <a:p>
            <a:endParaRPr lang="en-US"/>
          </a:p>
        </p:txBody>
      </p:sp>
      <p:sp>
        <p:nvSpPr>
          <p:cNvPr id="7" name="Shape 5"/>
          <p:cNvSpPr/>
          <p:nvPr/>
        </p:nvSpPr>
        <p:spPr>
          <a:xfrm>
            <a:off x="227685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8" name="Text 6"/>
          <p:cNvSpPr txBox="1"/>
          <p:nvPr/>
        </p:nvSpPr>
        <p:spPr>
          <a:xfrm>
            <a:off x="232257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Kafka</a:t>
            </a:r>
            <a:endParaRPr lang="en-US" sz="1050" dirty="0"/>
          </a:p>
        </p:txBody>
      </p:sp>
      <p:sp>
        <p:nvSpPr>
          <p:cNvPr id="9" name="Shape 7"/>
          <p:cNvSpPr/>
          <p:nvPr/>
        </p:nvSpPr>
        <p:spPr>
          <a:xfrm>
            <a:off x="3703320" y="2011680"/>
            <a:ext cx="118872" cy="0"/>
          </a:xfrm>
          <a:prstGeom prst="line">
            <a:avLst/>
          </a:prstGeom>
          <a:noFill/>
          <a:ln w="25400">
            <a:solidFill>
              <a:srgbClr val="12A594"/>
            </a:solidFill>
            <a:prstDash val="solid"/>
            <a:tailEnd type="triangle"/>
          </a:ln>
        </p:spPr>
        <p:txBody>
          <a:bodyPr/>
          <a:lstStyle/>
          <a:p>
            <a:endParaRPr lang="en-US"/>
          </a:p>
        </p:txBody>
      </p:sp>
      <p:sp>
        <p:nvSpPr>
          <p:cNvPr id="10" name="Shape 8"/>
          <p:cNvSpPr/>
          <p:nvPr/>
        </p:nvSpPr>
        <p:spPr>
          <a:xfrm>
            <a:off x="383133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11" name="Text 9"/>
          <p:cNvSpPr txBox="1"/>
          <p:nvPr/>
        </p:nvSpPr>
        <p:spPr>
          <a:xfrm>
            <a:off x="387705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Spark</a:t>
            </a:r>
            <a:endParaRPr lang="en-US" sz="1050" dirty="0"/>
          </a:p>
        </p:txBody>
      </p:sp>
      <p:sp>
        <p:nvSpPr>
          <p:cNvPr id="12" name="Shape 10"/>
          <p:cNvSpPr/>
          <p:nvPr/>
        </p:nvSpPr>
        <p:spPr>
          <a:xfrm>
            <a:off x="5257800" y="2011680"/>
            <a:ext cx="118872" cy="0"/>
          </a:xfrm>
          <a:prstGeom prst="line">
            <a:avLst/>
          </a:prstGeom>
          <a:noFill/>
          <a:ln w="25400">
            <a:solidFill>
              <a:srgbClr val="12A594"/>
            </a:solidFill>
            <a:prstDash val="solid"/>
            <a:tailEnd type="triangle"/>
          </a:ln>
        </p:spPr>
        <p:txBody>
          <a:bodyPr/>
          <a:lstStyle/>
          <a:p>
            <a:endParaRPr lang="en-US"/>
          </a:p>
        </p:txBody>
      </p:sp>
      <p:sp>
        <p:nvSpPr>
          <p:cNvPr id="13" name="Shape 11"/>
          <p:cNvSpPr/>
          <p:nvPr/>
        </p:nvSpPr>
        <p:spPr>
          <a:xfrm>
            <a:off x="538581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14" name="Text 12"/>
          <p:cNvSpPr txBox="1"/>
          <p:nvPr/>
        </p:nvSpPr>
        <p:spPr>
          <a:xfrm>
            <a:off x="543153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HDFS /</a:t>
            </a:r>
            <a:endParaRPr lang="en-US" sz="1050" dirty="0"/>
          </a:p>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PostGIS</a:t>
            </a:r>
            <a:endParaRPr lang="en-US" sz="1050" dirty="0"/>
          </a:p>
        </p:txBody>
      </p:sp>
      <p:sp>
        <p:nvSpPr>
          <p:cNvPr id="15" name="Shape 13"/>
          <p:cNvSpPr/>
          <p:nvPr/>
        </p:nvSpPr>
        <p:spPr>
          <a:xfrm>
            <a:off x="6812280" y="2011680"/>
            <a:ext cx="118872" cy="0"/>
          </a:xfrm>
          <a:prstGeom prst="line">
            <a:avLst/>
          </a:prstGeom>
          <a:noFill/>
          <a:ln w="25400">
            <a:solidFill>
              <a:srgbClr val="12A594"/>
            </a:solidFill>
            <a:prstDash val="solid"/>
            <a:tailEnd type="triangle"/>
          </a:ln>
        </p:spPr>
        <p:txBody>
          <a:bodyPr/>
          <a:lstStyle/>
          <a:p>
            <a:endParaRPr lang="en-US"/>
          </a:p>
        </p:txBody>
      </p:sp>
      <p:sp>
        <p:nvSpPr>
          <p:cNvPr id="16" name="Shape 14"/>
          <p:cNvSpPr/>
          <p:nvPr/>
        </p:nvSpPr>
        <p:spPr>
          <a:xfrm>
            <a:off x="694029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17" name="Text 15"/>
          <p:cNvSpPr txBox="1"/>
          <p:nvPr/>
        </p:nvSpPr>
        <p:spPr>
          <a:xfrm>
            <a:off x="698601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Airflow</a:t>
            </a:r>
            <a:endParaRPr lang="en-US" sz="1050" dirty="0"/>
          </a:p>
        </p:txBody>
      </p:sp>
      <p:sp>
        <p:nvSpPr>
          <p:cNvPr id="18" name="Shape 16"/>
          <p:cNvSpPr/>
          <p:nvPr/>
        </p:nvSpPr>
        <p:spPr>
          <a:xfrm>
            <a:off x="8366760" y="2011680"/>
            <a:ext cx="118872" cy="0"/>
          </a:xfrm>
          <a:prstGeom prst="line">
            <a:avLst/>
          </a:prstGeom>
          <a:noFill/>
          <a:ln w="25400">
            <a:solidFill>
              <a:srgbClr val="12A594"/>
            </a:solidFill>
            <a:prstDash val="solid"/>
            <a:tailEnd type="triangle"/>
          </a:ln>
        </p:spPr>
        <p:txBody>
          <a:bodyPr/>
          <a:lstStyle/>
          <a:p>
            <a:endParaRPr lang="en-US"/>
          </a:p>
        </p:txBody>
      </p:sp>
      <p:sp>
        <p:nvSpPr>
          <p:cNvPr id="19" name="Shape 17"/>
          <p:cNvSpPr/>
          <p:nvPr/>
        </p:nvSpPr>
        <p:spPr>
          <a:xfrm>
            <a:off x="849477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20" name="Text 18"/>
          <p:cNvSpPr txBox="1"/>
          <p:nvPr/>
        </p:nvSpPr>
        <p:spPr>
          <a:xfrm>
            <a:off x="854049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ML</a:t>
            </a:r>
            <a:endParaRPr lang="en-US" sz="1050" dirty="0"/>
          </a:p>
        </p:txBody>
      </p:sp>
      <p:sp>
        <p:nvSpPr>
          <p:cNvPr id="21" name="Shape 19"/>
          <p:cNvSpPr/>
          <p:nvPr/>
        </p:nvSpPr>
        <p:spPr>
          <a:xfrm>
            <a:off x="9921240" y="2011680"/>
            <a:ext cx="118872" cy="0"/>
          </a:xfrm>
          <a:prstGeom prst="line">
            <a:avLst/>
          </a:prstGeom>
          <a:noFill/>
          <a:ln w="25400">
            <a:solidFill>
              <a:srgbClr val="12A594"/>
            </a:solidFill>
            <a:prstDash val="solid"/>
            <a:tailEnd type="triangle"/>
          </a:ln>
        </p:spPr>
        <p:txBody>
          <a:bodyPr/>
          <a:lstStyle/>
          <a:p>
            <a:endParaRPr lang="en-US"/>
          </a:p>
        </p:txBody>
      </p:sp>
      <p:sp>
        <p:nvSpPr>
          <p:cNvPr id="22" name="Shape 20"/>
          <p:cNvSpPr/>
          <p:nvPr/>
        </p:nvSpPr>
        <p:spPr>
          <a:xfrm>
            <a:off x="10049256" y="1691640"/>
            <a:ext cx="1417320" cy="640080"/>
          </a:xfrm>
          <a:prstGeom prst="roundRect">
            <a:avLst>
              <a:gd name="adj" fmla="val 10000"/>
            </a:avLst>
          </a:prstGeom>
          <a:solidFill>
            <a:srgbClr val="16324A"/>
          </a:solidFill>
          <a:ln w="15875">
            <a:solidFill>
              <a:srgbClr val="12A594"/>
            </a:solidFill>
            <a:prstDash val="solid"/>
          </a:ln>
        </p:spPr>
        <p:txBody>
          <a:bodyPr/>
          <a:lstStyle/>
          <a:p>
            <a:endParaRPr lang="en-US"/>
          </a:p>
        </p:txBody>
      </p:sp>
      <p:sp>
        <p:nvSpPr>
          <p:cNvPr id="23" name="Text 21"/>
          <p:cNvSpPr txBox="1"/>
          <p:nvPr/>
        </p:nvSpPr>
        <p:spPr>
          <a:xfrm>
            <a:off x="10094976" y="1691640"/>
            <a:ext cx="1325880" cy="640080"/>
          </a:xfrm>
          <a:prstGeom prst="rect">
            <a:avLst/>
          </a:prstGeom>
          <a:noFill/>
          <a:ln/>
        </p:spPr>
        <p:txBody>
          <a:bodyPr wrap="square" lIns="0" tIns="0" rIns="0" bIns="0" rtlCol="0" anchor="ctr"/>
          <a:lstStyle/>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Superset /</a:t>
            </a:r>
            <a:endParaRPr lang="en-US" sz="1050" dirty="0"/>
          </a:p>
          <a:p>
            <a:pPr marL="0" indent="0" algn="ctr">
              <a:lnSpc>
                <a:spcPct val="100000"/>
              </a:lnSpc>
              <a:buNone/>
            </a:pPr>
            <a:r>
              <a:rPr lang="en-US" sz="1050" b="1" dirty="0">
                <a:solidFill>
                  <a:srgbClr val="F3F7FA"/>
                </a:solidFill>
                <a:latin typeface="Calibri" pitchFamily="34" charset="0"/>
                <a:ea typeface="Calibri" pitchFamily="34" charset="-122"/>
                <a:cs typeface="Calibri" pitchFamily="34" charset="-120"/>
              </a:rPr>
              <a:t>Zeppelin</a:t>
            </a:r>
            <a:endParaRPr lang="en-US" sz="1050" dirty="0"/>
          </a:p>
        </p:txBody>
      </p:sp>
      <p:sp>
        <p:nvSpPr>
          <p:cNvPr id="24" name="Shape 22"/>
          <p:cNvSpPr/>
          <p:nvPr/>
        </p:nvSpPr>
        <p:spPr>
          <a:xfrm>
            <a:off x="502920" y="2651760"/>
            <a:ext cx="2624328" cy="777240"/>
          </a:xfrm>
          <a:prstGeom prst="roundRect">
            <a:avLst>
              <a:gd name="adj" fmla="val 8235"/>
            </a:avLst>
          </a:prstGeom>
          <a:solidFill>
            <a:srgbClr val="1B3A2C"/>
          </a:solidFill>
          <a:ln w="15875">
            <a:solidFill>
              <a:srgbClr val="12A594"/>
            </a:solidFill>
            <a:prstDash val="solid"/>
          </a:ln>
        </p:spPr>
        <p:txBody>
          <a:bodyPr/>
          <a:lstStyle/>
          <a:p>
            <a:endParaRPr lang="en-US"/>
          </a:p>
        </p:txBody>
      </p:sp>
      <p:sp>
        <p:nvSpPr>
          <p:cNvPr id="25" name="Text 23"/>
          <p:cNvSpPr txBox="1"/>
          <p:nvPr/>
        </p:nvSpPr>
        <p:spPr>
          <a:xfrm>
            <a:off x="548640" y="2651760"/>
            <a:ext cx="2532888" cy="777240"/>
          </a:xfrm>
          <a:prstGeom prst="rect">
            <a:avLst/>
          </a:prstGeom>
          <a:noFill/>
          <a:ln/>
        </p:spPr>
        <p:txBody>
          <a:bodyPr wrap="square" lIns="0" tIns="0" rIns="0" bIns="0" rtlCol="0" anchor="ctr"/>
          <a:lstStyle/>
          <a:p>
            <a:pPr marL="0" indent="0" algn="ctr">
              <a:lnSpc>
                <a:spcPct val="100000"/>
              </a:lnSpc>
              <a:buNone/>
            </a:pPr>
            <a:r>
              <a:rPr lang="en-US" sz="1200" b="1" dirty="0">
                <a:solidFill>
                  <a:srgbClr val="D9F5E9"/>
                </a:solidFill>
                <a:latin typeface="Calibri" pitchFamily="34" charset="0"/>
                <a:ea typeface="Calibri" pitchFamily="34" charset="-122"/>
                <a:cs typeface="Calibri" pitchFamily="34" charset="-120"/>
              </a:rPr>
              <a:t>✓  Real-time fleet tracking</a:t>
            </a:r>
            <a:endParaRPr lang="en-US" sz="1200" dirty="0"/>
          </a:p>
        </p:txBody>
      </p:sp>
      <p:sp>
        <p:nvSpPr>
          <p:cNvPr id="26" name="Shape 24"/>
          <p:cNvSpPr/>
          <p:nvPr/>
        </p:nvSpPr>
        <p:spPr>
          <a:xfrm>
            <a:off x="3273552" y="2651760"/>
            <a:ext cx="2624328" cy="777240"/>
          </a:xfrm>
          <a:prstGeom prst="roundRect">
            <a:avLst>
              <a:gd name="adj" fmla="val 8235"/>
            </a:avLst>
          </a:prstGeom>
          <a:solidFill>
            <a:srgbClr val="1B3A2C"/>
          </a:solidFill>
          <a:ln w="15875">
            <a:solidFill>
              <a:srgbClr val="12A594"/>
            </a:solidFill>
            <a:prstDash val="solid"/>
          </a:ln>
        </p:spPr>
        <p:txBody>
          <a:bodyPr/>
          <a:lstStyle/>
          <a:p>
            <a:endParaRPr lang="en-US"/>
          </a:p>
        </p:txBody>
      </p:sp>
      <p:sp>
        <p:nvSpPr>
          <p:cNvPr id="27" name="Text 25"/>
          <p:cNvSpPr txBox="1"/>
          <p:nvPr/>
        </p:nvSpPr>
        <p:spPr>
          <a:xfrm>
            <a:off x="3319272" y="2651760"/>
            <a:ext cx="2532888" cy="777240"/>
          </a:xfrm>
          <a:prstGeom prst="rect">
            <a:avLst/>
          </a:prstGeom>
          <a:noFill/>
          <a:ln/>
        </p:spPr>
        <p:txBody>
          <a:bodyPr wrap="square" lIns="0" tIns="0" rIns="0" bIns="0" rtlCol="0" anchor="ctr"/>
          <a:lstStyle/>
          <a:p>
            <a:pPr marL="0" indent="0" algn="ctr">
              <a:lnSpc>
                <a:spcPct val="100000"/>
              </a:lnSpc>
              <a:buNone/>
            </a:pPr>
            <a:r>
              <a:rPr lang="en-US" sz="1200" b="1" dirty="0">
                <a:solidFill>
                  <a:srgbClr val="D9F5E9"/>
                </a:solidFill>
                <a:latin typeface="Calibri" pitchFamily="34" charset="0"/>
                <a:ea typeface="Calibri" pitchFamily="34" charset="-122"/>
                <a:cs typeface="Calibri" pitchFamily="34" charset="-120"/>
              </a:rPr>
              <a:t>✓  Geofenced port dwell</a:t>
            </a:r>
            <a:endParaRPr lang="en-US" sz="1200" dirty="0"/>
          </a:p>
        </p:txBody>
      </p:sp>
      <p:sp>
        <p:nvSpPr>
          <p:cNvPr id="28" name="Shape 26"/>
          <p:cNvSpPr/>
          <p:nvPr/>
        </p:nvSpPr>
        <p:spPr>
          <a:xfrm>
            <a:off x="6044184" y="2651760"/>
            <a:ext cx="2624328" cy="777240"/>
          </a:xfrm>
          <a:prstGeom prst="roundRect">
            <a:avLst>
              <a:gd name="adj" fmla="val 8235"/>
            </a:avLst>
          </a:prstGeom>
          <a:solidFill>
            <a:srgbClr val="1B3A2C"/>
          </a:solidFill>
          <a:ln w="15875">
            <a:solidFill>
              <a:srgbClr val="12A594"/>
            </a:solidFill>
            <a:prstDash val="solid"/>
          </a:ln>
        </p:spPr>
        <p:txBody>
          <a:bodyPr/>
          <a:lstStyle/>
          <a:p>
            <a:endParaRPr lang="en-US"/>
          </a:p>
        </p:txBody>
      </p:sp>
      <p:sp>
        <p:nvSpPr>
          <p:cNvPr id="29" name="Text 27"/>
          <p:cNvSpPr txBox="1"/>
          <p:nvPr/>
        </p:nvSpPr>
        <p:spPr>
          <a:xfrm>
            <a:off x="6089904" y="2651760"/>
            <a:ext cx="2532888" cy="777240"/>
          </a:xfrm>
          <a:prstGeom prst="rect">
            <a:avLst/>
          </a:prstGeom>
          <a:noFill/>
          <a:ln/>
        </p:spPr>
        <p:txBody>
          <a:bodyPr wrap="square" lIns="0" tIns="0" rIns="0" bIns="0" rtlCol="0" anchor="ctr"/>
          <a:lstStyle/>
          <a:p>
            <a:pPr marL="0" indent="0" algn="ctr">
              <a:lnSpc>
                <a:spcPct val="100000"/>
              </a:lnSpc>
              <a:buNone/>
            </a:pPr>
            <a:r>
              <a:rPr lang="en-US" sz="1200" b="1" dirty="0">
                <a:solidFill>
                  <a:srgbClr val="D9F5E9"/>
                </a:solidFill>
                <a:latin typeface="Calibri" pitchFamily="34" charset="0"/>
                <a:ea typeface="Calibri" pitchFamily="34" charset="-122"/>
                <a:cs typeface="Calibri" pitchFamily="34" charset="-120"/>
              </a:rPr>
              <a:t>✓  Speeding anomaly detection</a:t>
            </a:r>
            <a:endParaRPr lang="en-US" sz="1200" dirty="0"/>
          </a:p>
        </p:txBody>
      </p:sp>
      <p:sp>
        <p:nvSpPr>
          <p:cNvPr id="30" name="Shape 28"/>
          <p:cNvSpPr/>
          <p:nvPr/>
        </p:nvSpPr>
        <p:spPr>
          <a:xfrm>
            <a:off x="8814816" y="2651760"/>
            <a:ext cx="2624328" cy="777240"/>
          </a:xfrm>
          <a:prstGeom prst="roundRect">
            <a:avLst>
              <a:gd name="adj" fmla="val 8235"/>
            </a:avLst>
          </a:prstGeom>
          <a:solidFill>
            <a:srgbClr val="1B3A2C"/>
          </a:solidFill>
          <a:ln w="15875">
            <a:solidFill>
              <a:srgbClr val="12A594"/>
            </a:solidFill>
            <a:prstDash val="solid"/>
          </a:ln>
        </p:spPr>
        <p:txBody>
          <a:bodyPr/>
          <a:lstStyle/>
          <a:p>
            <a:endParaRPr lang="en-US"/>
          </a:p>
        </p:txBody>
      </p:sp>
      <p:sp>
        <p:nvSpPr>
          <p:cNvPr id="31" name="Text 29"/>
          <p:cNvSpPr txBox="1"/>
          <p:nvPr/>
        </p:nvSpPr>
        <p:spPr>
          <a:xfrm>
            <a:off x="8860536" y="2651760"/>
            <a:ext cx="2532888" cy="777240"/>
          </a:xfrm>
          <a:prstGeom prst="rect">
            <a:avLst/>
          </a:prstGeom>
          <a:noFill/>
          <a:ln/>
        </p:spPr>
        <p:txBody>
          <a:bodyPr wrap="square" lIns="0" tIns="0" rIns="0" bIns="0" rtlCol="0" anchor="ctr"/>
          <a:lstStyle/>
          <a:p>
            <a:pPr marL="0" indent="0" algn="ctr">
              <a:lnSpc>
                <a:spcPct val="100000"/>
              </a:lnSpc>
              <a:buNone/>
            </a:pPr>
            <a:r>
              <a:rPr lang="en-US" sz="1200" b="1" dirty="0">
                <a:solidFill>
                  <a:srgbClr val="D9F5E9"/>
                </a:solidFill>
                <a:latin typeface="Calibri" pitchFamily="34" charset="0"/>
                <a:ea typeface="Calibri" pitchFamily="34" charset="-122"/>
                <a:cs typeface="Calibri" pitchFamily="34" charset="-120"/>
              </a:rPr>
              <a:t>✓  Behavioral clustering</a:t>
            </a:r>
            <a:endParaRPr lang="en-US" sz="1200" dirty="0"/>
          </a:p>
        </p:txBody>
      </p:sp>
      <p:sp>
        <p:nvSpPr>
          <p:cNvPr id="32" name="Shape 30"/>
          <p:cNvSpPr/>
          <p:nvPr/>
        </p:nvSpPr>
        <p:spPr>
          <a:xfrm>
            <a:off x="502920" y="3703320"/>
            <a:ext cx="11155680" cy="1783080"/>
          </a:xfrm>
          <a:prstGeom prst="roundRect">
            <a:avLst>
              <a:gd name="adj" fmla="val 4103"/>
            </a:avLst>
          </a:prstGeom>
          <a:solidFill>
            <a:srgbClr val="132E42"/>
          </a:solidFill>
          <a:ln w="12700">
            <a:solidFill>
              <a:srgbClr val="10263B"/>
            </a:solidFill>
            <a:prstDash val="solid"/>
          </a:ln>
        </p:spPr>
        <p:txBody>
          <a:bodyPr/>
          <a:lstStyle/>
          <a:p>
            <a:endParaRPr lang="en-US"/>
          </a:p>
        </p:txBody>
      </p:sp>
      <p:sp>
        <p:nvSpPr>
          <p:cNvPr id="33" name="Text 31"/>
          <p:cNvSpPr txBox="1"/>
          <p:nvPr/>
        </p:nvSpPr>
        <p:spPr>
          <a:xfrm>
            <a:off x="731520" y="3822192"/>
            <a:ext cx="4572000" cy="274320"/>
          </a:xfrm>
          <a:prstGeom prst="rect">
            <a:avLst/>
          </a:prstGeom>
          <a:noFill/>
          <a:ln/>
        </p:spPr>
        <p:txBody>
          <a:bodyPr wrap="square" lIns="0" tIns="0" rIns="0" bIns="0" rtlCol="0" anchor="ctr"/>
          <a:lstStyle/>
          <a:p>
            <a:pPr marL="0" indent="0">
              <a:buNone/>
            </a:pPr>
            <a:r>
              <a:rPr lang="en-US" sz="1300" b="1" dirty="0">
                <a:solidFill>
                  <a:srgbClr val="5FB8D9"/>
                </a:solidFill>
                <a:latin typeface="Calibri" pitchFamily="34" charset="0"/>
                <a:ea typeface="Calibri" pitchFamily="34" charset="-122"/>
                <a:cs typeface="Calibri" pitchFamily="34" charset="-120"/>
              </a:rPr>
              <a:t>Scalability path</a:t>
            </a:r>
            <a:endParaRPr lang="en-US" sz="1300" dirty="0"/>
          </a:p>
        </p:txBody>
      </p:sp>
      <p:sp>
        <p:nvSpPr>
          <p:cNvPr id="34" name="Text 32"/>
          <p:cNvSpPr txBox="1"/>
          <p:nvPr/>
        </p:nvSpPr>
        <p:spPr>
          <a:xfrm>
            <a:off x="731520" y="4133088"/>
            <a:ext cx="10698480" cy="1280160"/>
          </a:xfrm>
          <a:prstGeom prst="rect">
            <a:avLst/>
          </a:prstGeom>
          <a:noFill/>
          <a:ln/>
        </p:spPr>
        <p:txBody>
          <a:bodyPr wrap="square" lIns="0" tIns="0" rIns="0" bIns="0" rtlCol="0" anchor="t"/>
          <a:lstStyle/>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Kafka → more partitions / brokers</a:t>
            </a:r>
            <a:endParaRPr lang="en-US" sz="1200" dirty="0"/>
          </a:p>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Spark → more executors (linear scaling — repartition-by-MMSI fix has no shared-state bottleneck)</a:t>
            </a:r>
            <a:endParaRPr lang="en-US" sz="1200" dirty="0"/>
          </a:p>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HDFS → more DataNodes</a:t>
            </a:r>
            <a:endParaRPr lang="en-US" sz="1200" dirty="0"/>
          </a:p>
          <a:p>
            <a:pPr marL="228600" indent="-228600">
              <a:spcAft>
                <a:spcPts val="500"/>
              </a:spcAft>
              <a:buSzPct val="100000"/>
              <a:buChar char="•"/>
            </a:pPr>
            <a:r>
              <a:rPr lang="en-US" sz="1200" dirty="0">
                <a:solidFill>
                  <a:srgbClr val="F3F7FA"/>
                </a:solidFill>
                <a:latin typeface="Calibri" pitchFamily="34" charset="0"/>
                <a:ea typeface="Calibri" pitchFamily="34" charset="-122"/>
                <a:cs typeface="Calibri" pitchFamily="34" charset="-120"/>
              </a:rPr>
              <a:t>PostGIS → table partitioning, or a distributed Postgres variant (e.g. Citus) if write throughput becomes the ceiling</a:t>
            </a:r>
            <a:endParaRPr lang="en-US" sz="1200" dirty="0"/>
          </a:p>
        </p:txBody>
      </p:sp>
      <p:sp>
        <p:nvSpPr>
          <p:cNvPr id="35" name="Text 33"/>
          <p:cNvSpPr txBox="1"/>
          <p:nvPr/>
        </p:nvSpPr>
        <p:spPr>
          <a:xfrm>
            <a:off x="502920" y="5715000"/>
            <a:ext cx="7315200" cy="822960"/>
          </a:xfrm>
          <a:prstGeom prst="rect">
            <a:avLst/>
          </a:prstGeom>
          <a:noFill/>
          <a:ln/>
        </p:spPr>
        <p:txBody>
          <a:bodyPr wrap="square" lIns="0" tIns="0" rIns="0" bIns="0" rtlCol="0" anchor="ctr"/>
          <a:lstStyle/>
          <a:p>
            <a:pPr marL="0" indent="0">
              <a:buNone/>
            </a:pPr>
            <a:r>
              <a:rPr lang="en-US" sz="3400" b="1" dirty="0">
                <a:solidFill>
                  <a:srgbClr val="F3F7FA"/>
                </a:solidFill>
                <a:latin typeface="Calibri" pitchFamily="34" charset="0"/>
                <a:ea typeface="Calibri" pitchFamily="34" charset="-122"/>
                <a:cs typeface="Calibri" pitchFamily="34" charset="-120"/>
              </a:rPr>
              <a:t>Questions?</a:t>
            </a:r>
            <a:endParaRPr lang="en-US" sz="3400" dirty="0"/>
          </a:p>
        </p:txBody>
      </p:sp>
      <p:sp>
        <p:nvSpPr>
          <p:cNvPr id="36" name="Text 34"/>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E8A9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3568</Words>
  <Application>Microsoft Office PowerPoint</Application>
  <PresentationFormat>Widescreen</PresentationFormat>
  <Paragraphs>329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Saleh Osama</cp:lastModifiedBy>
  <cp:revision>1</cp:revision>
  <dcterms:created xsi:type="dcterms:W3CDTF">2026-09-10T00:12:36Z</dcterms:created>
  <dcterms:modified xsi:type="dcterms:W3CDTF">2026-09-10T00:25:40Z</dcterms:modified>
</cp:coreProperties>
</file>